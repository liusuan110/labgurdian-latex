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组件检测框 (B)</c:v>
                </c:pt>
              </c:strCache>
            </c:strRef>
          </c:tx>
          <c:spPr>
            <a:solidFill>
              <a:srgbClr val="4472C4"/>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Precision</c:v>
                </c:pt>
                <c:pt idx="1">
                  <c:v>Recall</c:v>
                </c:pt>
                <c:pt idx="2">
                  <c:v>mAP50</c:v>
                </c:pt>
                <c:pt idx="3">
                  <c:v>mAP50-95</c:v>
                </c:pt>
              </c:strCache>
            </c:strRef>
          </c:cat>
          <c:val>
            <c:numRef>
              <c:f>Sheet1!$B$2:$B$5</c:f>
              <c:numCache>
                <c:formatCode>General</c:formatCode>
                <c:ptCount val="4"/>
                <c:pt idx="0">
                  <c:v>0.991</c:v>
                </c:pt>
                <c:pt idx="1">
                  <c:v>0.989</c:v>
                </c:pt>
                <c:pt idx="2">
                  <c:v>0.991</c:v>
                </c:pt>
                <c:pt idx="3">
                  <c:v>0.786</c:v>
                </c:pt>
              </c:numCache>
            </c:numRef>
          </c:val>
        </c:ser>
        <c:ser>
          <c:idx val="1"/>
          <c:order val="1"/>
          <c:tx>
            <c:strRef>
              <c:f>Sheet1!$C$1</c:f>
              <c:strCache>
                <c:ptCount val="1"/>
                <c:pt idx="0">
                  <c:v>引脚关键点 (P)</c:v>
                </c:pt>
              </c:strCache>
            </c:strRef>
          </c:tx>
          <c:spPr>
            <a:solidFill>
              <a:srgbClr val="5B9BD5"/>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Precision</c:v>
                </c:pt>
                <c:pt idx="1">
                  <c:v>Recall</c:v>
                </c:pt>
                <c:pt idx="2">
                  <c:v>mAP50</c:v>
                </c:pt>
                <c:pt idx="3">
                  <c:v>mAP50-95</c:v>
                </c:pt>
              </c:strCache>
            </c:strRef>
          </c:cat>
          <c:val>
            <c:numRef>
              <c:f>Sheet1!$C$2:$C$5</c:f>
              <c:numCache>
                <c:formatCode>General</c:formatCode>
                <c:ptCount val="4"/>
                <c:pt idx="0">
                  <c:v>0.955</c:v>
                </c:pt>
                <c:pt idx="1">
                  <c:v>0.954</c:v>
                </c:pt>
                <c:pt idx="2">
                  <c:v>0.947</c:v>
                </c:pt>
                <c:pt idx="3">
                  <c:v>0.829</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808080"/>
                </a:solidFill>
                <a:latin typeface="微软雅黑" panose="020B0503020204020204" pitchFamily="34" charset="-122"/>
                <a:ea typeface="+mn-ea"/>
                <a:cs typeface="+mn-cs"/>
              </a:defRPr>
            </a:pPr>
          </a:p>
        </c:txPr>
        <c:crossAx val="2094734552"/>
        <c:crosses val="autoZero"/>
        <c:auto val="1"/>
        <c:lblAlgn val="ctr"/>
        <c:lblOffset val="100"/>
        <c:noMultiLvlLbl val="1"/>
      </c:catAx>
      <c:valAx>
        <c:axId val="2094734552"/>
        <c:scaling>
          <c:orientation val="minMax"/>
          <c:max val="1"/>
          <c:min val="0"/>
        </c:scaling>
        <c:delete val="0"/>
        <c:axPos val="l"/>
        <c:majorGridlines>
          <c:spPr>
            <a:ln w="6350" cap="flat" cmpd="sng" algn="ctr">
              <a:solidFill>
                <a:srgbClr val="E6EEF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808080"/>
                </a:solidFill>
                <a:latin typeface="Arial" panose="020B0604020202020204"/>
                <a:ea typeface="+mn-ea"/>
                <a:cs typeface="+mn-cs"/>
              </a:defRPr>
            </a:pPr>
          </a:p>
        </c:txPr>
        <c:crossAx val="2094734554"/>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Entry>
      <c:legendEntry>
        <c:idx val="1"/>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Entry>
      <c:layout/>
      <c:overlay val="0"/>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
    <c:plotVisOnly val="1"/>
    <c:dispBlanksAs val="span"/>
    <c:showDLblsOverMax val="0"/>
    <c:extLst>
      <c:ext uri="{0b15fc19-7d7d-44ad-8c2d-2c3a37ce22c3}">
        <chartProps xmlns="https://web.wps.cn/et/2018/main" chartId="{ad1c2c43-9036-43b6-8856-9dce739c94b4}"/>
      </c:ext>
    </c:extLst>
  </c:chart>
  <c:spPr>
    <a:solidFill>
      <a:srgbClr val="FFFFFF"/>
    </a:solidFill>
    <a:ln>
      <a:noFill/>
    </a:ln>
    <a:effectLst/>
  </c:spPr>
  <c:txPr>
    <a:bodyPr/>
    <a:lstStyle/>
    <a:p>
      <a:pPr>
        <a:defRPr lang="zh-CN" sz="12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440" b="0" i="0" u="none" strike="noStrike" kern="1200" baseline="0">
                <a:solidFill>
                  <a:srgbClr val="14326C"/>
                </a:solidFill>
                <a:latin typeface="微软雅黑" panose="020B0503020204020204" pitchFamily="34" charset="-122"/>
                <a:ea typeface="+mn-ea"/>
                <a:cs typeface="+mn-cs"/>
              </a:defRPr>
            </a:pPr>
            <a:r>
              <a:rPr sz="1440" b="0" i="0" u="none" strike="noStrike">
                <a:solidFill>
                  <a:srgbClr val="14326C"/>
                </a:solidFill>
                <a:latin typeface="微软雅黑" panose="020B0503020204020204" pitchFamily="34" charset="-122"/>
              </a:rPr>
              <a:t>吞吐对比 (img/s)</a:t>
            </a:r>
            <a:endParaRPr sz="1440" b="0" i="0" u="none" strike="noStrike">
              <a:solidFill>
                <a:srgbClr val="14326C"/>
              </a:solidFill>
              <a:latin typeface="微软雅黑" panose="020B0503020204020204" pitchFamily="34" charset="-122"/>
            </a:endParaRPr>
          </a:p>
        </c:rich>
      </c:tx>
      <c:layout/>
      <c:overlay val="0"/>
    </c:title>
    <c:autoTitleDeleted val="0"/>
    <c:plotArea>
      <c:layout/>
      <c:barChart>
        <c:barDir val="col"/>
        <c:grouping val="clustered"/>
        <c:varyColors val="0"/>
        <c:ser>
          <c:idx val="0"/>
          <c:order val="0"/>
          <c:tx>
            <c:strRef>
              <c:f>Sheet1!$B$1</c:f>
              <c:strCache>
                <c:ptCount val="1"/>
                <c:pt idx="0">
                  <c:v>吞吐 (img/s)</c:v>
                </c:pt>
              </c:strCache>
            </c:strRef>
          </c:tx>
          <c:spPr>
            <a:solidFill>
              <a:srgbClr val="4472C4"/>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CPU FP16</c:v>
                </c:pt>
                <c:pt idx="1">
                  <c:v>CPU INT8</c:v>
                </c:pt>
                <c:pt idx="2">
                  <c:v>iGPU FP16</c:v>
                </c:pt>
                <c:pt idx="3">
                  <c:v>iGPU INT8</c:v>
                </c:pt>
                <c:pt idx="4">
                  <c:v>NPU FP16</c:v>
                </c:pt>
                <c:pt idx="5">
                  <c:v>NPU INT8</c:v>
                </c:pt>
              </c:strCache>
            </c:strRef>
          </c:cat>
          <c:val>
            <c:numRef>
              <c:f>Sheet1!$B$2:$B$7</c:f>
              <c:numCache>
                <c:formatCode>General</c:formatCode>
                <c:ptCount val="6"/>
                <c:pt idx="0">
                  <c:v>10.8</c:v>
                </c:pt>
                <c:pt idx="1">
                  <c:v>34.5</c:v>
                </c:pt>
                <c:pt idx="2">
                  <c:v>37.2</c:v>
                </c:pt>
                <c:pt idx="3">
                  <c:v>54.7</c:v>
                </c:pt>
                <c:pt idx="4">
                  <c:v>60.4</c:v>
                </c:pt>
                <c:pt idx="5">
                  <c:v>74.7</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808080"/>
                </a:solidFill>
                <a:latin typeface="微软雅黑" panose="020B0503020204020204" pitchFamily="34" charset="-122"/>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6EEF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80808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bb5e9536-c78d-4ef0-9519-92acdf090171}"/>
      </c:ext>
    </c:extLst>
  </c:chart>
  <c:spPr>
    <a:noFill/>
    <a:ln>
      <a:noFill/>
    </a:ln>
    <a:effectLst/>
  </c:spPr>
  <c:txPr>
    <a:bodyPr/>
    <a:lstStyle/>
    <a:p>
      <a:pPr>
        <a:defRPr lang="zh-CN" sz="12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440" b="0" i="0" u="none" strike="noStrike" kern="1200" baseline="0">
                <a:solidFill>
                  <a:srgbClr val="14326C"/>
                </a:solidFill>
                <a:latin typeface="微软雅黑" panose="020B0503020204020204" pitchFamily="34" charset="-122"/>
                <a:ea typeface="+mn-ea"/>
                <a:cs typeface="+mn-cs"/>
              </a:defRPr>
            </a:pPr>
            <a:r>
              <a:rPr sz="1440" b="0" i="0" u="none" strike="noStrike">
                <a:solidFill>
                  <a:srgbClr val="14326C"/>
                </a:solidFill>
                <a:latin typeface="微软雅黑" panose="020B0503020204020204" pitchFamily="34" charset="-122"/>
              </a:rPr>
              <a:t>延迟均值对比 (ms)</a:t>
            </a:r>
            <a:endParaRPr sz="1440" b="0" i="0" u="none" strike="noStrike">
              <a:solidFill>
                <a:srgbClr val="14326C"/>
              </a:solidFill>
              <a:latin typeface="微软雅黑" panose="020B0503020204020204" pitchFamily="34" charset="-122"/>
            </a:endParaRPr>
          </a:p>
        </c:rich>
      </c:tx>
      <c:layout/>
      <c:overlay val="0"/>
    </c:title>
    <c:autoTitleDeleted val="0"/>
    <c:plotArea>
      <c:layout/>
      <c:barChart>
        <c:barDir val="col"/>
        <c:grouping val="clustered"/>
        <c:varyColors val="0"/>
        <c:ser>
          <c:idx val="0"/>
          <c:order val="0"/>
          <c:tx>
            <c:strRef>
              <c:f>Sheet1!$B$1</c:f>
              <c:strCache>
                <c:ptCount val="1"/>
                <c:pt idx="0">
                  <c:v>延迟 (ms)</c:v>
                </c:pt>
              </c:strCache>
            </c:strRef>
          </c:tx>
          <c:spPr>
            <a:solidFill>
              <a:srgbClr val="5B9BD5"/>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CPU FP16</c:v>
                </c:pt>
                <c:pt idx="1">
                  <c:v>CPU INT8</c:v>
                </c:pt>
                <c:pt idx="2">
                  <c:v>iGPU FP16</c:v>
                </c:pt>
                <c:pt idx="3">
                  <c:v>iGPU INT8</c:v>
                </c:pt>
                <c:pt idx="4">
                  <c:v>NPU FP16</c:v>
                </c:pt>
                <c:pt idx="5">
                  <c:v>NPU INT8</c:v>
                </c:pt>
              </c:strCache>
            </c:strRef>
          </c:cat>
          <c:val>
            <c:numRef>
              <c:f>Sheet1!$B$2:$B$7</c:f>
              <c:numCache>
                <c:formatCode>General</c:formatCode>
                <c:ptCount val="6"/>
                <c:pt idx="0">
                  <c:v>92.44</c:v>
                </c:pt>
                <c:pt idx="1">
                  <c:v>29.02</c:v>
                </c:pt>
                <c:pt idx="2">
                  <c:v>26.87</c:v>
                </c:pt>
                <c:pt idx="3">
                  <c:v>18.26</c:v>
                </c:pt>
                <c:pt idx="4">
                  <c:v>16.55</c:v>
                </c:pt>
                <c:pt idx="5">
                  <c:v>13.37</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808080"/>
                </a:solidFill>
                <a:latin typeface="微软雅黑" panose="020B0503020204020204" pitchFamily="34" charset="-122"/>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6EEF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80808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008cbc04-f1b8-405a-a98a-8c0cf56fcfc1}"/>
      </c:ext>
    </c:extLst>
  </c:chart>
  <c:spPr>
    <a:noFill/>
    <a:ln>
      <a:noFill/>
    </a:ln>
    <a:effectLst/>
  </c:spPr>
  <c:txPr>
    <a:bodyPr/>
    <a:lstStyle/>
    <a:p>
      <a:pPr>
        <a:defRPr lang="zh-CN" sz="12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样本数</c:v>
                </c:pt>
              </c:strCache>
            </c:strRef>
          </c:tx>
          <c:spPr>
            <a:solidFill>
              <a:srgbClr val="4472C4"/>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候选教师输出</c:v>
                </c:pt>
                <c:pt idx="1">
                  <c:v>高纯度教师</c:v>
                </c:pt>
                <c:pt idx="2">
                  <c:v>正式 SFT</c:v>
                </c:pt>
              </c:strCache>
            </c:strRef>
          </c:cat>
          <c:val>
            <c:numRef>
              <c:f>Sheet1!$B$2:$B$4</c:f>
              <c:numCache>
                <c:formatCode>General</c:formatCode>
                <c:ptCount val="3"/>
                <c:pt idx="0">
                  <c:v>4990</c:v>
                </c:pt>
                <c:pt idx="1">
                  <c:v>3466</c:v>
                </c:pt>
                <c:pt idx="2">
                  <c:v>3450</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txPr>
          <a:bodyPr rot="-60000000" spcFirstLastPara="0" vertOverflow="ellipsis" vert="horz" wrap="square" anchor="ctr" anchorCtr="1"/>
          <a:lstStyle/>
          <a:p>
            <a:pPr>
              <a:defRPr lang="zh-CN"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06405b13-2626-47de-8414-0bb4f0576ae9}"/>
      </c:ext>
    </c:extLst>
  </c:chart>
  <c:spPr>
    <a:noFill/>
    <a:ln>
      <a:noFill/>
    </a:ln>
    <a:effectLst/>
  </c:spPr>
  <c:txPr>
    <a:bodyPr/>
    <a:lstStyle/>
    <a:p>
      <a:pPr>
        <a:defRPr lang="zh-CN" sz="12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意图</c:v>
                </c:pt>
              </c:strCache>
            </c:strRef>
          </c:tx>
          <c:spPr>
            <a:solidFill>
              <a:schemeClr val="accent1"/>
            </a:solidFill>
            <a:ln w="9525" cap="flat">
              <a:solidFill>
                <a:srgbClr val="F9F9F9"/>
              </a:solidFill>
              <a:prstDash val="solid"/>
              <a:round/>
            </a:ln>
            <a:effectLst/>
          </c:spPr>
          <c:explosion val="0"/>
          <c:dPt>
            <c:idx val="0"/>
            <c:bubble3D val="0"/>
            <c:spPr>
              <a:solidFill>
                <a:srgbClr val="14326C"/>
              </a:solidFill>
              <a:effectLst/>
            </c:spPr>
          </c:dPt>
          <c:dPt>
            <c:idx val="1"/>
            <c:bubble3D val="0"/>
            <c:spPr>
              <a:solidFill>
                <a:srgbClr val="4472C4"/>
              </a:solidFill>
              <a:effectLst/>
            </c:spPr>
          </c:dPt>
          <c:dPt>
            <c:idx val="2"/>
            <c:bubble3D val="0"/>
            <c:spPr>
              <a:solidFill>
                <a:srgbClr val="5B9BD5"/>
              </a:solidFill>
              <a:effectLst/>
            </c:spPr>
          </c:dPt>
          <c:dPt>
            <c:idx val="3"/>
            <c:bubble3D val="0"/>
            <c:spPr>
              <a:solidFill>
                <a:srgbClr val="9DBEDC"/>
              </a:solidFill>
              <a:effectLst/>
            </c:spPr>
          </c:dPt>
          <c:dLbls>
            <c:dLbl>
              <c:idx val="0"/>
              <c:layout/>
              <c:numFmt formatCode="General"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1"/>
              <c:layout/>
              <c:numFmt formatCode="General"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2"/>
              <c:layout/>
              <c:numFmt formatCode="General"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3"/>
              <c:layout/>
              <c:numFmt formatCode="General"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numFmt formatCode="General"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Sheet1!$A$2:$A$5</c:f>
              <c:strCache>
                <c:ptCount val="4"/>
                <c:pt idx="0">
                  <c:v>diagnostic 47.1%</c:v>
                </c:pt>
                <c:pt idx="1">
                  <c:v>lab_guidance 28.3%</c:v>
                </c:pt>
                <c:pt idx="2">
                  <c:v>concept_tutor 12.6%</c:v>
                </c:pt>
                <c:pt idx="3">
                  <c:v>mixed 12.0%</c:v>
                </c:pt>
              </c:strCache>
            </c:strRef>
          </c:cat>
          <c:val>
            <c:numRef>
              <c:f>Sheet1!$B$2:$B$5</c:f>
              <c:numCache>
                <c:formatCode>General</c:formatCode>
                <c:ptCount val="4"/>
                <c:pt idx="0">
                  <c:v>47.1</c:v>
                </c:pt>
                <c:pt idx="1">
                  <c:v>28.3</c:v>
                </c:pt>
                <c:pt idx="2">
                  <c:v>12.6</c:v>
                </c:pt>
                <c:pt idx="3">
                  <c:v>12</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legend>
      <c:legendPos val="r"/>
      <c:legendEntry>
        <c:idx val="0"/>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Entry>
      <c:legendEntry>
        <c:idx val="1"/>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Entry>
      <c:legendEntry>
        <c:idx val="2"/>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Entry>
      <c:legendEntry>
        <c:idx val="3"/>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Entry>
      <c:layout/>
      <c:overlay val="0"/>
      <c:txPr>
        <a:bodyPr rot="0" spcFirstLastPara="0" vertOverflow="ellipsis" vert="horz" wrap="square" anchor="ctr" anchorCtr="1"/>
        <a:lstStyle/>
        <a:p>
          <a:pPr>
            <a:defRPr lang="zh-CN" sz="1200" b="0" i="0" u="none" strike="noStrike" kern="1200" baseline="0">
              <a:solidFill>
                <a:srgbClr val="383535"/>
              </a:solidFill>
              <a:latin typeface="微软雅黑" panose="020B0503020204020204" pitchFamily="34" charset="-122"/>
              <a:ea typeface="+mn-ea"/>
              <a:cs typeface="微软雅黑" panose="020B0503020204020204" pitchFamily="34" charset="-122"/>
            </a:defRPr>
          </a:pPr>
        </a:p>
      </c:txPr>
    </c:legend>
    <c:plotVisOnly val="1"/>
    <c:dispBlanksAs val="span"/>
    <c:showDLblsOverMax val="0"/>
    <c:extLst>
      <c:ext uri="{0b15fc19-7d7d-44ad-8c2d-2c3a37ce22c3}">
        <chartProps xmlns="https://web.wps.cn/et/2018/main" chartId="{b744658e-0a66-46f8-8f30-d624a9c19ffc}"/>
      </c:ext>
    </c:extLst>
  </c:chart>
  <c:spPr>
    <a:noFill/>
    <a:ln>
      <a:noFill/>
    </a:ln>
    <a:effectLst/>
  </c:spPr>
  <c:txPr>
    <a:bodyPr/>
    <a:lstStyle/>
    <a:p>
      <a:pPr>
        <a:defRPr lang="zh-CN" sz="1200"/>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样本数</c:v>
                </c:pt>
              </c:strCache>
            </c:strRef>
          </c:tx>
          <c:spPr>
            <a:solidFill>
              <a:srgbClr val="5B9BD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RC</c:v>
                </c:pt>
                <c:pt idx="1">
                  <c:v>CE</c:v>
                </c:pt>
                <c:pt idx="2">
                  <c:v>Diff</c:v>
                </c:pt>
                <c:pt idx="3">
                  <c:v>Inv.</c:v>
                </c:pt>
                <c:pt idx="4">
                  <c:v>积分</c:v>
                </c:pt>
                <c:pt idx="5">
                  <c:v>加法</c:v>
                </c:pt>
              </c:strCache>
            </c:strRef>
          </c:cat>
          <c:val>
            <c:numRef>
              <c:f>Sheet1!$B$2:$B$7</c:f>
              <c:numCache>
                <c:formatCode>General</c:formatCode>
                <c:ptCount val="6"/>
                <c:pt idx="0">
                  <c:v>680</c:v>
                </c:pt>
                <c:pt idx="1">
                  <c:v>653</c:v>
                </c:pt>
                <c:pt idx="2">
                  <c:v>473</c:v>
                </c:pt>
                <c:pt idx="3">
                  <c:v>619</c:v>
                </c:pt>
                <c:pt idx="4">
                  <c:v>552</c:v>
                </c:pt>
                <c:pt idx="5">
                  <c:v>473</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000" b="0" i="0" u="none" strike="noStrike" kern="1200" baseline="0">
                <a:solidFill>
                  <a:srgbClr val="808080"/>
                </a:solidFill>
                <a:latin typeface="微软雅黑" panose="020B0503020204020204" pitchFamily="34" charset="-122"/>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1a6c8a2-1fcc-4ec7-850f-713cdbe4f874}"/>
      </c:ext>
    </c:extLst>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0" i="0" u="none" strike="noStrike" kern="1200" baseline="0">
                <a:solidFill>
                  <a:srgbClr val="14326C"/>
                </a:solidFill>
                <a:latin typeface="微软雅黑" panose="020B0503020204020204" pitchFamily="34" charset="-122"/>
                <a:ea typeface="+mn-ea"/>
                <a:cs typeface="+mn-cs"/>
              </a:defRPr>
            </a:pPr>
            <a:r>
              <a:rPr sz="1200" b="0" i="0" u="none" strike="noStrike">
                <a:solidFill>
                  <a:srgbClr val="14326C"/>
                </a:solidFill>
                <a:latin typeface="微软雅黑" panose="020B0503020204020204" pitchFamily="34" charset="-122"/>
              </a:rPr>
              <a:t>P0 固定题集平均得分率</a:t>
            </a:r>
            <a:endParaRPr sz="1200" b="0" i="0" u="none" strike="noStrike">
              <a:solidFill>
                <a:srgbClr val="14326C"/>
              </a:solidFill>
              <a:latin typeface="微软雅黑" panose="020B0503020204020204" pitchFamily="34" charset="-122"/>
            </a:endParaRPr>
          </a:p>
        </c:rich>
      </c:tx>
      <c:layout/>
      <c:overlay val="0"/>
    </c:title>
    <c:autoTitleDeleted val="0"/>
    <c:plotArea>
      <c:layout/>
      <c:barChart>
        <c:barDir val="col"/>
        <c:grouping val="clustered"/>
        <c:varyColors val="0"/>
        <c:ser>
          <c:idx val="0"/>
          <c:order val="0"/>
          <c:tx>
            <c:strRef>
              <c:f>Sheet1!$B$1</c:f>
              <c:strCache>
                <c:ptCount val="1"/>
                <c:pt idx="0">
                  <c:v>平均得分率 (%)</c:v>
                </c:pt>
              </c:strCache>
            </c:strRef>
          </c:tx>
          <c:spPr>
            <a:solidFill>
              <a:srgbClr val="9DBEDC"/>
            </a:solidFill>
            <a:effectLst/>
          </c:spPr>
          <c:invertIfNegative val="0"/>
          <c:dPt>
            <c:idx val="0"/>
            <c:invertIfNegative val="0"/>
            <c:bubble3D val="0"/>
            <c:spPr>
              <a:solidFill>
                <a:srgbClr val="9DBEDC"/>
              </a:solidFill>
              <a:effectLst/>
            </c:spPr>
          </c:dPt>
          <c:dPt>
            <c:idx val="1"/>
            <c:invertIfNegative val="0"/>
            <c:bubble3D val="0"/>
            <c:spPr>
              <a:solidFill>
                <a:srgbClr val="5B9BD5"/>
              </a:solidFill>
              <a:effectLst/>
            </c:spPr>
          </c:dPt>
          <c:dPt>
            <c:idx val="2"/>
            <c:invertIfNegative val="0"/>
            <c:bubble3D val="0"/>
            <c:spPr>
              <a:solidFill>
                <a:srgbClr val="4472C4"/>
              </a:solidFill>
              <a:effectLst/>
            </c:spPr>
          </c:dPt>
          <c:dPt>
            <c:idx val="3"/>
            <c:invertIfNegative val="0"/>
            <c:bubble3D val="0"/>
            <c:spPr>
              <a:solidFill>
                <a:srgbClr val="14326C"/>
              </a:solidFill>
              <a:effectLst/>
            </c:spPr>
          </c:dPt>
          <c:dLbls>
            <c:numFmt formatCode="0.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383535"/>
                    </a:solidFill>
                    <a:latin typeface="微软雅黑" panose="020B0503020204020204" pitchFamily="34" charset="-122"/>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未蒸馏基座</c:v>
                </c:pt>
                <c:pt idx="1">
                  <c:v>蒸馏学生 FP</c:v>
                </c:pt>
                <c:pt idx="2">
                  <c:v>蒸馏学生 INT4</c:v>
                </c:pt>
                <c:pt idx="3">
                  <c:v>教师上限</c:v>
                </c:pt>
              </c:strCache>
            </c:strRef>
          </c:cat>
          <c:val>
            <c:numRef>
              <c:f>Sheet1!$B$2:$B$5</c:f>
              <c:numCache>
                <c:formatCode>General</c:formatCode>
                <c:ptCount val="4"/>
                <c:pt idx="0">
                  <c:v>66.7</c:v>
                </c:pt>
                <c:pt idx="1">
                  <c:v>64.4</c:v>
                </c:pt>
                <c:pt idx="2">
                  <c:v>71.1</c:v>
                </c:pt>
                <c:pt idx="3">
                  <c:v>92.2</c:v>
                </c:pt>
              </c:numCache>
            </c:numRef>
          </c:val>
        </c:ser>
        <c:dLbls>
          <c:showLegendKey val="0"/>
          <c:showVal val="1"/>
          <c:showCatName val="0"/>
          <c:showSerName val="0"/>
          <c:showPercent val="0"/>
          <c:showBubbleSize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100" b="0" i="0" u="none" strike="noStrike" kern="1200" baseline="0">
                <a:solidFill>
                  <a:srgbClr val="383535"/>
                </a:solidFill>
                <a:latin typeface="微软雅黑" panose="020B0503020204020204" pitchFamily="34" charset="-122"/>
                <a:ea typeface="+mn-ea"/>
                <a:cs typeface="+mn-cs"/>
              </a:defRPr>
            </a:pPr>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cmpd="sng" algn="ctr">
              <a:solidFill>
                <a:srgbClr val="E6EEF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900" b="0" i="0" u="none" strike="noStrike" kern="1200" baseline="0">
                <a:solidFill>
                  <a:srgbClr val="80808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2df1d52e-42c5-4c8f-a9d1-ff53eb9cff30}"/>
      </c:ext>
    </c:extLst>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image" Target="../media/image2.png"/><Relationship Id="rId67" Type="http://schemas.openxmlformats.org/officeDocument/2006/relationships/notesSlide" Target="../notesSlides/notesSlide2.xml"/><Relationship Id="rId66" Type="http://schemas.openxmlformats.org/officeDocument/2006/relationships/slideLayout" Target="../slideLayouts/slideLayout1.xml"/><Relationship Id="rId65" Type="http://schemas.openxmlformats.org/officeDocument/2006/relationships/tags" Target="../tags/tag56.xml"/><Relationship Id="rId64" Type="http://schemas.openxmlformats.org/officeDocument/2006/relationships/tags" Target="../tags/tag55.xml"/><Relationship Id="rId63" Type="http://schemas.openxmlformats.org/officeDocument/2006/relationships/image" Target="../media/image9.png"/><Relationship Id="rId62" Type="http://schemas.openxmlformats.org/officeDocument/2006/relationships/tags" Target="../tags/tag54.xml"/><Relationship Id="rId61" Type="http://schemas.openxmlformats.org/officeDocument/2006/relationships/tags" Target="../tags/tag53.xml"/><Relationship Id="rId60" Type="http://schemas.openxmlformats.org/officeDocument/2006/relationships/tags" Target="../tags/tag52.xml"/><Relationship Id="rId6" Type="http://schemas.openxmlformats.org/officeDocument/2006/relationships/tags" Target="../tags/tag5.xml"/><Relationship Id="rId59" Type="http://schemas.openxmlformats.org/officeDocument/2006/relationships/tags" Target="../tags/tag51.xml"/><Relationship Id="rId58" Type="http://schemas.openxmlformats.org/officeDocument/2006/relationships/tags" Target="../tags/tag50.xml"/><Relationship Id="rId57" Type="http://schemas.openxmlformats.org/officeDocument/2006/relationships/tags" Target="../tags/tag49.xml"/><Relationship Id="rId56" Type="http://schemas.openxmlformats.org/officeDocument/2006/relationships/tags" Target="../tags/tag48.xml"/><Relationship Id="rId55" Type="http://schemas.openxmlformats.org/officeDocument/2006/relationships/image" Target="../media/image8.png"/><Relationship Id="rId54" Type="http://schemas.openxmlformats.org/officeDocument/2006/relationships/tags" Target="../tags/tag47.xml"/><Relationship Id="rId53" Type="http://schemas.openxmlformats.org/officeDocument/2006/relationships/tags" Target="../tags/tag46.xml"/><Relationship Id="rId52" Type="http://schemas.openxmlformats.org/officeDocument/2006/relationships/tags" Target="../tags/tag45.xml"/><Relationship Id="rId51" Type="http://schemas.openxmlformats.org/officeDocument/2006/relationships/tags" Target="../tags/tag44.xml"/><Relationship Id="rId50" Type="http://schemas.openxmlformats.org/officeDocument/2006/relationships/tags" Target="../tags/tag43.xml"/><Relationship Id="rId5" Type="http://schemas.openxmlformats.org/officeDocument/2006/relationships/tags" Target="../tags/tag4.xml"/><Relationship Id="rId49" Type="http://schemas.openxmlformats.org/officeDocument/2006/relationships/tags" Target="../tags/tag42.xml"/><Relationship Id="rId48" Type="http://schemas.openxmlformats.org/officeDocument/2006/relationships/tags" Target="../tags/tag41.xml"/><Relationship Id="rId47" Type="http://schemas.openxmlformats.org/officeDocument/2006/relationships/image" Target="../media/image7.png"/><Relationship Id="rId46" Type="http://schemas.openxmlformats.org/officeDocument/2006/relationships/tags" Target="../tags/tag40.xml"/><Relationship Id="rId45" Type="http://schemas.openxmlformats.org/officeDocument/2006/relationships/tags" Target="../tags/tag39.xml"/><Relationship Id="rId44" Type="http://schemas.openxmlformats.org/officeDocument/2006/relationships/tags" Target="../tags/tag38.xml"/><Relationship Id="rId43" Type="http://schemas.openxmlformats.org/officeDocument/2006/relationships/tags" Target="../tags/tag37.xml"/><Relationship Id="rId42" Type="http://schemas.openxmlformats.org/officeDocument/2006/relationships/tags" Target="../tags/tag36.xml"/><Relationship Id="rId41" Type="http://schemas.openxmlformats.org/officeDocument/2006/relationships/tags" Target="../tags/tag35.xml"/><Relationship Id="rId40" Type="http://schemas.openxmlformats.org/officeDocument/2006/relationships/tags" Target="../tags/tag34.xml"/><Relationship Id="rId4" Type="http://schemas.openxmlformats.org/officeDocument/2006/relationships/tags" Target="../tags/tag3.xml"/><Relationship Id="rId39" Type="http://schemas.openxmlformats.org/officeDocument/2006/relationships/image" Target="../media/image6.png"/><Relationship Id="rId38" Type="http://schemas.openxmlformats.org/officeDocument/2006/relationships/tags" Target="../tags/tag33.xml"/><Relationship Id="rId37" Type="http://schemas.openxmlformats.org/officeDocument/2006/relationships/tags" Target="../tags/tag32.xml"/><Relationship Id="rId36" Type="http://schemas.openxmlformats.org/officeDocument/2006/relationships/tags" Target="../tags/tag31.xml"/><Relationship Id="rId35" Type="http://schemas.openxmlformats.org/officeDocument/2006/relationships/tags" Target="../tags/tag30.xml"/><Relationship Id="rId34" Type="http://schemas.openxmlformats.org/officeDocument/2006/relationships/tags" Target="../tags/tag29.xml"/><Relationship Id="rId33" Type="http://schemas.openxmlformats.org/officeDocument/2006/relationships/tags" Target="../tags/tag28.xml"/><Relationship Id="rId32" Type="http://schemas.openxmlformats.org/officeDocument/2006/relationships/tags" Target="../tags/tag27.xml"/><Relationship Id="rId31" Type="http://schemas.openxmlformats.org/officeDocument/2006/relationships/image" Target="../media/image5.png"/><Relationship Id="rId30" Type="http://schemas.openxmlformats.org/officeDocument/2006/relationships/tags" Target="../tags/tag26.xml"/><Relationship Id="rId3" Type="http://schemas.openxmlformats.org/officeDocument/2006/relationships/tags" Target="../tags/tag2.xml"/><Relationship Id="rId29" Type="http://schemas.openxmlformats.org/officeDocument/2006/relationships/tags" Target="../tags/tag25.xml"/><Relationship Id="rId28" Type="http://schemas.openxmlformats.org/officeDocument/2006/relationships/tags" Target="../tags/tag24.xml"/><Relationship Id="rId27" Type="http://schemas.openxmlformats.org/officeDocument/2006/relationships/tags" Target="../tags/tag23.xml"/><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tags" Target="../tags/tag20.xml"/><Relationship Id="rId23" Type="http://schemas.openxmlformats.org/officeDocument/2006/relationships/image" Target="../media/image4.png"/><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image" Target="../media/image3.png"/><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image" Target="../media/image4.png"/><Relationship Id="rId5" Type="http://schemas.openxmlformats.org/officeDocument/2006/relationships/tags" Target="../tags/tag60.xml"/><Relationship Id="rId4" Type="http://schemas.openxmlformats.org/officeDocument/2006/relationships/tags" Target="../tags/tag59.xml"/><Relationship Id="rId35" Type="http://schemas.openxmlformats.org/officeDocument/2006/relationships/notesSlide" Target="../notesSlides/notesSlide4.xml"/><Relationship Id="rId34" Type="http://schemas.openxmlformats.org/officeDocument/2006/relationships/slideLayout" Target="../slideLayouts/slideLayout1.xml"/><Relationship Id="rId33" Type="http://schemas.openxmlformats.org/officeDocument/2006/relationships/tags" Target="../tags/tag84.xml"/><Relationship Id="rId32" Type="http://schemas.openxmlformats.org/officeDocument/2006/relationships/tags" Target="../tags/tag83.xml"/><Relationship Id="rId31" Type="http://schemas.openxmlformats.org/officeDocument/2006/relationships/tags" Target="../tags/tag82.xml"/><Relationship Id="rId30" Type="http://schemas.openxmlformats.org/officeDocument/2006/relationships/image" Target="../media/image7.png"/><Relationship Id="rId3" Type="http://schemas.openxmlformats.org/officeDocument/2006/relationships/tags" Target="../tags/tag58.xml"/><Relationship Id="rId29" Type="http://schemas.openxmlformats.org/officeDocument/2006/relationships/tags" Target="../tags/tag81.xml"/><Relationship Id="rId28" Type="http://schemas.openxmlformats.org/officeDocument/2006/relationships/tags" Target="../tags/tag80.xml"/><Relationship Id="rId27" Type="http://schemas.openxmlformats.org/officeDocument/2006/relationships/tags" Target="../tags/tag79.xml"/><Relationship Id="rId26" Type="http://schemas.openxmlformats.org/officeDocument/2006/relationships/tags" Target="../tags/tag78.xml"/><Relationship Id="rId25" Type="http://schemas.openxmlformats.org/officeDocument/2006/relationships/tags" Target="../tags/tag77.xml"/><Relationship Id="rId24" Type="http://schemas.openxmlformats.org/officeDocument/2006/relationships/tags" Target="../tags/tag76.xml"/><Relationship Id="rId23" Type="http://schemas.openxmlformats.org/officeDocument/2006/relationships/tags" Target="../tags/tag75.xml"/><Relationship Id="rId22" Type="http://schemas.openxmlformats.org/officeDocument/2006/relationships/image" Target="../media/image14.png"/><Relationship Id="rId21" Type="http://schemas.openxmlformats.org/officeDocument/2006/relationships/tags" Target="../tags/tag74.xml"/><Relationship Id="rId20" Type="http://schemas.openxmlformats.org/officeDocument/2006/relationships/tags" Target="../tags/tag73.xml"/><Relationship Id="rId2" Type="http://schemas.openxmlformats.org/officeDocument/2006/relationships/tags" Target="../tags/tag57.xml"/><Relationship Id="rId19" Type="http://schemas.openxmlformats.org/officeDocument/2006/relationships/tags" Target="../tags/tag72.xml"/><Relationship Id="rId18" Type="http://schemas.openxmlformats.org/officeDocument/2006/relationships/tags" Target="../tags/tag71.xml"/><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image" Target="../media/image13.png"/><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5" Type="http://schemas.openxmlformats.org/officeDocument/2006/relationships/notesSlide" Target="../notesSlides/notesSlide5.xml"/><Relationship Id="rId24" Type="http://schemas.openxmlformats.org/officeDocument/2006/relationships/slideLayout" Target="../slideLayouts/slideLayout1.xml"/><Relationship Id="rId23" Type="http://schemas.openxmlformats.org/officeDocument/2006/relationships/image" Target="../media/image16.png"/><Relationship Id="rId22" Type="http://schemas.openxmlformats.org/officeDocument/2006/relationships/tags" Target="../tags/tag105.xml"/><Relationship Id="rId21" Type="http://schemas.openxmlformats.org/officeDocument/2006/relationships/tags" Target="../tags/tag104.xml"/><Relationship Id="rId20" Type="http://schemas.openxmlformats.org/officeDocument/2006/relationships/tags" Target="../tags/tag103.xml"/><Relationship Id="rId2" Type="http://schemas.openxmlformats.org/officeDocument/2006/relationships/tags" Target="../tags/tag85.xml"/><Relationship Id="rId19" Type="http://schemas.openxmlformats.org/officeDocument/2006/relationships/tags" Target="../tags/tag102.xml"/><Relationship Id="rId18" Type="http://schemas.openxmlformats.org/officeDocument/2006/relationships/tags" Target="../tags/tag101.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20.png"/><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2" Type="http://schemas.openxmlformats.org/officeDocument/2006/relationships/notesSlide" Target="../notesSlides/notesSlide9.xml"/><Relationship Id="rId21" Type="http://schemas.openxmlformats.org/officeDocument/2006/relationships/slideLayout" Target="../slideLayouts/slideLayout1.xml"/><Relationship Id="rId20" Type="http://schemas.openxmlformats.org/officeDocument/2006/relationships/image" Target="../media/image21.png"/><Relationship Id="rId2" Type="http://schemas.openxmlformats.org/officeDocument/2006/relationships/tags" Target="../tags/tag106.xml"/><Relationship Id="rId19" Type="http://schemas.openxmlformats.org/officeDocument/2006/relationships/tags" Target="../tags/tag123.xml"/><Relationship Id="rId18" Type="http://schemas.openxmlformats.org/officeDocument/2006/relationships/tags" Target="../tags/tag122.xml"/><Relationship Id="rId17" Type="http://schemas.openxmlformats.org/officeDocument/2006/relationships/tags" Target="../tags/tag121.xml"/><Relationship Id="rId16" Type="http://schemas.openxmlformats.org/officeDocument/2006/relationships/tags" Target="../tags/tag120.xml"/><Relationship Id="rId15" Type="http://schemas.openxmlformats.org/officeDocument/2006/relationships/tags" Target="../tags/tag119.xml"/><Relationship Id="rId14" Type="http://schemas.openxmlformats.org/officeDocument/2006/relationships/tags" Target="../tags/tag118.xml"/><Relationship Id="rId13" Type="http://schemas.openxmlformats.org/officeDocument/2006/relationships/tags" Target="../tags/tag117.xml"/><Relationship Id="rId12" Type="http://schemas.openxmlformats.org/officeDocument/2006/relationships/tags" Target="../tags/tag116.xml"/><Relationship Id="rId11" Type="http://schemas.openxmlformats.org/officeDocument/2006/relationships/tags" Target="../tags/tag115.xml"/><Relationship Id="rId10" Type="http://schemas.openxmlformats.org/officeDocument/2006/relationships/tags" Target="../tags/tag11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xml"/><Relationship Id="rId7" Type="http://schemas.openxmlformats.org/officeDocument/2006/relationships/image" Target="../media/image25.png"/><Relationship Id="rId6" Type="http://schemas.openxmlformats.org/officeDocument/2006/relationships/image" Target="../media/image6.png"/><Relationship Id="rId5" Type="http://schemas.openxmlformats.org/officeDocument/2006/relationships/image" Target="../media/image24.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4" Type="http://schemas.openxmlformats.org/officeDocument/2006/relationships/notesSlide" Target="../notesSlides/notesSlide12.xml"/><Relationship Id="rId23" Type="http://schemas.openxmlformats.org/officeDocument/2006/relationships/slideLayout" Target="../slideLayouts/slideLayout1.xml"/><Relationship Id="rId22" Type="http://schemas.openxmlformats.org/officeDocument/2006/relationships/image" Target="../media/image17.png"/><Relationship Id="rId21" Type="http://schemas.openxmlformats.org/officeDocument/2006/relationships/tags" Target="../tags/tag143.xml"/><Relationship Id="rId20" Type="http://schemas.openxmlformats.org/officeDocument/2006/relationships/tags" Target="../tags/tag142.xml"/><Relationship Id="rId2" Type="http://schemas.openxmlformats.org/officeDocument/2006/relationships/tags" Target="../tags/tag124.xml"/><Relationship Id="rId19" Type="http://schemas.openxmlformats.org/officeDocument/2006/relationships/tags" Target="../tags/tag141.xml"/><Relationship Id="rId18" Type="http://schemas.openxmlformats.org/officeDocument/2006/relationships/tags" Target="../tags/tag140.xml"/><Relationship Id="rId17" Type="http://schemas.openxmlformats.org/officeDocument/2006/relationships/tags" Target="../tags/tag139.xml"/><Relationship Id="rId16" Type="http://schemas.openxmlformats.org/officeDocument/2006/relationships/tags" Target="../tags/tag138.xml"/><Relationship Id="rId15" Type="http://schemas.openxmlformats.org/officeDocument/2006/relationships/tags" Target="../tags/tag137.xml"/><Relationship Id="rId14" Type="http://schemas.openxmlformats.org/officeDocument/2006/relationships/tags" Target="../tags/tag136.xml"/><Relationship Id="rId13" Type="http://schemas.openxmlformats.org/officeDocument/2006/relationships/tags" Target="../tags/tag135.xml"/><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image" Target="../media/image21.png"/><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7" Type="http://schemas.openxmlformats.org/officeDocument/2006/relationships/notesSlide" Target="../notesSlides/notesSlide15.xml"/><Relationship Id="rId26" Type="http://schemas.openxmlformats.org/officeDocument/2006/relationships/slideLayout" Target="../slideLayouts/slideLayout1.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image" Target="../media/image28.png"/><Relationship Id="rId21" Type="http://schemas.openxmlformats.org/officeDocument/2006/relationships/tags" Target="../tags/tag161.xml"/><Relationship Id="rId20" Type="http://schemas.openxmlformats.org/officeDocument/2006/relationships/tags" Target="../tags/tag160.xml"/><Relationship Id="rId2" Type="http://schemas.openxmlformats.org/officeDocument/2006/relationships/tags" Target="../tags/tag144.xml"/><Relationship Id="rId19" Type="http://schemas.openxmlformats.org/officeDocument/2006/relationships/tags" Target="../tags/tag159.xml"/><Relationship Id="rId18" Type="http://schemas.openxmlformats.org/officeDocument/2006/relationships/tags" Target="../tags/tag158.xml"/><Relationship Id="rId17" Type="http://schemas.openxmlformats.org/officeDocument/2006/relationships/tags" Target="../tags/tag157.xml"/><Relationship Id="rId16" Type="http://schemas.openxmlformats.org/officeDocument/2006/relationships/tags" Target="../tags/tag156.xml"/><Relationship Id="rId15" Type="http://schemas.openxmlformats.org/officeDocument/2006/relationships/tags" Target="../tags/tag155.xml"/><Relationship Id="rId14" Type="http://schemas.openxmlformats.org/officeDocument/2006/relationships/image" Target="../media/image27.png"/><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6" Type="http://schemas.openxmlformats.org/officeDocument/2006/relationships/notesSlide" Target="../notesSlides/notesSlide16.xml"/><Relationship Id="rId15" Type="http://schemas.openxmlformats.org/officeDocument/2006/relationships/slideLayout" Target="../slideLayouts/slideLayout1.xml"/><Relationship Id="rId14" Type="http://schemas.openxmlformats.org/officeDocument/2006/relationships/image" Target="../media/image29.png"/><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7" Type="http://schemas.openxmlformats.org/officeDocument/2006/relationships/notesSlide" Target="../notesSlides/notesSlide17.xml"/><Relationship Id="rId26" Type="http://schemas.openxmlformats.org/officeDocument/2006/relationships/slideLayout" Target="../slideLayouts/slideLayout1.xml"/><Relationship Id="rId25" Type="http://schemas.openxmlformats.org/officeDocument/2006/relationships/tags" Target="../tags/tag200.xml"/><Relationship Id="rId24" Type="http://schemas.openxmlformats.org/officeDocument/2006/relationships/tags" Target="../tags/tag199.xml"/><Relationship Id="rId23" Type="http://schemas.openxmlformats.org/officeDocument/2006/relationships/tags" Target="../tags/tag198.xml"/><Relationship Id="rId22" Type="http://schemas.openxmlformats.org/officeDocument/2006/relationships/tags" Target="../tags/tag197.xml"/><Relationship Id="rId21" Type="http://schemas.openxmlformats.org/officeDocument/2006/relationships/tags" Target="../tags/tag196.xml"/><Relationship Id="rId20" Type="http://schemas.openxmlformats.org/officeDocument/2006/relationships/tags" Target="../tags/tag195.xml"/><Relationship Id="rId2" Type="http://schemas.openxmlformats.org/officeDocument/2006/relationships/tags" Target="../tags/tag177.xml"/><Relationship Id="rId19" Type="http://schemas.openxmlformats.org/officeDocument/2006/relationships/tags" Target="../tags/tag194.xml"/><Relationship Id="rId18" Type="http://schemas.openxmlformats.org/officeDocument/2006/relationships/tags" Target="../tags/tag193.xml"/><Relationship Id="rId17" Type="http://schemas.openxmlformats.org/officeDocument/2006/relationships/tags" Target="../tags/tag192.xml"/><Relationship Id="rId16" Type="http://schemas.openxmlformats.org/officeDocument/2006/relationships/tags" Target="../tags/tag191.xml"/><Relationship Id="rId15" Type="http://schemas.openxmlformats.org/officeDocument/2006/relationships/tags" Target="../tags/tag190.xml"/><Relationship Id="rId14" Type="http://schemas.openxmlformats.org/officeDocument/2006/relationships/tags" Target="../tags/tag189.xml"/><Relationship Id="rId13" Type="http://schemas.openxmlformats.org/officeDocument/2006/relationships/tags" Target="../tags/tag188.xml"/><Relationship Id="rId12" Type="http://schemas.openxmlformats.org/officeDocument/2006/relationships/tags" Target="../tags/tag187.xml"/><Relationship Id="rId11" Type="http://schemas.openxmlformats.org/officeDocument/2006/relationships/tags" Target="../tags/tag186.xml"/><Relationship Id="rId10" Type="http://schemas.openxmlformats.org/officeDocument/2006/relationships/tags" Target="../tags/tag185.xml"/><Relationship Id="rId1" Type="http://schemas.openxmlformats.org/officeDocument/2006/relationships/image" Target="../media/image30.png"/></Relationships>
</file>

<file path=ppt/slides/_rels/slide18.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7" Type="http://schemas.openxmlformats.org/officeDocument/2006/relationships/notesSlide" Target="../notesSlides/notesSlide18.xml"/><Relationship Id="rId26" Type="http://schemas.openxmlformats.org/officeDocument/2006/relationships/slideLayout" Target="../slideLayouts/slideLayout1.xml"/><Relationship Id="rId25" Type="http://schemas.openxmlformats.org/officeDocument/2006/relationships/tags" Target="../tags/tag224.xml"/><Relationship Id="rId24" Type="http://schemas.openxmlformats.org/officeDocument/2006/relationships/tags" Target="../tags/tag223.xml"/><Relationship Id="rId23" Type="http://schemas.openxmlformats.org/officeDocument/2006/relationships/tags" Target="../tags/tag222.xml"/><Relationship Id="rId22" Type="http://schemas.openxmlformats.org/officeDocument/2006/relationships/tags" Target="../tags/tag221.xml"/><Relationship Id="rId21" Type="http://schemas.openxmlformats.org/officeDocument/2006/relationships/tags" Target="../tags/tag220.xml"/><Relationship Id="rId20" Type="http://schemas.openxmlformats.org/officeDocument/2006/relationships/tags" Target="../tags/tag219.xml"/><Relationship Id="rId2" Type="http://schemas.openxmlformats.org/officeDocument/2006/relationships/tags" Target="../tags/tag201.xml"/><Relationship Id="rId19" Type="http://schemas.openxmlformats.org/officeDocument/2006/relationships/tags" Target="../tags/tag218.xml"/><Relationship Id="rId18" Type="http://schemas.openxmlformats.org/officeDocument/2006/relationships/tags" Target="../tags/tag217.xml"/><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31.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image" Target="../media/image2.png"/><Relationship Id="rId5" Type="http://schemas.openxmlformats.org/officeDocument/2006/relationships/tags" Target="../tags/tag228.xml"/><Relationship Id="rId4" Type="http://schemas.openxmlformats.org/officeDocument/2006/relationships/tags" Target="../tags/tag227.xml"/><Relationship Id="rId35" Type="http://schemas.openxmlformats.org/officeDocument/2006/relationships/notesSlide" Target="../notesSlides/notesSlide22.xml"/><Relationship Id="rId34" Type="http://schemas.openxmlformats.org/officeDocument/2006/relationships/slideLayout" Target="../slideLayouts/slideLayout1.xml"/><Relationship Id="rId33" Type="http://schemas.openxmlformats.org/officeDocument/2006/relationships/tags" Target="../tags/tag252.xml"/><Relationship Id="rId32" Type="http://schemas.openxmlformats.org/officeDocument/2006/relationships/tags" Target="../tags/tag251.xml"/><Relationship Id="rId31" Type="http://schemas.openxmlformats.org/officeDocument/2006/relationships/tags" Target="../tags/tag250.xml"/><Relationship Id="rId30" Type="http://schemas.openxmlformats.org/officeDocument/2006/relationships/image" Target="../media/image5.png"/><Relationship Id="rId3" Type="http://schemas.openxmlformats.org/officeDocument/2006/relationships/tags" Target="../tags/tag226.xml"/><Relationship Id="rId29" Type="http://schemas.openxmlformats.org/officeDocument/2006/relationships/tags" Target="../tags/tag249.xml"/><Relationship Id="rId28" Type="http://schemas.openxmlformats.org/officeDocument/2006/relationships/tags" Target="../tags/tag248.xml"/><Relationship Id="rId27" Type="http://schemas.openxmlformats.org/officeDocument/2006/relationships/tags" Target="../tags/tag247.xml"/><Relationship Id="rId26" Type="http://schemas.openxmlformats.org/officeDocument/2006/relationships/tags" Target="../tags/tag246.xml"/><Relationship Id="rId25" Type="http://schemas.openxmlformats.org/officeDocument/2006/relationships/tags" Target="../tags/tag245.xml"/><Relationship Id="rId24" Type="http://schemas.openxmlformats.org/officeDocument/2006/relationships/tags" Target="../tags/tag244.xml"/><Relationship Id="rId23" Type="http://schemas.openxmlformats.org/officeDocument/2006/relationships/tags" Target="../tags/tag243.xml"/><Relationship Id="rId22" Type="http://schemas.openxmlformats.org/officeDocument/2006/relationships/image" Target="../media/image32.png"/><Relationship Id="rId21" Type="http://schemas.openxmlformats.org/officeDocument/2006/relationships/tags" Target="../tags/tag242.xml"/><Relationship Id="rId20" Type="http://schemas.openxmlformats.org/officeDocument/2006/relationships/tags" Target="../tags/tag241.xml"/><Relationship Id="rId2" Type="http://schemas.openxmlformats.org/officeDocument/2006/relationships/tags" Target="../tags/tag225.xml"/><Relationship Id="rId19" Type="http://schemas.openxmlformats.org/officeDocument/2006/relationships/tags" Target="../tags/tag240.xml"/><Relationship Id="rId18" Type="http://schemas.openxmlformats.org/officeDocument/2006/relationships/tags" Target="../tags/tag239.xml"/><Relationship Id="rId17" Type="http://schemas.openxmlformats.org/officeDocument/2006/relationships/tags" Target="../tags/tag238.xml"/><Relationship Id="rId16" Type="http://schemas.openxmlformats.org/officeDocument/2006/relationships/tags" Target="../tags/tag237.xml"/><Relationship Id="rId15" Type="http://schemas.openxmlformats.org/officeDocument/2006/relationships/tags" Target="../tags/tag236.xml"/><Relationship Id="rId14" Type="http://schemas.openxmlformats.org/officeDocument/2006/relationships/image" Target="../media/image11.png"/><Relationship Id="rId13" Type="http://schemas.openxmlformats.org/officeDocument/2006/relationships/tags" Target="../tags/tag235.xml"/><Relationship Id="rId12" Type="http://schemas.openxmlformats.org/officeDocument/2006/relationships/tags" Target="../tags/tag234.xml"/><Relationship Id="rId11" Type="http://schemas.openxmlformats.org/officeDocument/2006/relationships/tags" Target="../tags/tag233.xml"/><Relationship Id="rId10" Type="http://schemas.openxmlformats.org/officeDocument/2006/relationships/tags" Target="../tags/tag232.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9" Type="http://schemas.openxmlformats.org/officeDocument/2006/relationships/tags" Target="../tags/tag259.xml"/><Relationship Id="rId8" Type="http://schemas.openxmlformats.org/officeDocument/2006/relationships/tags" Target="../tags/tag258.xml"/><Relationship Id="rId7" Type="http://schemas.openxmlformats.org/officeDocument/2006/relationships/tags" Target="../tags/tag257.xml"/><Relationship Id="rId6" Type="http://schemas.openxmlformats.org/officeDocument/2006/relationships/image" Target="../media/image32.png"/><Relationship Id="rId5" Type="http://schemas.openxmlformats.org/officeDocument/2006/relationships/tags" Target="../tags/tag256.xml"/><Relationship Id="rId4" Type="http://schemas.openxmlformats.org/officeDocument/2006/relationships/tags" Target="../tags/tag255.xml"/><Relationship Id="rId30" Type="http://schemas.openxmlformats.org/officeDocument/2006/relationships/notesSlide" Target="../notesSlides/notesSlide24.xml"/><Relationship Id="rId3" Type="http://schemas.openxmlformats.org/officeDocument/2006/relationships/tags" Target="../tags/tag254.xml"/><Relationship Id="rId29" Type="http://schemas.openxmlformats.org/officeDocument/2006/relationships/slideLayout" Target="../slideLayouts/slideLayout1.xml"/><Relationship Id="rId28" Type="http://schemas.openxmlformats.org/officeDocument/2006/relationships/tags" Target="../tags/tag276.xml"/><Relationship Id="rId27" Type="http://schemas.openxmlformats.org/officeDocument/2006/relationships/tags" Target="../tags/tag275.xml"/><Relationship Id="rId26" Type="http://schemas.openxmlformats.org/officeDocument/2006/relationships/tags" Target="../tags/tag274.xml"/><Relationship Id="rId25" Type="http://schemas.openxmlformats.org/officeDocument/2006/relationships/tags" Target="../tags/tag273.xml"/><Relationship Id="rId24" Type="http://schemas.openxmlformats.org/officeDocument/2006/relationships/image" Target="../media/image18.png"/><Relationship Id="rId23" Type="http://schemas.openxmlformats.org/officeDocument/2006/relationships/tags" Target="../tags/tag272.xml"/><Relationship Id="rId22" Type="http://schemas.openxmlformats.org/officeDocument/2006/relationships/tags" Target="../tags/tag271.xml"/><Relationship Id="rId21" Type="http://schemas.openxmlformats.org/officeDocument/2006/relationships/tags" Target="../tags/tag270.xml"/><Relationship Id="rId20" Type="http://schemas.openxmlformats.org/officeDocument/2006/relationships/tags" Target="../tags/tag269.xml"/><Relationship Id="rId2" Type="http://schemas.openxmlformats.org/officeDocument/2006/relationships/tags" Target="../tags/tag253.xml"/><Relationship Id="rId19" Type="http://schemas.openxmlformats.org/officeDocument/2006/relationships/tags" Target="../tags/tag268.xml"/><Relationship Id="rId18" Type="http://schemas.openxmlformats.org/officeDocument/2006/relationships/tags" Target="../tags/tag267.xml"/><Relationship Id="rId17" Type="http://schemas.openxmlformats.org/officeDocument/2006/relationships/tags" Target="../tags/tag266.xml"/><Relationship Id="rId16" Type="http://schemas.openxmlformats.org/officeDocument/2006/relationships/tags" Target="../tags/tag265.xml"/><Relationship Id="rId15" Type="http://schemas.openxmlformats.org/officeDocument/2006/relationships/image" Target="../media/image6.png"/><Relationship Id="rId14" Type="http://schemas.openxmlformats.org/officeDocument/2006/relationships/tags" Target="../tags/tag264.xml"/><Relationship Id="rId13" Type="http://schemas.openxmlformats.org/officeDocument/2006/relationships/tags" Target="../tags/tag263.xml"/><Relationship Id="rId12" Type="http://schemas.openxmlformats.org/officeDocument/2006/relationships/tags" Target="../tags/tag262.xml"/><Relationship Id="rId11" Type="http://schemas.openxmlformats.org/officeDocument/2006/relationships/tags" Target="../tags/tag261.xml"/><Relationship Id="rId10" Type="http://schemas.openxmlformats.org/officeDocument/2006/relationships/tags" Target="../tags/tag260.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chart" Target="../charts/chart3.xml"/><Relationship Id="rId1" Type="http://schemas.openxmlformats.org/officeDocument/2006/relationships/chart" Target="../charts/char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9" Type="http://schemas.openxmlformats.org/officeDocument/2006/relationships/tags" Target="../tags/tag281.xml"/><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image" Target="../media/image25.png"/><Relationship Id="rId3" Type="http://schemas.openxmlformats.org/officeDocument/2006/relationships/chart" Target="../charts/chart6.xml"/><Relationship Id="rId2" Type="http://schemas.openxmlformats.org/officeDocument/2006/relationships/chart" Target="../charts/chart5.xml"/><Relationship Id="rId12" Type="http://schemas.openxmlformats.org/officeDocument/2006/relationships/notesSlide" Target="../notesSlides/notesSlide27.xml"/><Relationship Id="rId11" Type="http://schemas.openxmlformats.org/officeDocument/2006/relationships/slideLayout" Target="../slideLayouts/slideLayout1.xml"/><Relationship Id="rId10" Type="http://schemas.openxmlformats.org/officeDocument/2006/relationships/tags" Target="../tags/tag282.xml"/><Relationship Id="rId1" Type="http://schemas.openxmlformats.org/officeDocument/2006/relationships/chart" Target="../charts/chart4.xml"/></Relationships>
</file>

<file path=ppt/slides/_rels/slide28.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image" Target="../media/image26.png"/><Relationship Id="rId51" Type="http://schemas.openxmlformats.org/officeDocument/2006/relationships/notesSlide" Target="../notesSlides/notesSlide28.xml"/><Relationship Id="rId50" Type="http://schemas.openxmlformats.org/officeDocument/2006/relationships/slideLayout" Target="../slideLayouts/slideLayout1.xml"/><Relationship Id="rId5" Type="http://schemas.openxmlformats.org/officeDocument/2006/relationships/tags" Target="../tags/tag286.xml"/><Relationship Id="rId49" Type="http://schemas.openxmlformats.org/officeDocument/2006/relationships/tags" Target="../tags/tag324.xml"/><Relationship Id="rId48" Type="http://schemas.openxmlformats.org/officeDocument/2006/relationships/tags" Target="../tags/tag323.xml"/><Relationship Id="rId47" Type="http://schemas.openxmlformats.org/officeDocument/2006/relationships/tags" Target="../tags/tag322.xml"/><Relationship Id="rId46" Type="http://schemas.openxmlformats.org/officeDocument/2006/relationships/image" Target="../media/image9.png"/><Relationship Id="rId45" Type="http://schemas.openxmlformats.org/officeDocument/2006/relationships/tags" Target="../tags/tag321.xml"/><Relationship Id="rId44" Type="http://schemas.openxmlformats.org/officeDocument/2006/relationships/tags" Target="../tags/tag320.xml"/><Relationship Id="rId43" Type="http://schemas.openxmlformats.org/officeDocument/2006/relationships/tags" Target="../tags/tag319.xml"/><Relationship Id="rId42" Type="http://schemas.openxmlformats.org/officeDocument/2006/relationships/tags" Target="../tags/tag318.xml"/><Relationship Id="rId41" Type="http://schemas.openxmlformats.org/officeDocument/2006/relationships/tags" Target="../tags/tag317.xml"/><Relationship Id="rId40" Type="http://schemas.openxmlformats.org/officeDocument/2006/relationships/tags" Target="../tags/tag316.xml"/><Relationship Id="rId4" Type="http://schemas.openxmlformats.org/officeDocument/2006/relationships/tags" Target="../tags/tag285.xml"/><Relationship Id="rId39" Type="http://schemas.openxmlformats.org/officeDocument/2006/relationships/tags" Target="../tags/tag315.xml"/><Relationship Id="rId38" Type="http://schemas.openxmlformats.org/officeDocument/2006/relationships/image" Target="../media/image24.png"/><Relationship Id="rId37" Type="http://schemas.openxmlformats.org/officeDocument/2006/relationships/tags" Target="../tags/tag314.xml"/><Relationship Id="rId36" Type="http://schemas.openxmlformats.org/officeDocument/2006/relationships/tags" Target="../tags/tag313.xml"/><Relationship Id="rId35" Type="http://schemas.openxmlformats.org/officeDocument/2006/relationships/tags" Target="../tags/tag312.xml"/><Relationship Id="rId34" Type="http://schemas.openxmlformats.org/officeDocument/2006/relationships/tags" Target="../tags/tag311.xml"/><Relationship Id="rId33" Type="http://schemas.openxmlformats.org/officeDocument/2006/relationships/tags" Target="../tags/tag310.xml"/><Relationship Id="rId32" Type="http://schemas.openxmlformats.org/officeDocument/2006/relationships/tags" Target="../tags/tag309.xml"/><Relationship Id="rId31" Type="http://schemas.openxmlformats.org/officeDocument/2006/relationships/tags" Target="../tags/tag308.xml"/><Relationship Id="rId30" Type="http://schemas.openxmlformats.org/officeDocument/2006/relationships/image" Target="../media/image6.png"/><Relationship Id="rId3" Type="http://schemas.openxmlformats.org/officeDocument/2006/relationships/tags" Target="../tags/tag284.xml"/><Relationship Id="rId29" Type="http://schemas.openxmlformats.org/officeDocument/2006/relationships/tags" Target="../tags/tag307.xml"/><Relationship Id="rId28" Type="http://schemas.openxmlformats.org/officeDocument/2006/relationships/tags" Target="../tags/tag306.xml"/><Relationship Id="rId27" Type="http://schemas.openxmlformats.org/officeDocument/2006/relationships/tags" Target="../tags/tag305.xml"/><Relationship Id="rId26" Type="http://schemas.openxmlformats.org/officeDocument/2006/relationships/tags" Target="../tags/tag304.xml"/><Relationship Id="rId25" Type="http://schemas.openxmlformats.org/officeDocument/2006/relationships/tags" Target="../tags/tag303.xml"/><Relationship Id="rId24" Type="http://schemas.openxmlformats.org/officeDocument/2006/relationships/tags" Target="../tags/tag302.xml"/><Relationship Id="rId23" Type="http://schemas.openxmlformats.org/officeDocument/2006/relationships/tags" Target="../tags/tag301.xml"/><Relationship Id="rId22" Type="http://schemas.openxmlformats.org/officeDocument/2006/relationships/image" Target="../media/image20.png"/><Relationship Id="rId21" Type="http://schemas.openxmlformats.org/officeDocument/2006/relationships/tags" Target="../tags/tag300.xml"/><Relationship Id="rId20" Type="http://schemas.openxmlformats.org/officeDocument/2006/relationships/tags" Target="../tags/tag299.xml"/><Relationship Id="rId2" Type="http://schemas.openxmlformats.org/officeDocument/2006/relationships/tags" Target="../tags/tag283.xml"/><Relationship Id="rId19" Type="http://schemas.openxmlformats.org/officeDocument/2006/relationships/tags" Target="../tags/tag298.xml"/><Relationship Id="rId18" Type="http://schemas.openxmlformats.org/officeDocument/2006/relationships/tags" Target="../tags/tag297.xml"/><Relationship Id="rId17" Type="http://schemas.openxmlformats.org/officeDocument/2006/relationships/tags" Target="../tags/tag296.xml"/><Relationship Id="rId16" Type="http://schemas.openxmlformats.org/officeDocument/2006/relationships/tags" Target="../tags/tag295.xml"/><Relationship Id="rId15" Type="http://schemas.openxmlformats.org/officeDocument/2006/relationships/tags" Target="../tags/tag294.xml"/><Relationship Id="rId14" Type="http://schemas.openxmlformats.org/officeDocument/2006/relationships/image" Target="../media/image34.png"/><Relationship Id="rId13" Type="http://schemas.openxmlformats.org/officeDocument/2006/relationships/tags" Target="../tags/tag29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9" Type="http://schemas.openxmlformats.org/officeDocument/2006/relationships/tags" Target="../tags/tag331.xml"/><Relationship Id="rId8" Type="http://schemas.openxmlformats.org/officeDocument/2006/relationships/tags" Target="../tags/tag330.xml"/><Relationship Id="rId7" Type="http://schemas.openxmlformats.org/officeDocument/2006/relationships/tags" Target="../tags/tag329.xml"/><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image" Target="../media/image25.png"/><Relationship Id="rId16" Type="http://schemas.openxmlformats.org/officeDocument/2006/relationships/notesSlide" Target="../notesSlides/notesSlide30.xml"/><Relationship Id="rId15" Type="http://schemas.openxmlformats.org/officeDocument/2006/relationships/slideLayout" Target="../slideLayouts/slideLayout1.xml"/><Relationship Id="rId14" Type="http://schemas.openxmlformats.org/officeDocument/2006/relationships/tags" Target="../tags/tag336.xml"/><Relationship Id="rId13" Type="http://schemas.openxmlformats.org/officeDocument/2006/relationships/tags" Target="../tags/tag335.xml"/><Relationship Id="rId12" Type="http://schemas.openxmlformats.org/officeDocument/2006/relationships/tags" Target="../tags/tag334.xml"/><Relationship Id="rId11" Type="http://schemas.openxmlformats.org/officeDocument/2006/relationships/tags" Target="../tags/tag333.xml"/><Relationship Id="rId10" Type="http://schemas.openxmlformats.org/officeDocument/2006/relationships/tags" Target="../tags/tag332.xml"/><Relationship Id="rId1" Type="http://schemas.openxmlformats.org/officeDocument/2006/relationships/chart" Target="../charts/chart7.xml"/></Relationships>
</file>

<file path=ppt/slides/_rels/slide31.xml.rels><?xml version="1.0" encoding="UTF-8" standalone="yes"?>
<Relationships xmlns="http://schemas.openxmlformats.org/package/2006/relationships"><Relationship Id="rId9" Type="http://schemas.openxmlformats.org/officeDocument/2006/relationships/tags" Target="../tags/tag342.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image" Target="../media/image21.png"/><Relationship Id="rId2" Type="http://schemas.openxmlformats.org/officeDocument/2006/relationships/image" Target="../media/image14.png"/><Relationship Id="rId17" Type="http://schemas.openxmlformats.org/officeDocument/2006/relationships/notesSlide" Target="../notesSlides/notesSlide31.xml"/><Relationship Id="rId16" Type="http://schemas.openxmlformats.org/officeDocument/2006/relationships/slideLayout" Target="../slideLayouts/slideLayout1.xml"/><Relationship Id="rId15" Type="http://schemas.openxmlformats.org/officeDocument/2006/relationships/tags" Target="../tags/tag348.xml"/><Relationship Id="rId14" Type="http://schemas.openxmlformats.org/officeDocument/2006/relationships/tags" Target="../tags/tag347.xml"/><Relationship Id="rId13" Type="http://schemas.openxmlformats.org/officeDocument/2006/relationships/tags" Target="../tags/tag346.xml"/><Relationship Id="rId12" Type="http://schemas.openxmlformats.org/officeDocument/2006/relationships/tags" Target="../tags/tag345.xml"/><Relationship Id="rId11" Type="http://schemas.openxmlformats.org/officeDocument/2006/relationships/tags" Target="../tags/tag344.xml"/><Relationship Id="rId10" Type="http://schemas.openxmlformats.org/officeDocument/2006/relationships/tags" Target="../tags/tag343.xml"/><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4326C"/>
          </a:solidFill>
        </p:spPr>
      </p:sp>
      <p:sp>
        <p:nvSpPr>
          <p:cNvPr id="3" name="Shape 1"/>
          <p:cNvSpPr/>
          <p:nvPr/>
        </p:nvSpPr>
        <p:spPr>
          <a:xfrm>
            <a:off x="0" y="1078992"/>
            <a:ext cx="12191695" cy="50292"/>
          </a:xfrm>
          <a:prstGeom prst="rect">
            <a:avLst/>
          </a:prstGeom>
          <a:solidFill>
            <a:srgbClr val="4472C4"/>
          </a:solidFill>
        </p:spPr>
      </p:sp>
      <p:sp>
        <p:nvSpPr>
          <p:cNvPr id="4" name="Text 2"/>
          <p:cNvSpPr/>
          <p:nvPr/>
        </p:nvSpPr>
        <p:spPr>
          <a:xfrm>
            <a:off x="0" y="328676"/>
            <a:ext cx="12191695" cy="420624"/>
          </a:xfrm>
          <a:prstGeom prst="rect">
            <a:avLst/>
          </a:prstGeom>
          <a:noFill/>
        </p:spPr>
        <p:txBody>
          <a:bodyPr wrap="square" lIns="0" tIns="0" rIns="0" bIns="0" rtlCol="0" anchor="ctr"/>
          <a:lstStyle/>
          <a:p>
            <a:pPr marL="0" indent="0" algn="ctr">
              <a:buNone/>
            </a:pPr>
            <a:r>
              <a:rPr lang="en-US" sz="2000" b="1" kern="0"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2026 英特尔杯大学生电子设计竞赛 · 嵌入式系统专题邀请赛</a:t>
            </a:r>
            <a:endParaRPr lang="en-US" sz="2000" b="1" kern="0"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5"/>
          <p:cNvSpPr/>
          <p:nvPr/>
        </p:nvSpPr>
        <p:spPr>
          <a:xfrm>
            <a:off x="0" y="1874520"/>
            <a:ext cx="12191695" cy="914400"/>
          </a:xfrm>
          <a:prstGeom prst="rect">
            <a:avLst/>
          </a:prstGeom>
          <a:noFill/>
        </p:spPr>
        <p:txBody>
          <a:bodyPr wrap="square" lIns="0" tIns="0" rIns="0" bIns="0" rtlCol="0" anchor="ctr"/>
          <a:lstStyle/>
          <a:p>
            <a:pPr marL="0" indent="0" algn="ctr">
              <a:buNone/>
            </a:pPr>
            <a:r>
              <a:rPr lang="en-US" sz="6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6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Text 6"/>
          <p:cNvSpPr/>
          <p:nvPr/>
        </p:nvSpPr>
        <p:spPr>
          <a:xfrm>
            <a:off x="0" y="2852928"/>
            <a:ext cx="12191695" cy="640080"/>
          </a:xfrm>
          <a:prstGeom prst="rect">
            <a:avLst/>
          </a:prstGeom>
          <a:noFill/>
        </p:spPr>
        <p:txBody>
          <a:bodyPr wrap="square" lIns="0" tIns="0" rIns="0" bIns="0" rtlCol="0" anchor="ctr"/>
          <a:lstStyle/>
          <a:p>
            <a:pPr marL="0" indent="0" algn="ctr">
              <a:buNone/>
            </a:pPr>
            <a:r>
              <a:rPr lang="en-US" sz="3200" b="1" dirty="0">
                <a:solidFill>
                  <a:srgbClr val="23457E"/>
                </a:solidFill>
                <a:latin typeface="微软雅黑" panose="020B0503020204020204" pitchFamily="34" charset="-122"/>
                <a:ea typeface="微软雅黑" panose="020B0503020204020204" pitchFamily="34" charset="-122"/>
                <a:cs typeface="微软雅黑" panose="020B0503020204020204" pitchFamily="34" charset="-120"/>
              </a:rPr>
              <a:t>面向噪声感知输入的神经—符号解耦边缘电路实验诊断系统</a:t>
            </a:r>
            <a:endParaRPr lang="en-US" sz="3200" b="1" dirty="0">
              <a:solidFill>
                <a:srgbClr val="23457E"/>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Text 11"/>
          <p:cNvSpPr/>
          <p:nvPr/>
        </p:nvSpPr>
        <p:spPr>
          <a:xfrm>
            <a:off x="0" y="4526280"/>
            <a:ext cx="12191695" cy="347472"/>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参赛队伍：</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____________________</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2"/>
          <p:cNvSpPr/>
          <p:nvPr/>
        </p:nvSpPr>
        <p:spPr>
          <a:xfrm>
            <a:off x="0" y="4928616"/>
            <a:ext cx="12191695" cy="347472"/>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指导教师：</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____________________</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3"/>
          <p:cNvSpPr/>
          <p:nvPr/>
        </p:nvSpPr>
        <p:spPr>
          <a:xfrm>
            <a:off x="0" y="5330952"/>
            <a:ext cx="12191695" cy="347472"/>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参赛单位：</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____________________</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4"/>
          <p:cNvSpPr/>
          <p:nvPr/>
        </p:nvSpPr>
        <p:spPr>
          <a:xfrm>
            <a:off x="0" y="6190488"/>
            <a:ext cx="12191695" cy="310896"/>
          </a:xfrm>
          <a:prstGeom prst="rect">
            <a:avLst/>
          </a:prstGeom>
          <a:noFill/>
        </p:spPr>
        <p:txBody>
          <a:bodyPr wrap="square" lIns="0" tIns="0" rIns="0" bIns="0" rtlCol="0" anchor="ctr"/>
          <a:lstStyle/>
          <a:p>
            <a:pPr marL="0" indent="0" algn="ctr">
              <a:buNone/>
            </a:pPr>
            <a:r>
              <a:rPr 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2026.06</a:t>
            </a:r>
            <a:endParaRPr 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Text 2"/>
          <p:cNvSpPr/>
          <p:nvPr/>
        </p:nvSpPr>
        <p:spPr>
          <a:xfrm>
            <a:off x="548640"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CONTENTS</a:t>
            </a:r>
            <a:endParaRPr lang="en-US" sz="1100" dirty="0"/>
          </a:p>
        </p:txBody>
      </p:sp>
      <p:sp>
        <p:nvSpPr>
          <p:cNvPr id="5" name="Text 3"/>
          <p:cNvSpPr/>
          <p:nvPr/>
        </p:nvSpPr>
        <p:spPr>
          <a:xfrm>
            <a:off x="548640"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Text 4"/>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 name="Shape 5"/>
          <p:cNvSpPr/>
          <p:nvPr/>
        </p:nvSpPr>
        <p:spPr>
          <a:xfrm>
            <a:off x="11094415" y="274320"/>
            <a:ext cx="512064" cy="512064"/>
          </a:xfrm>
          <a:prstGeom prst="roundRect">
            <a:avLst>
              <a:gd name="adj" fmla="val 21429"/>
            </a:avLst>
          </a:prstGeom>
          <a:solidFill>
            <a:srgbClr val="5B9BD5"/>
          </a:solidFill>
        </p:spPr>
      </p:sp>
      <p:pic>
        <p:nvPicPr>
          <p:cNvPr id="8"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9" name="Shape 6"/>
          <p:cNvSpPr/>
          <p:nvPr>
            <p:custDataLst>
              <p:tags r:id="rId2"/>
            </p:custDataLst>
          </p:nvPr>
        </p:nvSpPr>
        <p:spPr>
          <a:xfrm>
            <a:off x="548640" y="1508760"/>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0" name="Shape 7"/>
          <p:cNvSpPr/>
          <p:nvPr>
            <p:custDataLst>
              <p:tags r:id="rId3"/>
            </p:custDataLst>
          </p:nvPr>
        </p:nvSpPr>
        <p:spPr>
          <a:xfrm>
            <a:off x="548640" y="1508760"/>
            <a:ext cx="73152" cy="969264"/>
          </a:xfrm>
          <a:prstGeom prst="rect">
            <a:avLst/>
          </a:prstGeom>
          <a:solidFill>
            <a:srgbClr val="5B9BD5"/>
          </a:solidFill>
        </p:spPr>
      </p:sp>
      <p:sp>
        <p:nvSpPr>
          <p:cNvPr id="11" name="Text 8"/>
          <p:cNvSpPr/>
          <p:nvPr>
            <p:custDataLst>
              <p:tags r:id="rId4"/>
            </p:custDataLst>
          </p:nvPr>
        </p:nvSpPr>
        <p:spPr>
          <a:xfrm>
            <a:off x="713232" y="1600200"/>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custDataLst>
              <p:tags r:id="rId5"/>
            </p:custDataLst>
          </p:nvPr>
        </p:nvSpPr>
        <p:spPr>
          <a:xfrm>
            <a:off x="1417320" y="1783080"/>
            <a:ext cx="420624" cy="420624"/>
          </a:xfrm>
          <a:prstGeom prst="roundRect">
            <a:avLst>
              <a:gd name="adj" fmla="val 22000"/>
            </a:avLst>
          </a:prstGeom>
          <a:solidFill>
            <a:schemeClr val="accent1">
              <a:lumMod val="40000"/>
              <a:lumOff val="60000"/>
            </a:schemeClr>
          </a:solidFill>
        </p:spPr>
      </p:sp>
      <p:pic>
        <p:nvPicPr>
          <p:cNvPr id="13" name="Image 1" descr="preencoded.png"/>
          <p:cNvPicPr>
            <a:picLocks noChangeAspect="1"/>
          </p:cNvPicPr>
          <p:nvPr>
            <p:custDataLst>
              <p:tags r:id="rId6"/>
            </p:custDataLst>
          </p:nvPr>
        </p:nvPicPr>
        <p:blipFill>
          <a:blip r:embed="rId7"/>
          <a:stretch>
            <a:fillRect/>
          </a:stretch>
        </p:blipFill>
        <p:spPr>
          <a:xfrm>
            <a:off x="1526682" y="1892442"/>
            <a:ext cx="201900" cy="201900"/>
          </a:xfrm>
          <a:prstGeom prst="rect">
            <a:avLst/>
          </a:prstGeom>
        </p:spPr>
      </p:pic>
      <p:sp>
        <p:nvSpPr>
          <p:cNvPr id="14" name="Text 10"/>
          <p:cNvSpPr/>
          <p:nvPr>
            <p:custDataLst>
              <p:tags r:id="rId8"/>
            </p:custDataLst>
          </p:nvPr>
        </p:nvSpPr>
        <p:spPr>
          <a:xfrm>
            <a:off x="1965960" y="1655064"/>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绪论</a:t>
            </a:r>
            <a:endParaRPr lang="en-US" sz="1500" dirty="0"/>
          </a:p>
        </p:txBody>
      </p:sp>
      <p:sp>
        <p:nvSpPr>
          <p:cNvPr id="15" name="Text 11"/>
          <p:cNvSpPr/>
          <p:nvPr>
            <p:custDataLst>
              <p:tags r:id="rId9"/>
            </p:custDataLst>
          </p:nvPr>
        </p:nvSpPr>
        <p:spPr>
          <a:xfrm>
            <a:off x="1965960" y="2020824"/>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教学痛点 · 技术路线局限 · 本文工作</a:t>
            </a:r>
            <a:endParaRPr lang="en-US" sz="1050" dirty="0"/>
          </a:p>
        </p:txBody>
      </p:sp>
      <p:sp>
        <p:nvSpPr>
          <p:cNvPr id="16" name="Shape 12"/>
          <p:cNvSpPr/>
          <p:nvPr>
            <p:custDataLst>
              <p:tags r:id="rId10"/>
            </p:custDataLst>
          </p:nvPr>
        </p:nvSpPr>
        <p:spPr>
          <a:xfrm>
            <a:off x="6217920" y="1508760"/>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7" name="Shape 13"/>
          <p:cNvSpPr/>
          <p:nvPr>
            <p:custDataLst>
              <p:tags r:id="rId11"/>
            </p:custDataLst>
          </p:nvPr>
        </p:nvSpPr>
        <p:spPr>
          <a:xfrm>
            <a:off x="6217920" y="1508760"/>
            <a:ext cx="73152" cy="969264"/>
          </a:xfrm>
          <a:prstGeom prst="rect">
            <a:avLst/>
          </a:prstGeom>
          <a:solidFill>
            <a:srgbClr val="5B9BD5"/>
          </a:solidFill>
        </p:spPr>
      </p:sp>
      <p:sp>
        <p:nvSpPr>
          <p:cNvPr id="18" name="Text 14"/>
          <p:cNvSpPr/>
          <p:nvPr>
            <p:custDataLst>
              <p:tags r:id="rId12"/>
            </p:custDataLst>
          </p:nvPr>
        </p:nvSpPr>
        <p:spPr>
          <a:xfrm>
            <a:off x="6382512" y="1600200"/>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5"/>
          <p:cNvSpPr/>
          <p:nvPr>
            <p:custDataLst>
              <p:tags r:id="rId13"/>
            </p:custDataLst>
          </p:nvPr>
        </p:nvSpPr>
        <p:spPr>
          <a:xfrm>
            <a:off x="7086600" y="1783080"/>
            <a:ext cx="420624" cy="420624"/>
          </a:xfrm>
          <a:prstGeom prst="roundRect">
            <a:avLst>
              <a:gd name="adj" fmla="val 22000"/>
            </a:avLst>
          </a:prstGeom>
          <a:solidFill>
            <a:schemeClr val="accent1">
              <a:lumMod val="40000"/>
              <a:lumOff val="60000"/>
            </a:schemeClr>
          </a:solidFill>
        </p:spPr>
      </p:sp>
      <p:pic>
        <p:nvPicPr>
          <p:cNvPr id="20" name="Image 2" descr="preencoded.png"/>
          <p:cNvPicPr>
            <a:picLocks noChangeAspect="1"/>
          </p:cNvPicPr>
          <p:nvPr>
            <p:custDataLst>
              <p:tags r:id="rId14"/>
            </p:custDataLst>
          </p:nvPr>
        </p:nvPicPr>
        <p:blipFill>
          <a:blip r:embed="rId15"/>
          <a:stretch>
            <a:fillRect/>
          </a:stretch>
        </p:blipFill>
        <p:spPr>
          <a:xfrm>
            <a:off x="7195962" y="1892442"/>
            <a:ext cx="201900" cy="201900"/>
          </a:xfrm>
          <a:prstGeom prst="rect">
            <a:avLst/>
          </a:prstGeom>
        </p:spPr>
      </p:pic>
      <p:sp>
        <p:nvSpPr>
          <p:cNvPr id="21" name="Text 16"/>
          <p:cNvSpPr/>
          <p:nvPr>
            <p:custDataLst>
              <p:tags r:id="rId16"/>
            </p:custDataLst>
          </p:nvPr>
        </p:nvSpPr>
        <p:spPr>
          <a:xfrm>
            <a:off x="7635240" y="1655064"/>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系统方案与总体设计</a:t>
            </a:r>
            <a:endParaRPr lang="en-US" sz="1500" dirty="0"/>
          </a:p>
        </p:txBody>
      </p:sp>
      <p:sp>
        <p:nvSpPr>
          <p:cNvPr id="22" name="Text 17"/>
          <p:cNvSpPr/>
          <p:nvPr>
            <p:custDataLst>
              <p:tags r:id="rId17"/>
            </p:custDataLst>
          </p:nvPr>
        </p:nvSpPr>
        <p:spPr>
          <a:xfrm>
            <a:off x="7635240" y="2020824"/>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项目定位 · 三链路创新 · 六层架构</a:t>
            </a:r>
            <a:endParaRPr lang="en-US" sz="1050" dirty="0"/>
          </a:p>
        </p:txBody>
      </p:sp>
      <p:sp>
        <p:nvSpPr>
          <p:cNvPr id="23" name="Shape 18"/>
          <p:cNvSpPr/>
          <p:nvPr>
            <p:custDataLst>
              <p:tags r:id="rId18"/>
            </p:custDataLst>
          </p:nvPr>
        </p:nvSpPr>
        <p:spPr>
          <a:xfrm>
            <a:off x="548640" y="2679192"/>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4" name="Shape 19"/>
          <p:cNvSpPr/>
          <p:nvPr>
            <p:custDataLst>
              <p:tags r:id="rId19"/>
            </p:custDataLst>
          </p:nvPr>
        </p:nvSpPr>
        <p:spPr>
          <a:xfrm>
            <a:off x="548640" y="2679192"/>
            <a:ext cx="73152" cy="969264"/>
          </a:xfrm>
          <a:prstGeom prst="rect">
            <a:avLst/>
          </a:prstGeom>
          <a:solidFill>
            <a:srgbClr val="5B9BD5"/>
          </a:solidFill>
        </p:spPr>
      </p:sp>
      <p:sp>
        <p:nvSpPr>
          <p:cNvPr id="25" name="Text 20"/>
          <p:cNvSpPr/>
          <p:nvPr>
            <p:custDataLst>
              <p:tags r:id="rId20"/>
            </p:custDataLst>
          </p:nvPr>
        </p:nvSpPr>
        <p:spPr>
          <a:xfrm>
            <a:off x="713232" y="2770632"/>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1"/>
          <p:cNvSpPr/>
          <p:nvPr>
            <p:custDataLst>
              <p:tags r:id="rId21"/>
            </p:custDataLst>
          </p:nvPr>
        </p:nvSpPr>
        <p:spPr>
          <a:xfrm>
            <a:off x="1417320" y="2953512"/>
            <a:ext cx="420624" cy="420624"/>
          </a:xfrm>
          <a:prstGeom prst="roundRect">
            <a:avLst>
              <a:gd name="adj" fmla="val 22000"/>
            </a:avLst>
          </a:prstGeom>
          <a:solidFill>
            <a:schemeClr val="accent1">
              <a:lumMod val="40000"/>
              <a:lumOff val="60000"/>
            </a:schemeClr>
          </a:solidFill>
        </p:spPr>
      </p:sp>
      <p:pic>
        <p:nvPicPr>
          <p:cNvPr id="27" name="Image 3" descr="preencoded.png"/>
          <p:cNvPicPr>
            <a:picLocks noChangeAspect="1"/>
          </p:cNvPicPr>
          <p:nvPr>
            <p:custDataLst>
              <p:tags r:id="rId22"/>
            </p:custDataLst>
          </p:nvPr>
        </p:nvPicPr>
        <p:blipFill>
          <a:blip r:embed="rId23"/>
          <a:stretch>
            <a:fillRect/>
          </a:stretch>
        </p:blipFill>
        <p:spPr>
          <a:xfrm>
            <a:off x="1526682" y="3062874"/>
            <a:ext cx="201900" cy="201900"/>
          </a:xfrm>
          <a:prstGeom prst="rect">
            <a:avLst/>
          </a:prstGeom>
        </p:spPr>
      </p:pic>
      <p:sp>
        <p:nvSpPr>
          <p:cNvPr id="28" name="Text 22"/>
          <p:cNvSpPr/>
          <p:nvPr>
            <p:custDataLst>
              <p:tags r:id="rId24"/>
            </p:custDataLst>
          </p:nvPr>
        </p:nvSpPr>
        <p:spPr>
          <a:xfrm>
            <a:off x="1965960" y="2825496"/>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视觉感知与拓扑重构</a:t>
            </a:r>
            <a:endParaRPr lang="en-US" sz="1500" dirty="0"/>
          </a:p>
        </p:txBody>
      </p:sp>
      <p:sp>
        <p:nvSpPr>
          <p:cNvPr id="29" name="Text 23"/>
          <p:cNvSpPr/>
          <p:nvPr>
            <p:custDataLst>
              <p:tags r:id="rId25"/>
            </p:custDataLst>
          </p:nvPr>
        </p:nvSpPr>
        <p:spPr>
          <a:xfrm>
            <a:off x="1965960" y="3191256"/>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自建数据集 · 引脚检测 · 孔位映射</a:t>
            </a:r>
            <a:endParaRPr lang="en-US" sz="1050" dirty="0"/>
          </a:p>
        </p:txBody>
      </p:sp>
      <p:sp>
        <p:nvSpPr>
          <p:cNvPr id="30" name="Shape 24"/>
          <p:cNvSpPr/>
          <p:nvPr>
            <p:custDataLst>
              <p:tags r:id="rId26"/>
            </p:custDataLst>
          </p:nvPr>
        </p:nvSpPr>
        <p:spPr>
          <a:xfrm>
            <a:off x="6217920" y="2679192"/>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1" name="Shape 25"/>
          <p:cNvSpPr/>
          <p:nvPr>
            <p:custDataLst>
              <p:tags r:id="rId27"/>
            </p:custDataLst>
          </p:nvPr>
        </p:nvSpPr>
        <p:spPr>
          <a:xfrm>
            <a:off x="6217920" y="2679192"/>
            <a:ext cx="73152" cy="969264"/>
          </a:xfrm>
          <a:prstGeom prst="rect">
            <a:avLst/>
          </a:prstGeom>
          <a:solidFill>
            <a:srgbClr val="5B9BD5"/>
          </a:solidFill>
        </p:spPr>
      </p:sp>
      <p:sp>
        <p:nvSpPr>
          <p:cNvPr id="32" name="Text 26"/>
          <p:cNvSpPr/>
          <p:nvPr>
            <p:custDataLst>
              <p:tags r:id="rId28"/>
            </p:custDataLst>
          </p:nvPr>
        </p:nvSpPr>
        <p:spPr>
          <a:xfrm>
            <a:off x="6382512" y="2770632"/>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Shape 27"/>
          <p:cNvSpPr/>
          <p:nvPr>
            <p:custDataLst>
              <p:tags r:id="rId29"/>
            </p:custDataLst>
          </p:nvPr>
        </p:nvSpPr>
        <p:spPr>
          <a:xfrm>
            <a:off x="7086600" y="2953512"/>
            <a:ext cx="420624" cy="420624"/>
          </a:xfrm>
          <a:prstGeom prst="roundRect">
            <a:avLst>
              <a:gd name="adj" fmla="val 22000"/>
            </a:avLst>
          </a:prstGeom>
          <a:solidFill>
            <a:schemeClr val="accent1">
              <a:lumMod val="40000"/>
              <a:lumOff val="60000"/>
            </a:schemeClr>
          </a:solidFill>
        </p:spPr>
      </p:sp>
      <p:pic>
        <p:nvPicPr>
          <p:cNvPr id="34" name="Image 4" descr="preencoded.png"/>
          <p:cNvPicPr>
            <a:picLocks noChangeAspect="1"/>
          </p:cNvPicPr>
          <p:nvPr>
            <p:custDataLst>
              <p:tags r:id="rId30"/>
            </p:custDataLst>
          </p:nvPr>
        </p:nvPicPr>
        <p:blipFill>
          <a:blip r:embed="rId31"/>
          <a:stretch>
            <a:fillRect/>
          </a:stretch>
        </p:blipFill>
        <p:spPr>
          <a:xfrm>
            <a:off x="7195962" y="3062874"/>
            <a:ext cx="201900" cy="201900"/>
          </a:xfrm>
          <a:prstGeom prst="rect">
            <a:avLst/>
          </a:prstGeom>
        </p:spPr>
      </p:pic>
      <p:sp>
        <p:nvSpPr>
          <p:cNvPr id="35" name="Text 28"/>
          <p:cNvSpPr/>
          <p:nvPr>
            <p:custDataLst>
              <p:tags r:id="rId32"/>
            </p:custDataLst>
          </p:nvPr>
        </p:nvSpPr>
        <p:spPr>
          <a:xfrm>
            <a:off x="7635240" y="2825496"/>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电气重构与符号诊断引擎</a:t>
            </a:r>
            <a:endParaRPr lang="en-US" sz="1500" dirty="0"/>
          </a:p>
        </p:txBody>
      </p:sp>
      <p:sp>
        <p:nvSpPr>
          <p:cNvPr id="36" name="Text 29"/>
          <p:cNvSpPr/>
          <p:nvPr>
            <p:custDataLst>
              <p:tags r:id="rId33"/>
            </p:custDataLst>
          </p:nvPr>
        </p:nvSpPr>
        <p:spPr>
          <a:xfrm>
            <a:off x="7635240" y="3191256"/>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结构化网表 · DSL · 确定性图比对</a:t>
            </a:r>
            <a:endParaRPr lang="en-US" sz="1050" dirty="0"/>
          </a:p>
        </p:txBody>
      </p:sp>
      <p:sp>
        <p:nvSpPr>
          <p:cNvPr id="37" name="Shape 30"/>
          <p:cNvSpPr/>
          <p:nvPr>
            <p:custDataLst>
              <p:tags r:id="rId34"/>
            </p:custDataLst>
          </p:nvPr>
        </p:nvSpPr>
        <p:spPr>
          <a:xfrm>
            <a:off x="548640" y="3849624"/>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8" name="Shape 31"/>
          <p:cNvSpPr/>
          <p:nvPr>
            <p:custDataLst>
              <p:tags r:id="rId35"/>
            </p:custDataLst>
          </p:nvPr>
        </p:nvSpPr>
        <p:spPr>
          <a:xfrm>
            <a:off x="548640" y="3849624"/>
            <a:ext cx="73152" cy="969264"/>
          </a:xfrm>
          <a:prstGeom prst="rect">
            <a:avLst/>
          </a:prstGeom>
          <a:solidFill>
            <a:srgbClr val="5B9BD5"/>
          </a:solidFill>
        </p:spPr>
      </p:sp>
      <p:sp>
        <p:nvSpPr>
          <p:cNvPr id="39" name="Text 32"/>
          <p:cNvSpPr/>
          <p:nvPr>
            <p:custDataLst>
              <p:tags r:id="rId36"/>
            </p:custDataLst>
          </p:nvPr>
        </p:nvSpPr>
        <p:spPr>
          <a:xfrm>
            <a:off x="713232" y="3941064"/>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Shape 33"/>
          <p:cNvSpPr/>
          <p:nvPr>
            <p:custDataLst>
              <p:tags r:id="rId37"/>
            </p:custDataLst>
          </p:nvPr>
        </p:nvSpPr>
        <p:spPr>
          <a:xfrm>
            <a:off x="1417320" y="4123944"/>
            <a:ext cx="420624" cy="420624"/>
          </a:xfrm>
          <a:prstGeom prst="roundRect">
            <a:avLst>
              <a:gd name="adj" fmla="val 22000"/>
            </a:avLst>
          </a:prstGeom>
          <a:solidFill>
            <a:schemeClr val="accent1">
              <a:lumMod val="40000"/>
              <a:lumOff val="60000"/>
            </a:schemeClr>
          </a:solidFill>
        </p:spPr>
      </p:sp>
      <p:pic>
        <p:nvPicPr>
          <p:cNvPr id="41" name="Image 5" descr="preencoded.png"/>
          <p:cNvPicPr>
            <a:picLocks noChangeAspect="1"/>
          </p:cNvPicPr>
          <p:nvPr>
            <p:custDataLst>
              <p:tags r:id="rId38"/>
            </p:custDataLst>
          </p:nvPr>
        </p:nvPicPr>
        <p:blipFill>
          <a:blip r:embed="rId39"/>
          <a:stretch>
            <a:fillRect/>
          </a:stretch>
        </p:blipFill>
        <p:spPr>
          <a:xfrm>
            <a:off x="1526682" y="4233306"/>
            <a:ext cx="201900" cy="201900"/>
          </a:xfrm>
          <a:prstGeom prst="rect">
            <a:avLst/>
          </a:prstGeom>
        </p:spPr>
      </p:pic>
      <p:sp>
        <p:nvSpPr>
          <p:cNvPr id="42" name="Text 34"/>
          <p:cNvSpPr/>
          <p:nvPr>
            <p:custDataLst>
              <p:tags r:id="rId40"/>
            </p:custDataLst>
          </p:nvPr>
        </p:nvSpPr>
        <p:spPr>
          <a:xfrm>
            <a:off x="1965960" y="3995928"/>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智能解释与人机协同</a:t>
            </a:r>
            <a:endParaRPr lang="en-US" sz="1500" dirty="0"/>
          </a:p>
        </p:txBody>
      </p:sp>
      <p:sp>
        <p:nvSpPr>
          <p:cNvPr id="43" name="Text 35"/>
          <p:cNvSpPr/>
          <p:nvPr>
            <p:custDataLst>
              <p:tags r:id="rId41"/>
            </p:custDataLst>
          </p:nvPr>
        </p:nvSpPr>
        <p:spPr>
          <a:xfrm>
            <a:off x="1965960" y="4361688"/>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诊断智能体 · 检索契约 · 修正闭环</a:t>
            </a:r>
            <a:endParaRPr lang="en-US" sz="1050" dirty="0"/>
          </a:p>
        </p:txBody>
      </p:sp>
      <p:sp>
        <p:nvSpPr>
          <p:cNvPr id="44" name="Shape 36"/>
          <p:cNvSpPr/>
          <p:nvPr>
            <p:custDataLst>
              <p:tags r:id="rId42"/>
            </p:custDataLst>
          </p:nvPr>
        </p:nvSpPr>
        <p:spPr>
          <a:xfrm>
            <a:off x="6217920" y="3849624"/>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45" name="Shape 37"/>
          <p:cNvSpPr/>
          <p:nvPr>
            <p:custDataLst>
              <p:tags r:id="rId43"/>
            </p:custDataLst>
          </p:nvPr>
        </p:nvSpPr>
        <p:spPr>
          <a:xfrm>
            <a:off x="6217920" y="3849624"/>
            <a:ext cx="73152" cy="969264"/>
          </a:xfrm>
          <a:prstGeom prst="rect">
            <a:avLst/>
          </a:prstGeom>
          <a:solidFill>
            <a:srgbClr val="5B9BD5"/>
          </a:solidFill>
        </p:spPr>
      </p:sp>
      <p:sp>
        <p:nvSpPr>
          <p:cNvPr id="46" name="Text 38"/>
          <p:cNvSpPr/>
          <p:nvPr>
            <p:custDataLst>
              <p:tags r:id="rId44"/>
            </p:custDataLst>
          </p:nvPr>
        </p:nvSpPr>
        <p:spPr>
          <a:xfrm>
            <a:off x="6382512" y="3941064"/>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7" name="Shape 39"/>
          <p:cNvSpPr/>
          <p:nvPr>
            <p:custDataLst>
              <p:tags r:id="rId45"/>
            </p:custDataLst>
          </p:nvPr>
        </p:nvSpPr>
        <p:spPr>
          <a:xfrm>
            <a:off x="7086600" y="4123944"/>
            <a:ext cx="420624" cy="420624"/>
          </a:xfrm>
          <a:prstGeom prst="roundRect">
            <a:avLst>
              <a:gd name="adj" fmla="val 22000"/>
            </a:avLst>
          </a:prstGeom>
          <a:solidFill>
            <a:schemeClr val="accent1">
              <a:lumMod val="40000"/>
              <a:lumOff val="60000"/>
            </a:schemeClr>
          </a:solidFill>
        </p:spPr>
      </p:sp>
      <p:pic>
        <p:nvPicPr>
          <p:cNvPr id="48" name="Image 6" descr="preencoded.png"/>
          <p:cNvPicPr>
            <a:picLocks noChangeAspect="1"/>
          </p:cNvPicPr>
          <p:nvPr>
            <p:custDataLst>
              <p:tags r:id="rId46"/>
            </p:custDataLst>
          </p:nvPr>
        </p:nvPicPr>
        <p:blipFill>
          <a:blip r:embed="rId47"/>
          <a:stretch>
            <a:fillRect/>
          </a:stretch>
        </p:blipFill>
        <p:spPr>
          <a:xfrm>
            <a:off x="7195962" y="4233306"/>
            <a:ext cx="201900" cy="201900"/>
          </a:xfrm>
          <a:prstGeom prst="rect">
            <a:avLst/>
          </a:prstGeom>
        </p:spPr>
      </p:pic>
      <p:sp>
        <p:nvSpPr>
          <p:cNvPr id="49" name="Text 40"/>
          <p:cNvSpPr/>
          <p:nvPr>
            <p:custDataLst>
              <p:tags r:id="rId48"/>
            </p:custDataLst>
          </p:nvPr>
        </p:nvSpPr>
        <p:spPr>
          <a:xfrm>
            <a:off x="7635240" y="3995928"/>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Intel DK-2500 边缘部署</a:t>
            </a:r>
            <a:endParaRPr lang="en-US" sz="1500" dirty="0"/>
          </a:p>
        </p:txBody>
      </p:sp>
      <p:sp>
        <p:nvSpPr>
          <p:cNvPr id="50" name="Text 41"/>
          <p:cNvSpPr/>
          <p:nvPr>
            <p:custDataLst>
              <p:tags r:id="rId49"/>
            </p:custDataLst>
          </p:nvPr>
        </p:nvSpPr>
        <p:spPr>
          <a:xfrm>
            <a:off x="7635240" y="4361688"/>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异构分工 · 性能能效 · 端侧蒸馏</a:t>
            </a:r>
            <a:endParaRPr lang="en-US" sz="1050" dirty="0"/>
          </a:p>
        </p:txBody>
      </p:sp>
      <p:sp>
        <p:nvSpPr>
          <p:cNvPr id="51" name="Shape 42"/>
          <p:cNvSpPr/>
          <p:nvPr>
            <p:custDataLst>
              <p:tags r:id="rId50"/>
            </p:custDataLst>
          </p:nvPr>
        </p:nvSpPr>
        <p:spPr>
          <a:xfrm>
            <a:off x="548640" y="5020056"/>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52" name="Shape 43"/>
          <p:cNvSpPr/>
          <p:nvPr>
            <p:custDataLst>
              <p:tags r:id="rId51"/>
            </p:custDataLst>
          </p:nvPr>
        </p:nvSpPr>
        <p:spPr>
          <a:xfrm>
            <a:off x="548640" y="5020056"/>
            <a:ext cx="73152" cy="969264"/>
          </a:xfrm>
          <a:prstGeom prst="rect">
            <a:avLst/>
          </a:prstGeom>
          <a:solidFill>
            <a:srgbClr val="5B9BD5"/>
          </a:solidFill>
        </p:spPr>
      </p:sp>
      <p:sp>
        <p:nvSpPr>
          <p:cNvPr id="53" name="Text 44"/>
          <p:cNvSpPr/>
          <p:nvPr>
            <p:custDataLst>
              <p:tags r:id="rId52"/>
            </p:custDataLst>
          </p:nvPr>
        </p:nvSpPr>
        <p:spPr>
          <a:xfrm>
            <a:off x="713232" y="5111496"/>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4" name="Shape 45"/>
          <p:cNvSpPr/>
          <p:nvPr>
            <p:custDataLst>
              <p:tags r:id="rId53"/>
            </p:custDataLst>
          </p:nvPr>
        </p:nvSpPr>
        <p:spPr>
          <a:xfrm>
            <a:off x="1417320" y="5294376"/>
            <a:ext cx="420624" cy="420624"/>
          </a:xfrm>
          <a:prstGeom prst="roundRect">
            <a:avLst>
              <a:gd name="adj" fmla="val 22000"/>
            </a:avLst>
          </a:prstGeom>
          <a:solidFill>
            <a:schemeClr val="accent1">
              <a:lumMod val="40000"/>
              <a:lumOff val="60000"/>
            </a:schemeClr>
          </a:solidFill>
        </p:spPr>
      </p:sp>
      <p:pic>
        <p:nvPicPr>
          <p:cNvPr id="55" name="Image 7" descr="preencoded.png"/>
          <p:cNvPicPr>
            <a:picLocks noChangeAspect="1"/>
          </p:cNvPicPr>
          <p:nvPr>
            <p:custDataLst>
              <p:tags r:id="rId54"/>
            </p:custDataLst>
          </p:nvPr>
        </p:nvPicPr>
        <p:blipFill>
          <a:blip r:embed="rId55"/>
          <a:stretch>
            <a:fillRect/>
          </a:stretch>
        </p:blipFill>
        <p:spPr>
          <a:xfrm>
            <a:off x="1526682" y="5403738"/>
            <a:ext cx="201900" cy="201900"/>
          </a:xfrm>
          <a:prstGeom prst="rect">
            <a:avLst/>
          </a:prstGeom>
        </p:spPr>
      </p:pic>
      <p:sp>
        <p:nvSpPr>
          <p:cNvPr id="56" name="Text 46"/>
          <p:cNvSpPr/>
          <p:nvPr>
            <p:custDataLst>
              <p:tags r:id="rId56"/>
            </p:custDataLst>
          </p:nvPr>
        </p:nvSpPr>
        <p:spPr>
          <a:xfrm>
            <a:off x="1965960" y="5166360"/>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实验验证与结果分析</a:t>
            </a:r>
            <a:endParaRPr lang="en-US" sz="1500" dirty="0"/>
          </a:p>
        </p:txBody>
      </p:sp>
      <p:sp>
        <p:nvSpPr>
          <p:cNvPr id="57" name="Text 47"/>
          <p:cNvSpPr/>
          <p:nvPr>
            <p:custDataLst>
              <p:tags r:id="rId57"/>
            </p:custDataLst>
          </p:nvPr>
        </p:nvSpPr>
        <p:spPr>
          <a:xfrm>
            <a:off x="1965960" y="5532120"/>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检索精度 · 三正交消融 · 横向矩阵</a:t>
            </a:r>
            <a:endParaRPr lang="en-US" sz="1050" dirty="0"/>
          </a:p>
        </p:txBody>
      </p:sp>
      <p:sp>
        <p:nvSpPr>
          <p:cNvPr id="58" name="Shape 48"/>
          <p:cNvSpPr/>
          <p:nvPr>
            <p:custDataLst>
              <p:tags r:id="rId58"/>
            </p:custDataLst>
          </p:nvPr>
        </p:nvSpPr>
        <p:spPr>
          <a:xfrm>
            <a:off x="6217920" y="5020056"/>
            <a:ext cx="5349240" cy="969264"/>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59" name="Shape 49"/>
          <p:cNvSpPr/>
          <p:nvPr>
            <p:custDataLst>
              <p:tags r:id="rId59"/>
            </p:custDataLst>
          </p:nvPr>
        </p:nvSpPr>
        <p:spPr>
          <a:xfrm>
            <a:off x="6217920" y="5020056"/>
            <a:ext cx="73152" cy="969264"/>
          </a:xfrm>
          <a:prstGeom prst="rect">
            <a:avLst/>
          </a:prstGeom>
          <a:solidFill>
            <a:srgbClr val="5B9BD5"/>
          </a:solidFill>
        </p:spPr>
      </p:sp>
      <p:sp>
        <p:nvSpPr>
          <p:cNvPr id="60" name="Text 50"/>
          <p:cNvSpPr/>
          <p:nvPr>
            <p:custDataLst>
              <p:tags r:id="rId60"/>
            </p:custDataLst>
          </p:nvPr>
        </p:nvSpPr>
        <p:spPr>
          <a:xfrm>
            <a:off x="6382512" y="5111496"/>
            <a:ext cx="822960" cy="777240"/>
          </a:xfrm>
          <a:prstGeom prst="rect">
            <a:avLst/>
          </a:prstGeom>
          <a:noFill/>
        </p:spPr>
        <p:txBody>
          <a:bodyPr wrap="square" lIns="0" tIns="0" rIns="0" bIns="0" rtlCol="0" anchor="ctr"/>
          <a:lstStyle/>
          <a:p>
            <a:pPr marL="0" indent="0" algn="l">
              <a:buNone/>
            </a:pPr>
            <a:r>
              <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1" name="Shape 51"/>
          <p:cNvSpPr/>
          <p:nvPr>
            <p:custDataLst>
              <p:tags r:id="rId61"/>
            </p:custDataLst>
          </p:nvPr>
        </p:nvSpPr>
        <p:spPr>
          <a:xfrm>
            <a:off x="7086600" y="5294376"/>
            <a:ext cx="420624" cy="420624"/>
          </a:xfrm>
          <a:prstGeom prst="roundRect">
            <a:avLst>
              <a:gd name="adj" fmla="val 22000"/>
            </a:avLst>
          </a:prstGeom>
          <a:solidFill>
            <a:schemeClr val="accent1">
              <a:lumMod val="40000"/>
              <a:lumOff val="60000"/>
            </a:schemeClr>
          </a:solidFill>
        </p:spPr>
      </p:sp>
      <p:pic>
        <p:nvPicPr>
          <p:cNvPr id="62" name="Image 8" descr="preencoded.png"/>
          <p:cNvPicPr>
            <a:picLocks noChangeAspect="1"/>
          </p:cNvPicPr>
          <p:nvPr>
            <p:custDataLst>
              <p:tags r:id="rId62"/>
            </p:custDataLst>
          </p:nvPr>
        </p:nvPicPr>
        <p:blipFill>
          <a:blip r:embed="rId63"/>
          <a:stretch>
            <a:fillRect/>
          </a:stretch>
        </p:blipFill>
        <p:spPr>
          <a:xfrm>
            <a:off x="7195962" y="5403738"/>
            <a:ext cx="201900" cy="201900"/>
          </a:xfrm>
          <a:prstGeom prst="rect">
            <a:avLst/>
          </a:prstGeom>
        </p:spPr>
      </p:pic>
      <p:sp>
        <p:nvSpPr>
          <p:cNvPr id="63" name="Text 52"/>
          <p:cNvSpPr/>
          <p:nvPr>
            <p:custDataLst>
              <p:tags r:id="rId64"/>
            </p:custDataLst>
          </p:nvPr>
        </p:nvSpPr>
        <p:spPr>
          <a:xfrm>
            <a:off x="7635240" y="5166360"/>
            <a:ext cx="3794760" cy="384048"/>
          </a:xfrm>
          <a:prstGeom prst="rect">
            <a:avLst/>
          </a:prstGeom>
          <a:noFill/>
        </p:spPr>
        <p:txBody>
          <a:bodyPr wrap="square" lIns="0" tIns="0" rIns="0" bIns="0" rtlCol="0" anchor="ctr"/>
          <a:lstStyle/>
          <a:p>
            <a:pPr marL="0" indent="0">
              <a:buNone/>
            </a:pPr>
            <a:r>
              <a:rPr lang="en-US" sz="15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结论与展望</a:t>
            </a:r>
            <a:endParaRPr lang="en-US" sz="1500" dirty="0"/>
          </a:p>
        </p:txBody>
      </p:sp>
      <p:sp>
        <p:nvSpPr>
          <p:cNvPr id="64" name="Text 53"/>
          <p:cNvSpPr/>
          <p:nvPr>
            <p:custDataLst>
              <p:tags r:id="rId65"/>
            </p:custDataLst>
          </p:nvPr>
        </p:nvSpPr>
        <p:spPr>
          <a:xfrm>
            <a:off x="7635240" y="5532120"/>
            <a:ext cx="3794760" cy="365760"/>
          </a:xfrm>
          <a:prstGeom prst="rect">
            <a:avLst/>
          </a:prstGeom>
          <a:noFill/>
        </p:spPr>
        <p:txBody>
          <a:bodyPr wrap="square" lIns="0" tIns="0" rIns="0" bIns="0" rtlCol="0" anchor="ctr"/>
          <a:lstStyle/>
          <a:p>
            <a:pPr marL="0" indent="0">
              <a:buNone/>
            </a:pPr>
            <a:r>
              <a:rPr lang="en-US" sz="10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核心贡献 · 局限 · 后续方向</a:t>
            </a:r>
            <a:endParaRPr lang="en-US" sz="1050" dirty="0"/>
          </a:p>
        </p:txBody>
      </p:sp>
      <p:sp>
        <p:nvSpPr>
          <p:cNvPr id="66" name="Text 55"/>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第一章 · 绪论</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教学背景与核心痛点</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398270"/>
            <a:ext cx="5852160" cy="843915"/>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学生需完成三重映射，任一</a:t>
            </a:r>
            <a:r>
              <a:rPr lang="zh-CN" alt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过程出现问题</a:t>
            </a: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都可能使实验停滞</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2529840"/>
            <a:ext cx="5852160" cy="658368"/>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nvSpPr>
        <p:spPr>
          <a:xfrm>
            <a:off x="548640" y="2529840"/>
            <a:ext cx="73152" cy="658368"/>
          </a:xfrm>
          <a:prstGeom prst="rect">
            <a:avLst/>
          </a:prstGeom>
          <a:solidFill>
            <a:srgbClr val="4472C4"/>
          </a:solidFill>
        </p:spPr>
      </p:sp>
      <p:sp>
        <p:nvSpPr>
          <p:cNvPr id="14" name="Text 11"/>
          <p:cNvSpPr/>
          <p:nvPr/>
        </p:nvSpPr>
        <p:spPr>
          <a:xfrm>
            <a:off x="694944" y="2529840"/>
            <a:ext cx="457200" cy="658368"/>
          </a:xfrm>
          <a:prstGeom prst="rect">
            <a:avLst/>
          </a:prstGeom>
          <a:noFill/>
        </p:spPr>
        <p:txBody>
          <a:bodyPr wrap="square" lIns="0" tIns="0" rIns="0" bIns="0" rtlCol="0" anchor="ctr"/>
          <a:lstStyle/>
          <a:p>
            <a:pPr marL="0" indent="0" algn="ctr">
              <a:buNone/>
            </a:pPr>
            <a:r>
              <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2"/>
          <p:cNvSpPr/>
          <p:nvPr/>
        </p:nvSpPr>
        <p:spPr>
          <a:xfrm>
            <a:off x="1234440" y="2529840"/>
            <a:ext cx="5029200" cy="658368"/>
          </a:xfrm>
          <a:prstGeom prst="rect">
            <a:avLst/>
          </a:prstGeom>
          <a:noFill/>
        </p:spPr>
        <p:txBody>
          <a:bodyPr wrap="square" lIns="0" tIns="0" rIns="0" bIns="0" rtlCol="0" anchor="ctr"/>
          <a:lstStyle/>
          <a:p>
            <a:pPr marL="0" indent="0" algn="l">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电路原理</a:t>
            </a: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   →   </a:t>
            </a: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元件功能</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3"/>
          <p:cNvSpPr/>
          <p:nvPr/>
        </p:nvSpPr>
        <p:spPr>
          <a:xfrm>
            <a:off x="548640" y="3666744"/>
            <a:ext cx="5852160" cy="658368"/>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7" name="Shape 14"/>
          <p:cNvSpPr/>
          <p:nvPr/>
        </p:nvSpPr>
        <p:spPr>
          <a:xfrm>
            <a:off x="548640" y="3666744"/>
            <a:ext cx="73152" cy="658368"/>
          </a:xfrm>
          <a:prstGeom prst="rect">
            <a:avLst/>
          </a:prstGeom>
          <a:solidFill>
            <a:srgbClr val="4472C4"/>
          </a:solidFill>
        </p:spPr>
      </p:sp>
      <p:sp>
        <p:nvSpPr>
          <p:cNvPr id="18" name="Text 15"/>
          <p:cNvSpPr/>
          <p:nvPr/>
        </p:nvSpPr>
        <p:spPr>
          <a:xfrm>
            <a:off x="694944" y="3666744"/>
            <a:ext cx="457200" cy="658368"/>
          </a:xfrm>
          <a:prstGeom prst="rect">
            <a:avLst/>
          </a:prstGeom>
          <a:noFill/>
        </p:spPr>
        <p:txBody>
          <a:bodyPr wrap="square" lIns="0" tIns="0" rIns="0" bIns="0" rtlCol="0" anchor="ctr"/>
          <a:lstStyle/>
          <a:p>
            <a:pPr marL="0" indent="0" algn="ctr">
              <a:buNone/>
            </a:pPr>
            <a:r>
              <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Text 16"/>
          <p:cNvSpPr/>
          <p:nvPr/>
        </p:nvSpPr>
        <p:spPr>
          <a:xfrm>
            <a:off x="1234440" y="3666744"/>
            <a:ext cx="5029200" cy="658368"/>
          </a:xfrm>
          <a:prstGeom prst="rect">
            <a:avLst/>
          </a:prstGeom>
          <a:noFill/>
        </p:spPr>
        <p:txBody>
          <a:bodyPr wrap="square" lIns="0" tIns="0" rIns="0" bIns="0" rtlCol="0" anchor="ctr"/>
          <a:lstStyle/>
          <a:p>
            <a:pPr marL="0" indent="0" algn="l">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二维原理图</a:t>
            </a: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   →   </a:t>
            </a: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面包板孔位</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Shape 17"/>
          <p:cNvSpPr/>
          <p:nvPr/>
        </p:nvSpPr>
        <p:spPr>
          <a:xfrm>
            <a:off x="548640" y="4864608"/>
            <a:ext cx="5852160" cy="658368"/>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1" name="Shape 18"/>
          <p:cNvSpPr/>
          <p:nvPr/>
        </p:nvSpPr>
        <p:spPr>
          <a:xfrm>
            <a:off x="548640" y="4864608"/>
            <a:ext cx="73152" cy="658368"/>
          </a:xfrm>
          <a:prstGeom prst="rect">
            <a:avLst/>
          </a:prstGeom>
          <a:solidFill>
            <a:srgbClr val="4472C4"/>
          </a:solidFill>
        </p:spPr>
      </p:sp>
      <p:sp>
        <p:nvSpPr>
          <p:cNvPr id="22" name="Text 19"/>
          <p:cNvSpPr/>
          <p:nvPr/>
        </p:nvSpPr>
        <p:spPr>
          <a:xfrm>
            <a:off x="694944" y="4864608"/>
            <a:ext cx="457200" cy="658368"/>
          </a:xfrm>
          <a:prstGeom prst="rect">
            <a:avLst/>
          </a:prstGeom>
          <a:noFill/>
        </p:spPr>
        <p:txBody>
          <a:bodyPr wrap="square" lIns="0" tIns="0" rIns="0" bIns="0" rtlCol="0" anchor="ctr"/>
          <a:lstStyle/>
          <a:p>
            <a:pPr marL="0" indent="0" algn="ctr">
              <a:buNone/>
            </a:pPr>
            <a:r>
              <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20"/>
          <p:cNvSpPr/>
          <p:nvPr/>
        </p:nvSpPr>
        <p:spPr>
          <a:xfrm>
            <a:off x="1234440" y="4864608"/>
            <a:ext cx="5029200" cy="658368"/>
          </a:xfrm>
          <a:prstGeom prst="rect">
            <a:avLst/>
          </a:prstGeom>
          <a:noFill/>
        </p:spPr>
        <p:txBody>
          <a:bodyPr wrap="square" lIns="0" tIns="0" rIns="0" bIns="0" rtlCol="0" anchor="ctr"/>
          <a:lstStyle/>
          <a:p>
            <a:pPr marL="0" indent="0" algn="l">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实验现象</a:t>
            </a: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   →   </a:t>
            </a: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故障原因</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Shape 21"/>
          <p:cNvSpPr/>
          <p:nvPr/>
        </p:nvSpPr>
        <p:spPr>
          <a:xfrm>
            <a:off x="6858000" y="1897380"/>
            <a:ext cx="4800600" cy="3703320"/>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25" name="Shape 22"/>
          <p:cNvSpPr/>
          <p:nvPr/>
        </p:nvSpPr>
        <p:spPr>
          <a:xfrm>
            <a:off x="6858000" y="1897380"/>
            <a:ext cx="73152" cy="3703320"/>
          </a:xfrm>
          <a:prstGeom prst="rect">
            <a:avLst/>
          </a:prstGeom>
          <a:solidFill>
            <a:srgbClr val="C00000"/>
          </a:solidFill>
        </p:spPr>
      </p:sp>
      <p:sp>
        <p:nvSpPr>
          <p:cNvPr id="26" name="Shape 23"/>
          <p:cNvSpPr/>
          <p:nvPr/>
        </p:nvSpPr>
        <p:spPr>
          <a:xfrm>
            <a:off x="7114032" y="2144268"/>
            <a:ext cx="502920" cy="502920"/>
          </a:xfrm>
          <a:prstGeom prst="roundRect">
            <a:avLst>
              <a:gd name="adj" fmla="val 22000"/>
            </a:avLst>
          </a:prstGeom>
          <a:solidFill>
            <a:srgbClr val="C00000"/>
          </a:solidFill>
        </p:spPr>
      </p:sp>
      <p:pic>
        <p:nvPicPr>
          <p:cNvPr id="27" name="Image 1" descr="preencoded.png"/>
          <p:cNvPicPr>
            <a:picLocks noChangeAspect="1"/>
          </p:cNvPicPr>
          <p:nvPr/>
        </p:nvPicPr>
        <p:blipFill>
          <a:blip r:embed="rId2"/>
          <a:stretch>
            <a:fillRect/>
          </a:stretch>
        </p:blipFill>
        <p:spPr>
          <a:xfrm>
            <a:off x="7244791" y="2275027"/>
            <a:ext cx="241402" cy="241402"/>
          </a:xfrm>
          <a:prstGeom prst="rect">
            <a:avLst/>
          </a:prstGeom>
        </p:spPr>
      </p:pic>
      <p:sp>
        <p:nvSpPr>
          <p:cNvPr id="28" name="Text 24"/>
          <p:cNvSpPr/>
          <p:nvPr/>
        </p:nvSpPr>
        <p:spPr>
          <a:xfrm>
            <a:off x="7772400" y="2144268"/>
            <a:ext cx="3703320" cy="50292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巡检负担与安全风险</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Shape 25"/>
          <p:cNvSpPr/>
          <p:nvPr/>
        </p:nvSpPr>
        <p:spPr>
          <a:xfrm>
            <a:off x="7168896" y="2967228"/>
            <a:ext cx="109728" cy="109728"/>
          </a:xfrm>
          <a:prstGeom prst="ellipse">
            <a:avLst/>
          </a:prstGeom>
          <a:solidFill>
            <a:srgbClr val="C00000"/>
          </a:solidFill>
        </p:spPr>
      </p:sp>
      <p:sp>
        <p:nvSpPr>
          <p:cNvPr id="30" name="Text 26"/>
          <p:cNvSpPr/>
          <p:nvPr/>
        </p:nvSpPr>
        <p:spPr>
          <a:xfrm>
            <a:off x="7406640" y="2857500"/>
            <a:ext cx="4023360" cy="77724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师生比偏高，教师难以同时覆盖所有实验台，学生常排队等待检查</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Shape 27"/>
          <p:cNvSpPr/>
          <p:nvPr/>
        </p:nvSpPr>
        <p:spPr>
          <a:xfrm>
            <a:off x="7168896" y="3835908"/>
            <a:ext cx="109728" cy="109728"/>
          </a:xfrm>
          <a:prstGeom prst="ellipse">
            <a:avLst/>
          </a:prstGeom>
          <a:solidFill>
            <a:srgbClr val="C00000"/>
          </a:solidFill>
        </p:spPr>
      </p:sp>
      <p:sp>
        <p:nvSpPr>
          <p:cNvPr id="32" name="Text 28"/>
          <p:cNvSpPr/>
          <p:nvPr/>
        </p:nvSpPr>
        <p:spPr>
          <a:xfrm>
            <a:off x="7406640" y="3726180"/>
            <a:ext cx="4023360" cy="77724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元件插对、引脚反接、孔位同组、电源轨误接、导线短路等基础排查高度依赖经验、重复性强</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Shape 29"/>
          <p:cNvSpPr/>
          <p:nvPr/>
        </p:nvSpPr>
        <p:spPr>
          <a:xfrm>
            <a:off x="7168896" y="4841748"/>
            <a:ext cx="109728" cy="109728"/>
          </a:xfrm>
          <a:prstGeom prst="ellipse">
            <a:avLst/>
          </a:prstGeom>
          <a:solidFill>
            <a:srgbClr val="C00000"/>
          </a:solidFill>
        </p:spPr>
      </p:sp>
      <p:sp>
        <p:nvSpPr>
          <p:cNvPr id="34" name="Text 30"/>
          <p:cNvSpPr/>
          <p:nvPr/>
        </p:nvSpPr>
        <p:spPr>
          <a:xfrm>
            <a:off x="7406640" y="4732020"/>
            <a:ext cx="4023360" cy="77724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极性反接与电源短路可能损坏芯片，甚至带来安全风险，排查不可省略</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2"/>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第一章 · 绪论</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四个超出常规视觉识别的核心难点</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custDataLst>
              <p:tags r:id="rId2"/>
            </p:custDataLst>
          </p:nvPr>
        </p:nvSpPr>
        <p:spPr>
          <a:xfrm>
            <a:off x="548640" y="1554480"/>
            <a:ext cx="5349240" cy="187452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2" name="Shape 9"/>
          <p:cNvSpPr/>
          <p:nvPr>
            <p:custDataLst>
              <p:tags r:id="rId3"/>
            </p:custDataLst>
          </p:nvPr>
        </p:nvSpPr>
        <p:spPr>
          <a:xfrm>
            <a:off x="548640" y="1554480"/>
            <a:ext cx="73152" cy="1874520"/>
          </a:xfrm>
          <a:prstGeom prst="rect">
            <a:avLst/>
          </a:prstGeom>
          <a:solidFill>
            <a:srgbClr val="5B9BD5"/>
          </a:solidFill>
        </p:spPr>
      </p:sp>
      <p:sp>
        <p:nvSpPr>
          <p:cNvPr id="13" name="Shape 10"/>
          <p:cNvSpPr/>
          <p:nvPr>
            <p:custDataLst>
              <p:tags r:id="rId4"/>
            </p:custDataLst>
          </p:nvPr>
        </p:nvSpPr>
        <p:spPr>
          <a:xfrm>
            <a:off x="822960" y="1847088"/>
            <a:ext cx="566928" cy="566928"/>
          </a:xfrm>
          <a:prstGeom prst="roundRect">
            <a:avLst>
              <a:gd name="adj" fmla="val 22000"/>
            </a:avLst>
          </a:prstGeom>
          <a:solidFill>
            <a:schemeClr val="accent1">
              <a:lumMod val="40000"/>
              <a:lumOff val="60000"/>
            </a:schemeClr>
          </a:solidFill>
        </p:spPr>
      </p:sp>
      <p:pic>
        <p:nvPicPr>
          <p:cNvPr id="14" name="Image 1" descr="preencoded.png"/>
          <p:cNvPicPr>
            <a:picLocks noChangeAspect="1"/>
          </p:cNvPicPr>
          <p:nvPr>
            <p:custDataLst>
              <p:tags r:id="rId5"/>
            </p:custDataLst>
          </p:nvPr>
        </p:nvPicPr>
        <p:blipFill>
          <a:blip r:embed="rId6"/>
          <a:stretch>
            <a:fillRect/>
          </a:stretch>
        </p:blipFill>
        <p:spPr>
          <a:xfrm>
            <a:off x="970361" y="1994489"/>
            <a:ext cx="272125" cy="272125"/>
          </a:xfrm>
          <a:prstGeom prst="rect">
            <a:avLst/>
          </a:prstGeom>
        </p:spPr>
      </p:pic>
      <p:sp>
        <p:nvSpPr>
          <p:cNvPr id="15" name="Text 11"/>
          <p:cNvSpPr/>
          <p:nvPr>
            <p:custDataLst>
              <p:tags r:id="rId7"/>
            </p:custDataLst>
          </p:nvPr>
        </p:nvSpPr>
        <p:spPr>
          <a:xfrm>
            <a:off x="1572768" y="1810512"/>
            <a:ext cx="406908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难点 1</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2"/>
          <p:cNvSpPr/>
          <p:nvPr>
            <p:custDataLst>
              <p:tags r:id="rId8"/>
            </p:custDataLst>
          </p:nvPr>
        </p:nvSpPr>
        <p:spPr>
          <a:xfrm>
            <a:off x="1572768" y="2048256"/>
            <a:ext cx="4069080" cy="365760"/>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真实图像遮挡严重</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3"/>
          <p:cNvSpPr/>
          <p:nvPr>
            <p:custDataLst>
              <p:tags r:id="rId9"/>
            </p:custDataLst>
          </p:nvPr>
        </p:nvSpPr>
        <p:spPr>
          <a:xfrm>
            <a:off x="841248" y="2542032"/>
            <a:ext cx="4800600" cy="777240"/>
          </a:xfrm>
          <a:prstGeom prst="rect">
            <a:avLst/>
          </a:prstGeom>
          <a:noFill/>
        </p:spPr>
        <p:txBody>
          <a:bodyPr wrap="square" lIns="0" tIns="0" rIns="0" bIns="0" rtlCol="0" anchor="t"/>
          <a:lstStyle/>
          <a:p>
            <a:pPr marL="0" indent="0">
              <a:lnSpc>
                <a:spcPct val="104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导线交叠、元件遮挡与拍摄角度差异干扰识别；常规检测仅给元件级边界框，诊断必须深入引脚级与孔位级。</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4"/>
          <p:cNvSpPr/>
          <p:nvPr>
            <p:custDataLst>
              <p:tags r:id="rId10"/>
            </p:custDataLst>
          </p:nvPr>
        </p:nvSpPr>
        <p:spPr>
          <a:xfrm>
            <a:off x="6217920" y="1554480"/>
            <a:ext cx="5349240" cy="187452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9" name="Shape 15"/>
          <p:cNvSpPr/>
          <p:nvPr>
            <p:custDataLst>
              <p:tags r:id="rId11"/>
            </p:custDataLst>
          </p:nvPr>
        </p:nvSpPr>
        <p:spPr>
          <a:xfrm>
            <a:off x="6217920" y="1554480"/>
            <a:ext cx="73152" cy="1874520"/>
          </a:xfrm>
          <a:prstGeom prst="rect">
            <a:avLst/>
          </a:prstGeom>
          <a:solidFill>
            <a:srgbClr val="5B9BD5"/>
          </a:solidFill>
        </p:spPr>
      </p:sp>
      <p:sp>
        <p:nvSpPr>
          <p:cNvPr id="20" name="Shape 16"/>
          <p:cNvSpPr/>
          <p:nvPr>
            <p:custDataLst>
              <p:tags r:id="rId12"/>
            </p:custDataLst>
          </p:nvPr>
        </p:nvSpPr>
        <p:spPr>
          <a:xfrm>
            <a:off x="6492240" y="1847088"/>
            <a:ext cx="566928" cy="566928"/>
          </a:xfrm>
          <a:prstGeom prst="roundRect">
            <a:avLst>
              <a:gd name="adj" fmla="val 22000"/>
            </a:avLst>
          </a:prstGeom>
          <a:solidFill>
            <a:schemeClr val="accent1">
              <a:lumMod val="40000"/>
              <a:lumOff val="60000"/>
            </a:schemeClr>
          </a:solidFill>
        </p:spPr>
      </p:sp>
      <p:pic>
        <p:nvPicPr>
          <p:cNvPr id="21" name="Image 2" descr="preencoded.png"/>
          <p:cNvPicPr>
            <a:picLocks noChangeAspect="1"/>
          </p:cNvPicPr>
          <p:nvPr>
            <p:custDataLst>
              <p:tags r:id="rId13"/>
            </p:custDataLst>
          </p:nvPr>
        </p:nvPicPr>
        <p:blipFill>
          <a:blip r:embed="rId14"/>
          <a:stretch>
            <a:fillRect/>
          </a:stretch>
        </p:blipFill>
        <p:spPr>
          <a:xfrm>
            <a:off x="6639641" y="1994489"/>
            <a:ext cx="272125" cy="272125"/>
          </a:xfrm>
          <a:prstGeom prst="rect">
            <a:avLst/>
          </a:prstGeom>
        </p:spPr>
      </p:pic>
      <p:sp>
        <p:nvSpPr>
          <p:cNvPr id="22" name="Text 17"/>
          <p:cNvSpPr/>
          <p:nvPr>
            <p:custDataLst>
              <p:tags r:id="rId15"/>
            </p:custDataLst>
          </p:nvPr>
        </p:nvSpPr>
        <p:spPr>
          <a:xfrm>
            <a:off x="7242048" y="1810512"/>
            <a:ext cx="406908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难点 2</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18"/>
          <p:cNvSpPr/>
          <p:nvPr>
            <p:custDataLst>
              <p:tags r:id="rId16"/>
            </p:custDataLst>
          </p:nvPr>
        </p:nvSpPr>
        <p:spPr>
          <a:xfrm>
            <a:off x="7242048" y="2048256"/>
            <a:ext cx="4069080" cy="365760"/>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导通关系不直观</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19"/>
          <p:cNvSpPr/>
          <p:nvPr>
            <p:custDataLst>
              <p:tags r:id="rId17"/>
            </p:custDataLst>
          </p:nvPr>
        </p:nvSpPr>
        <p:spPr>
          <a:xfrm>
            <a:off x="6510528" y="2542032"/>
            <a:ext cx="4800600" cy="777240"/>
          </a:xfrm>
          <a:prstGeom prst="rect">
            <a:avLst/>
          </a:prstGeom>
          <a:noFill/>
        </p:spPr>
        <p:txBody>
          <a:bodyPr wrap="square" lIns="0" tIns="0" rIns="0" bIns="0" rtlCol="0" anchor="t"/>
          <a:lstStyle/>
          <a:p>
            <a:pPr marL="0" indent="0">
              <a:lnSpc>
                <a:spcPct val="104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主区按列导通、中缝隔离、电源轨分段；需把物理孔位映射为导通节点，才能指出相邻孔位并非同网或两脚短接。</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0"/>
          <p:cNvSpPr/>
          <p:nvPr>
            <p:custDataLst>
              <p:tags r:id="rId18"/>
            </p:custDataLst>
          </p:nvPr>
        </p:nvSpPr>
        <p:spPr>
          <a:xfrm>
            <a:off x="548640" y="3921252"/>
            <a:ext cx="5349240" cy="187452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6" name="Shape 21"/>
          <p:cNvSpPr/>
          <p:nvPr>
            <p:custDataLst>
              <p:tags r:id="rId19"/>
            </p:custDataLst>
          </p:nvPr>
        </p:nvSpPr>
        <p:spPr>
          <a:xfrm>
            <a:off x="548640" y="3921252"/>
            <a:ext cx="73152" cy="1874520"/>
          </a:xfrm>
          <a:prstGeom prst="rect">
            <a:avLst/>
          </a:prstGeom>
          <a:solidFill>
            <a:srgbClr val="5B9BD5"/>
          </a:solidFill>
        </p:spPr>
      </p:sp>
      <p:sp>
        <p:nvSpPr>
          <p:cNvPr id="27" name="Shape 22"/>
          <p:cNvSpPr/>
          <p:nvPr>
            <p:custDataLst>
              <p:tags r:id="rId20"/>
            </p:custDataLst>
          </p:nvPr>
        </p:nvSpPr>
        <p:spPr>
          <a:xfrm>
            <a:off x="822960" y="4213860"/>
            <a:ext cx="566928" cy="566928"/>
          </a:xfrm>
          <a:prstGeom prst="roundRect">
            <a:avLst>
              <a:gd name="adj" fmla="val 22000"/>
            </a:avLst>
          </a:prstGeom>
          <a:solidFill>
            <a:schemeClr val="accent1">
              <a:lumMod val="40000"/>
              <a:lumOff val="60000"/>
            </a:schemeClr>
          </a:solidFill>
        </p:spPr>
      </p:sp>
      <p:pic>
        <p:nvPicPr>
          <p:cNvPr id="28" name="Image 3" descr="preencoded.png"/>
          <p:cNvPicPr>
            <a:picLocks noChangeAspect="1"/>
          </p:cNvPicPr>
          <p:nvPr>
            <p:custDataLst>
              <p:tags r:id="rId21"/>
            </p:custDataLst>
          </p:nvPr>
        </p:nvPicPr>
        <p:blipFill>
          <a:blip r:embed="rId22"/>
          <a:stretch>
            <a:fillRect/>
          </a:stretch>
        </p:blipFill>
        <p:spPr>
          <a:xfrm>
            <a:off x="970361" y="4361261"/>
            <a:ext cx="272125" cy="272125"/>
          </a:xfrm>
          <a:prstGeom prst="rect">
            <a:avLst/>
          </a:prstGeom>
        </p:spPr>
      </p:pic>
      <p:sp>
        <p:nvSpPr>
          <p:cNvPr id="29" name="Text 23"/>
          <p:cNvSpPr/>
          <p:nvPr>
            <p:custDataLst>
              <p:tags r:id="rId23"/>
            </p:custDataLst>
          </p:nvPr>
        </p:nvSpPr>
        <p:spPr>
          <a:xfrm>
            <a:off x="1572768" y="4177284"/>
            <a:ext cx="406908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难点 3</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Text 24"/>
          <p:cNvSpPr/>
          <p:nvPr>
            <p:custDataLst>
              <p:tags r:id="rId24"/>
            </p:custDataLst>
          </p:nvPr>
        </p:nvSpPr>
        <p:spPr>
          <a:xfrm>
            <a:off x="1572768" y="4415028"/>
            <a:ext cx="4069080" cy="365760"/>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需要可解释的证据</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5"/>
          <p:cNvSpPr/>
          <p:nvPr>
            <p:custDataLst>
              <p:tags r:id="rId25"/>
            </p:custDataLst>
          </p:nvPr>
        </p:nvSpPr>
        <p:spPr>
          <a:xfrm>
            <a:off x="841248" y="4908804"/>
            <a:ext cx="4800600" cy="777240"/>
          </a:xfrm>
          <a:prstGeom prst="rect">
            <a:avLst/>
          </a:prstGeom>
          <a:noFill/>
        </p:spPr>
        <p:txBody>
          <a:bodyPr wrap="square" lIns="0" tIns="0" rIns="0" bIns="0" rtlCol="0" anchor="t"/>
          <a:lstStyle/>
          <a:p>
            <a:pPr marL="0" indent="0">
              <a:lnSpc>
                <a:spcPct val="104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诊断须给出错误类型及涉及元件、引脚、孔位与建议动作，并保留证据引用以便界面高亮，而非黑盒结论。</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6"/>
          <p:cNvSpPr/>
          <p:nvPr>
            <p:custDataLst>
              <p:tags r:id="rId26"/>
            </p:custDataLst>
          </p:nvPr>
        </p:nvSpPr>
        <p:spPr>
          <a:xfrm>
            <a:off x="6217920" y="3921252"/>
            <a:ext cx="5349240" cy="187452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3" name="Shape 27"/>
          <p:cNvSpPr/>
          <p:nvPr>
            <p:custDataLst>
              <p:tags r:id="rId27"/>
            </p:custDataLst>
          </p:nvPr>
        </p:nvSpPr>
        <p:spPr>
          <a:xfrm>
            <a:off x="6217920" y="3921252"/>
            <a:ext cx="73152" cy="1874520"/>
          </a:xfrm>
          <a:prstGeom prst="rect">
            <a:avLst/>
          </a:prstGeom>
          <a:solidFill>
            <a:srgbClr val="5B9BD5"/>
          </a:solidFill>
        </p:spPr>
      </p:sp>
      <p:sp>
        <p:nvSpPr>
          <p:cNvPr id="34" name="Shape 28"/>
          <p:cNvSpPr/>
          <p:nvPr>
            <p:custDataLst>
              <p:tags r:id="rId28"/>
            </p:custDataLst>
          </p:nvPr>
        </p:nvSpPr>
        <p:spPr>
          <a:xfrm>
            <a:off x="6492240" y="4213860"/>
            <a:ext cx="566928" cy="566928"/>
          </a:xfrm>
          <a:prstGeom prst="roundRect">
            <a:avLst>
              <a:gd name="adj" fmla="val 22000"/>
            </a:avLst>
          </a:prstGeom>
          <a:solidFill>
            <a:schemeClr val="accent1">
              <a:lumMod val="40000"/>
              <a:lumOff val="60000"/>
            </a:schemeClr>
          </a:solidFill>
        </p:spPr>
      </p:sp>
      <p:pic>
        <p:nvPicPr>
          <p:cNvPr id="35" name="Image 4" descr="preencoded.png"/>
          <p:cNvPicPr>
            <a:picLocks noChangeAspect="1"/>
          </p:cNvPicPr>
          <p:nvPr>
            <p:custDataLst>
              <p:tags r:id="rId29"/>
            </p:custDataLst>
          </p:nvPr>
        </p:nvPicPr>
        <p:blipFill>
          <a:blip r:embed="rId30"/>
          <a:stretch>
            <a:fillRect/>
          </a:stretch>
        </p:blipFill>
        <p:spPr>
          <a:xfrm>
            <a:off x="6639641" y="4361261"/>
            <a:ext cx="272125" cy="272125"/>
          </a:xfrm>
          <a:prstGeom prst="rect">
            <a:avLst/>
          </a:prstGeom>
        </p:spPr>
      </p:pic>
      <p:sp>
        <p:nvSpPr>
          <p:cNvPr id="36" name="Text 29"/>
          <p:cNvSpPr/>
          <p:nvPr>
            <p:custDataLst>
              <p:tags r:id="rId31"/>
            </p:custDataLst>
          </p:nvPr>
        </p:nvSpPr>
        <p:spPr>
          <a:xfrm>
            <a:off x="7242048" y="4177284"/>
            <a:ext cx="406908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难点 4</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Text 30"/>
          <p:cNvSpPr/>
          <p:nvPr>
            <p:custDataLst>
              <p:tags r:id="rId32"/>
            </p:custDataLst>
          </p:nvPr>
        </p:nvSpPr>
        <p:spPr>
          <a:xfrm>
            <a:off x="7242048" y="4415028"/>
            <a:ext cx="4069080" cy="365760"/>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须适应边缘环境</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Text 31"/>
          <p:cNvSpPr/>
          <p:nvPr>
            <p:custDataLst>
              <p:tags r:id="rId33"/>
            </p:custDataLst>
          </p:nvPr>
        </p:nvSpPr>
        <p:spPr>
          <a:xfrm>
            <a:off x="6510528" y="4908804"/>
            <a:ext cx="4800600" cy="777240"/>
          </a:xfrm>
          <a:prstGeom prst="rect">
            <a:avLst/>
          </a:prstGeom>
          <a:noFill/>
        </p:spPr>
        <p:txBody>
          <a:bodyPr wrap="square" lIns="0" tIns="0" rIns="0" bIns="0" rtlCol="0" anchor="t"/>
          <a:lstStyle/>
          <a:p>
            <a:pPr marL="0" indent="0">
              <a:lnSpc>
                <a:spcPct val="104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实验室网络未必稳定、数据不宜全部上云；以边缘设备为主要运行平台，降低对外网依赖。</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Text 33"/>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第一章 · 绪论</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现有技术路线及其局限</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custDataLst>
              <p:tags r:id="rId2"/>
            </p:custDataLst>
          </p:nvPr>
        </p:nvSpPr>
        <p:spPr>
          <a:xfrm>
            <a:off x="548640" y="1554480"/>
            <a:ext cx="3456432" cy="26060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2" name="Shape 9"/>
          <p:cNvSpPr/>
          <p:nvPr>
            <p:custDataLst>
              <p:tags r:id="rId3"/>
            </p:custDataLst>
          </p:nvPr>
        </p:nvSpPr>
        <p:spPr>
          <a:xfrm>
            <a:off x="548640" y="1554480"/>
            <a:ext cx="73152" cy="2606040"/>
          </a:xfrm>
          <a:prstGeom prst="rect">
            <a:avLst/>
          </a:prstGeom>
          <a:solidFill>
            <a:srgbClr val="C00000"/>
          </a:solidFill>
        </p:spPr>
      </p:sp>
      <p:sp>
        <p:nvSpPr>
          <p:cNvPr id="13" name="Text 10"/>
          <p:cNvSpPr/>
          <p:nvPr>
            <p:custDataLst>
              <p:tags r:id="rId4"/>
            </p:custDataLst>
          </p:nvPr>
        </p:nvSpPr>
        <p:spPr>
          <a:xfrm>
            <a:off x="804672" y="1755648"/>
            <a:ext cx="2999232" cy="274320"/>
          </a:xfrm>
          <a:prstGeom prst="rect">
            <a:avLst/>
          </a:prstGeom>
          <a:noFill/>
        </p:spPr>
        <p:txBody>
          <a:bodyPr wrap="square" lIns="0" tIns="0" rIns="0" bIns="0" rtlCol="0" anchor="ctr"/>
          <a:lstStyle/>
          <a:p>
            <a:pPr marL="0" indent="0">
              <a:buNone/>
            </a:pPr>
            <a:r>
              <a:rPr lang="en-US" sz="1400" b="1" kern="0" spc="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路线 1</a:t>
            </a:r>
            <a:endParaRPr lang="en-US" sz="1400" b="1" kern="0" spc="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Text 11"/>
          <p:cNvSpPr/>
          <p:nvPr>
            <p:custDataLst>
              <p:tags r:id="rId5"/>
            </p:custDataLst>
          </p:nvPr>
        </p:nvSpPr>
        <p:spPr>
          <a:xfrm>
            <a:off x="804672" y="2011680"/>
            <a:ext cx="2999232" cy="548640"/>
          </a:xfrm>
          <a:prstGeom prst="rect">
            <a:avLst/>
          </a:prstGeom>
          <a:noFill/>
        </p:spPr>
        <p:txBody>
          <a:bodyPr wrap="square" lIns="0" tIns="0" rIns="0" bIns="0" rtlCol="0" anchor="t"/>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通用电路仿真软件</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2"/>
          <p:cNvSpPr/>
          <p:nvPr>
            <p:custDataLst>
              <p:tags r:id="rId6"/>
            </p:custDataLst>
          </p:nvPr>
        </p:nvSpPr>
        <p:spPr>
          <a:xfrm>
            <a:off x="804672" y="2542032"/>
            <a:ext cx="2999232" cy="274320"/>
          </a:xfrm>
          <a:prstGeom prst="rect">
            <a:avLst/>
          </a:prstGeom>
          <a:noFill/>
        </p:spPr>
        <p:txBody>
          <a:bodyPr wrap="square" lIns="0" tIns="0" rIns="0" bIns="0" rtlCol="0" anchor="ctr"/>
          <a:lstStyle/>
          <a:p>
            <a:pPr marL="0" indent="0">
              <a:buNone/>
            </a:pPr>
            <a:r>
              <a:rPr lang="en-US" sz="14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以 SPICE 为代表</a:t>
            </a:r>
            <a:endParaRPr lang="en-US" sz="14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3"/>
          <p:cNvSpPr/>
          <p:nvPr>
            <p:custDataLst>
              <p:tags r:id="rId7"/>
            </p:custDataLst>
          </p:nvPr>
        </p:nvSpPr>
        <p:spPr>
          <a:xfrm>
            <a:off x="804672" y="2880360"/>
            <a:ext cx="2944368" cy="0"/>
          </a:xfrm>
          <a:prstGeom prst="line">
            <a:avLst/>
          </a:prstGeom>
          <a:noFill/>
          <a:ln w="12700">
            <a:solidFill>
              <a:srgbClr val="CFD5EA"/>
            </a:solidFill>
            <a:prstDash val="solid"/>
          </a:ln>
        </p:spPr>
      </p:sp>
      <p:sp>
        <p:nvSpPr>
          <p:cNvPr id="17" name="Text 14"/>
          <p:cNvSpPr/>
          <p:nvPr>
            <p:custDataLst>
              <p:tags r:id="rId8"/>
            </p:custDataLst>
          </p:nvPr>
        </p:nvSpPr>
        <p:spPr>
          <a:xfrm>
            <a:off x="804672" y="2971800"/>
            <a:ext cx="2999232" cy="1051560"/>
          </a:xfrm>
          <a:prstGeom prst="rect">
            <a:avLst/>
          </a:prstGeom>
          <a:noFill/>
        </p:spPr>
        <p:txBody>
          <a:bodyPr wrap="square" lIns="0" tIns="0" rIns="0" bIns="0" rtlCol="0" anchor="t"/>
          <a:lstStyle/>
          <a:p>
            <a:pPr marL="0" indent="0">
              <a:lnSpc>
                <a:spcPct val="105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面向理想原理图、验证设计层面正确性，无法感知面包板真实接线，难以发现“原理图正确但实物接错”。</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5"/>
          <p:cNvSpPr/>
          <p:nvPr>
            <p:custDataLst>
              <p:tags r:id="rId9"/>
            </p:custDataLst>
          </p:nvPr>
        </p:nvSpPr>
        <p:spPr>
          <a:xfrm>
            <a:off x="4297680" y="1554480"/>
            <a:ext cx="3456432" cy="26060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9" name="Shape 16"/>
          <p:cNvSpPr/>
          <p:nvPr>
            <p:custDataLst>
              <p:tags r:id="rId10"/>
            </p:custDataLst>
          </p:nvPr>
        </p:nvSpPr>
        <p:spPr>
          <a:xfrm>
            <a:off x="4297680" y="1554480"/>
            <a:ext cx="73152" cy="2606040"/>
          </a:xfrm>
          <a:prstGeom prst="rect">
            <a:avLst/>
          </a:prstGeom>
          <a:solidFill>
            <a:srgbClr val="C00000"/>
          </a:solidFill>
        </p:spPr>
      </p:sp>
      <p:sp>
        <p:nvSpPr>
          <p:cNvPr id="20" name="Text 17"/>
          <p:cNvSpPr/>
          <p:nvPr>
            <p:custDataLst>
              <p:tags r:id="rId11"/>
            </p:custDataLst>
          </p:nvPr>
        </p:nvSpPr>
        <p:spPr>
          <a:xfrm>
            <a:off x="4553712" y="1755648"/>
            <a:ext cx="2999232" cy="274320"/>
          </a:xfrm>
          <a:prstGeom prst="rect">
            <a:avLst/>
          </a:prstGeom>
          <a:noFill/>
        </p:spPr>
        <p:txBody>
          <a:bodyPr wrap="square" lIns="0" tIns="0" rIns="0" bIns="0" rtlCol="0" anchor="ctr"/>
          <a:lstStyle/>
          <a:p>
            <a:pPr marL="0" indent="0">
              <a:buNone/>
            </a:pPr>
            <a:r>
              <a:rPr lang="en-US" sz="1400" b="1" kern="0" spc="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路线 2</a:t>
            </a:r>
            <a:endParaRPr lang="en-US" sz="1400" b="1" kern="0" spc="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8"/>
          <p:cNvSpPr/>
          <p:nvPr>
            <p:custDataLst>
              <p:tags r:id="rId12"/>
            </p:custDataLst>
          </p:nvPr>
        </p:nvSpPr>
        <p:spPr>
          <a:xfrm>
            <a:off x="4553712" y="2011680"/>
            <a:ext cx="2999232" cy="548640"/>
          </a:xfrm>
          <a:prstGeom prst="rect">
            <a:avLst/>
          </a:prstGeom>
          <a:noFill/>
        </p:spPr>
        <p:txBody>
          <a:bodyPr wrap="square" lIns="0" tIns="0" rIns="0" bIns="0" rtlCol="0" anchor="t"/>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纯规则 / 模板比较</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Text 19"/>
          <p:cNvSpPr/>
          <p:nvPr>
            <p:custDataLst>
              <p:tags r:id="rId13"/>
            </p:custDataLst>
          </p:nvPr>
        </p:nvSpPr>
        <p:spPr>
          <a:xfrm>
            <a:off x="4553712" y="2542032"/>
            <a:ext cx="2999232" cy="274320"/>
          </a:xfrm>
          <a:prstGeom prst="rect">
            <a:avLst/>
          </a:prstGeom>
          <a:noFill/>
        </p:spPr>
        <p:txBody>
          <a:bodyPr wrap="square" lIns="0" tIns="0" rIns="0" bIns="0" rtlCol="0" anchor="ctr"/>
          <a:lstStyle/>
          <a:p>
            <a:pPr marL="0" indent="0">
              <a:buNone/>
            </a:pPr>
            <a:r>
              <a:rPr lang="en-US" sz="14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图同构 + 引脚角色规则</a:t>
            </a:r>
            <a:endParaRPr lang="en-US" sz="14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Shape 20"/>
          <p:cNvSpPr/>
          <p:nvPr>
            <p:custDataLst>
              <p:tags r:id="rId14"/>
            </p:custDataLst>
          </p:nvPr>
        </p:nvSpPr>
        <p:spPr>
          <a:xfrm>
            <a:off x="4553712" y="2880360"/>
            <a:ext cx="2944368" cy="0"/>
          </a:xfrm>
          <a:prstGeom prst="line">
            <a:avLst/>
          </a:prstGeom>
          <a:noFill/>
          <a:ln w="12700">
            <a:solidFill>
              <a:srgbClr val="CFD5EA"/>
            </a:solidFill>
            <a:prstDash val="solid"/>
          </a:ln>
        </p:spPr>
      </p:sp>
      <p:sp>
        <p:nvSpPr>
          <p:cNvPr id="24" name="Text 21"/>
          <p:cNvSpPr/>
          <p:nvPr>
            <p:custDataLst>
              <p:tags r:id="rId15"/>
            </p:custDataLst>
          </p:nvPr>
        </p:nvSpPr>
        <p:spPr>
          <a:xfrm>
            <a:off x="4553712" y="2971800"/>
            <a:ext cx="2999232" cy="1051560"/>
          </a:xfrm>
          <a:prstGeom prst="rect">
            <a:avLst/>
          </a:prstGeom>
          <a:noFill/>
        </p:spPr>
        <p:txBody>
          <a:bodyPr wrap="square" lIns="0" tIns="0" rIns="0" bIns="0" rtlCol="0" anchor="t"/>
          <a:lstStyle/>
          <a:p>
            <a:pPr marL="0" indent="0">
              <a:lnSpc>
                <a:spcPct val="105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结论确定可解释，但遇多余元件、角色标注偏弱、输入输出重映射等边界情形需不断打补丁。</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2"/>
          <p:cNvSpPr/>
          <p:nvPr>
            <p:custDataLst>
              <p:tags r:id="rId16"/>
            </p:custDataLst>
          </p:nvPr>
        </p:nvSpPr>
        <p:spPr>
          <a:xfrm>
            <a:off x="8046720" y="1554480"/>
            <a:ext cx="3456432" cy="26060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6" name="Shape 23"/>
          <p:cNvSpPr/>
          <p:nvPr>
            <p:custDataLst>
              <p:tags r:id="rId17"/>
            </p:custDataLst>
          </p:nvPr>
        </p:nvSpPr>
        <p:spPr>
          <a:xfrm>
            <a:off x="8046720" y="1554480"/>
            <a:ext cx="73152" cy="2606040"/>
          </a:xfrm>
          <a:prstGeom prst="rect">
            <a:avLst/>
          </a:prstGeom>
          <a:solidFill>
            <a:srgbClr val="C00000"/>
          </a:solidFill>
        </p:spPr>
      </p:sp>
      <p:sp>
        <p:nvSpPr>
          <p:cNvPr id="27" name="Text 24"/>
          <p:cNvSpPr/>
          <p:nvPr>
            <p:custDataLst>
              <p:tags r:id="rId18"/>
            </p:custDataLst>
          </p:nvPr>
        </p:nvSpPr>
        <p:spPr>
          <a:xfrm>
            <a:off x="8302752" y="1755648"/>
            <a:ext cx="2999232" cy="274320"/>
          </a:xfrm>
          <a:prstGeom prst="rect">
            <a:avLst/>
          </a:prstGeom>
          <a:noFill/>
        </p:spPr>
        <p:txBody>
          <a:bodyPr wrap="square" lIns="0" tIns="0" rIns="0" bIns="0" rtlCol="0" anchor="ctr"/>
          <a:lstStyle/>
          <a:p>
            <a:pPr marL="0" indent="0">
              <a:buNone/>
            </a:pPr>
            <a:r>
              <a:rPr lang="en-US" sz="1400" b="1" kern="0" spc="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路线 3</a:t>
            </a:r>
            <a:endParaRPr lang="en-US" sz="1400" b="1" kern="0" spc="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Text 25"/>
          <p:cNvSpPr/>
          <p:nvPr>
            <p:custDataLst>
              <p:tags r:id="rId19"/>
            </p:custDataLst>
          </p:nvPr>
        </p:nvSpPr>
        <p:spPr>
          <a:xfrm>
            <a:off x="8302752" y="2011680"/>
            <a:ext cx="2999232" cy="548640"/>
          </a:xfrm>
          <a:prstGeom prst="rect">
            <a:avLst/>
          </a:prstGeom>
          <a:noFill/>
        </p:spPr>
        <p:txBody>
          <a:bodyPr wrap="square" lIns="0" tIns="0" rIns="0" bIns="0" rtlCol="0" anchor="t"/>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端到端大模型看图判错</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6"/>
          <p:cNvSpPr/>
          <p:nvPr>
            <p:custDataLst>
              <p:tags r:id="rId20"/>
            </p:custDataLst>
          </p:nvPr>
        </p:nvSpPr>
        <p:spPr>
          <a:xfrm>
            <a:off x="8302752" y="2542032"/>
            <a:ext cx="2999232" cy="274320"/>
          </a:xfrm>
          <a:prstGeom prst="rect">
            <a:avLst/>
          </a:prstGeom>
          <a:noFill/>
        </p:spPr>
        <p:txBody>
          <a:bodyPr wrap="square" lIns="0" tIns="0" rIns="0" bIns="0" rtlCol="0" anchor="ctr"/>
          <a:lstStyle/>
          <a:p>
            <a:pPr marL="0" indent="0">
              <a:buNone/>
            </a:pPr>
            <a:r>
              <a:rPr lang="en-US" sz="14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多模态大模型直接判断</a:t>
            </a:r>
            <a:endParaRPr lang="en-US" sz="14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7"/>
          <p:cNvSpPr/>
          <p:nvPr>
            <p:custDataLst>
              <p:tags r:id="rId21"/>
            </p:custDataLst>
          </p:nvPr>
        </p:nvSpPr>
        <p:spPr>
          <a:xfrm>
            <a:off x="8302752" y="2880360"/>
            <a:ext cx="2944368" cy="0"/>
          </a:xfrm>
          <a:prstGeom prst="line">
            <a:avLst/>
          </a:prstGeom>
          <a:noFill/>
          <a:ln w="12700">
            <a:solidFill>
              <a:srgbClr val="CFD5EA"/>
            </a:solidFill>
            <a:prstDash val="solid"/>
          </a:ln>
        </p:spPr>
      </p:sp>
      <p:sp>
        <p:nvSpPr>
          <p:cNvPr id="31" name="Text 28"/>
          <p:cNvSpPr/>
          <p:nvPr>
            <p:custDataLst>
              <p:tags r:id="rId22"/>
            </p:custDataLst>
          </p:nvPr>
        </p:nvSpPr>
        <p:spPr>
          <a:xfrm>
            <a:off x="8302752" y="2971800"/>
            <a:ext cx="2999232" cy="1051560"/>
          </a:xfrm>
          <a:prstGeom prst="rect">
            <a:avLst/>
          </a:prstGeom>
          <a:noFill/>
        </p:spPr>
        <p:txBody>
          <a:bodyPr wrap="square" lIns="0" tIns="0" rIns="0" bIns="0" rtlCol="0" anchor="t"/>
          <a:lstStyle/>
          <a:p>
            <a:pPr marL="0" indent="0">
              <a:lnSpc>
                <a:spcPct val="105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视觉理解能力强，但输出难审计、易生幻觉，不宜作为正误判定的唯一依据。</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9"/>
          <p:cNvSpPr/>
          <p:nvPr/>
        </p:nvSpPr>
        <p:spPr>
          <a:xfrm>
            <a:off x="548640" y="4434840"/>
            <a:ext cx="11094720" cy="1659255"/>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grpSp>
        <p:nvGrpSpPr>
          <p:cNvPr id="38" name="组合 37"/>
          <p:cNvGrpSpPr>
            <a:grpSpLocks noChangeAspect="1"/>
          </p:cNvGrpSpPr>
          <p:nvPr/>
        </p:nvGrpSpPr>
        <p:grpSpPr>
          <a:xfrm>
            <a:off x="774065" y="4707890"/>
            <a:ext cx="1100455" cy="1100455"/>
            <a:chOff x="1296" y="7301"/>
            <a:chExt cx="806" cy="806"/>
          </a:xfrm>
        </p:grpSpPr>
        <p:sp>
          <p:nvSpPr>
            <p:cNvPr id="33" name="Shape 30"/>
            <p:cNvSpPr/>
            <p:nvPr/>
          </p:nvSpPr>
          <p:spPr>
            <a:xfrm>
              <a:off x="1296" y="7301"/>
              <a:ext cx="806" cy="806"/>
            </a:xfrm>
            <a:prstGeom prst="roundRect">
              <a:avLst>
                <a:gd name="adj" fmla="val 22000"/>
              </a:avLst>
            </a:prstGeom>
            <a:solidFill>
              <a:srgbClr val="5B9BD5"/>
            </a:solidFill>
          </p:spPr>
        </p:sp>
        <p:pic>
          <p:nvPicPr>
            <p:cNvPr id="34" name="Image 1" descr="preencoded.png"/>
            <p:cNvPicPr>
              <a:picLocks noChangeAspect="1"/>
            </p:cNvPicPr>
            <p:nvPr/>
          </p:nvPicPr>
          <p:blipFill>
            <a:blip r:embed="rId23"/>
            <a:stretch>
              <a:fillRect/>
            </a:stretch>
          </p:blipFill>
          <p:spPr>
            <a:xfrm>
              <a:off x="1506" y="7510"/>
              <a:ext cx="387" cy="387"/>
            </a:xfrm>
            <a:prstGeom prst="rect">
              <a:avLst/>
            </a:prstGeom>
          </p:spPr>
        </p:pic>
      </p:grpSp>
      <p:sp>
        <p:nvSpPr>
          <p:cNvPr id="35" name="Text 31"/>
          <p:cNvSpPr/>
          <p:nvPr/>
        </p:nvSpPr>
        <p:spPr>
          <a:xfrm>
            <a:off x="2096135" y="4434840"/>
            <a:ext cx="9318625" cy="1663700"/>
          </a:xfrm>
          <a:prstGeom prst="rect">
            <a:avLst/>
          </a:prstGeom>
          <a:noFill/>
        </p:spPr>
        <p:txBody>
          <a:bodyPr wrap="square" lIns="0" tIns="0" rIns="0" bIns="0" rtlCol="0" anchor="ctr"/>
          <a:lstStyle/>
          <a:p>
            <a:pPr marL="0" indent="0">
              <a:lnSpc>
                <a:spcPct val="105000"/>
              </a:lnSpc>
              <a:buNone/>
            </a:pP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本</a:t>
            </a:r>
            <a:r>
              <a:rPr lang="zh-CN" alt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项目</a:t>
            </a: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路线：</a:t>
            </a:r>
            <a:endPar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05000"/>
              </a:lnSpc>
              <a:buNone/>
            </a:pPr>
            <a:r>
              <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由确定性算法构建可验证的结构化事实链承担事实判断，再由智能体在受约束证据范围内生成解释——“神经—符号解耦”贯穿全文，在可解释性与安全性之间取得平衡。</a:t>
            </a:r>
            <a:endPar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Text 33"/>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第一章 · 绪论</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需求分析与本文主要工作</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417320"/>
            <a:ext cx="41148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系统同时服务三类用户</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1905000"/>
            <a:ext cx="4160520" cy="8686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nvSpPr>
        <p:spPr>
          <a:xfrm>
            <a:off x="548640" y="1905000"/>
            <a:ext cx="73152" cy="868680"/>
          </a:xfrm>
          <a:prstGeom prst="rect">
            <a:avLst/>
          </a:prstGeom>
          <a:solidFill>
            <a:srgbClr val="4472C4"/>
          </a:solidFill>
        </p:spPr>
      </p:sp>
      <p:sp>
        <p:nvSpPr>
          <p:cNvPr id="14" name="Shape 11"/>
          <p:cNvSpPr/>
          <p:nvPr/>
        </p:nvSpPr>
        <p:spPr>
          <a:xfrm>
            <a:off x="749808" y="2097024"/>
            <a:ext cx="475488" cy="475488"/>
          </a:xfrm>
          <a:prstGeom prst="roundRect">
            <a:avLst>
              <a:gd name="adj" fmla="val 22000"/>
            </a:avLst>
          </a:prstGeom>
          <a:solidFill>
            <a:schemeClr val="accent1">
              <a:lumMod val="40000"/>
              <a:lumOff val="60000"/>
            </a:schemeClr>
          </a:solidFill>
        </p:spPr>
      </p:sp>
      <p:pic>
        <p:nvPicPr>
          <p:cNvPr id="15" name="Image 1" descr="preencoded.png"/>
          <p:cNvPicPr>
            <a:picLocks noChangeAspect="1"/>
          </p:cNvPicPr>
          <p:nvPr/>
        </p:nvPicPr>
        <p:blipFill>
          <a:blip r:embed="rId2"/>
          <a:stretch>
            <a:fillRect/>
          </a:stretch>
        </p:blipFill>
        <p:spPr>
          <a:xfrm>
            <a:off x="873435" y="2220651"/>
            <a:ext cx="228234" cy="228234"/>
          </a:xfrm>
          <a:prstGeom prst="rect">
            <a:avLst/>
          </a:prstGeom>
        </p:spPr>
      </p:pic>
      <p:sp>
        <p:nvSpPr>
          <p:cNvPr id="16" name="Text 12"/>
          <p:cNvSpPr/>
          <p:nvPr/>
        </p:nvSpPr>
        <p:spPr>
          <a:xfrm>
            <a:off x="1371600" y="2014728"/>
            <a:ext cx="3108960" cy="320040"/>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学生</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3"/>
          <p:cNvSpPr/>
          <p:nvPr/>
        </p:nvSpPr>
        <p:spPr>
          <a:xfrm>
            <a:off x="1371600" y="2325624"/>
            <a:ext cx="3200400" cy="38404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快速知道电路哪里错、为什么错、如何改</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4"/>
          <p:cNvSpPr/>
          <p:nvPr/>
        </p:nvSpPr>
        <p:spPr>
          <a:xfrm>
            <a:off x="548640" y="3227832"/>
            <a:ext cx="4160520" cy="8686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9" name="Shape 15"/>
          <p:cNvSpPr/>
          <p:nvPr/>
        </p:nvSpPr>
        <p:spPr>
          <a:xfrm>
            <a:off x="548640" y="3227832"/>
            <a:ext cx="73152" cy="868680"/>
          </a:xfrm>
          <a:prstGeom prst="rect">
            <a:avLst/>
          </a:prstGeom>
          <a:solidFill>
            <a:srgbClr val="4472C4"/>
          </a:solidFill>
        </p:spPr>
      </p:sp>
      <p:sp>
        <p:nvSpPr>
          <p:cNvPr id="20" name="Shape 16"/>
          <p:cNvSpPr/>
          <p:nvPr/>
        </p:nvSpPr>
        <p:spPr>
          <a:xfrm>
            <a:off x="749808" y="3419856"/>
            <a:ext cx="475488" cy="475488"/>
          </a:xfrm>
          <a:prstGeom prst="roundRect">
            <a:avLst>
              <a:gd name="adj" fmla="val 22000"/>
            </a:avLst>
          </a:prstGeom>
          <a:solidFill>
            <a:schemeClr val="accent1">
              <a:lumMod val="40000"/>
              <a:lumOff val="60000"/>
            </a:schemeClr>
          </a:solidFill>
        </p:spPr>
      </p:sp>
      <p:pic>
        <p:nvPicPr>
          <p:cNvPr id="21" name="Image 2" descr="preencoded.png"/>
          <p:cNvPicPr>
            <a:picLocks noChangeAspect="1"/>
          </p:cNvPicPr>
          <p:nvPr/>
        </p:nvPicPr>
        <p:blipFill>
          <a:blip r:embed="rId3"/>
          <a:stretch>
            <a:fillRect/>
          </a:stretch>
        </p:blipFill>
        <p:spPr>
          <a:xfrm>
            <a:off x="873435" y="3543483"/>
            <a:ext cx="228234" cy="228234"/>
          </a:xfrm>
          <a:prstGeom prst="rect">
            <a:avLst/>
          </a:prstGeom>
        </p:spPr>
      </p:pic>
      <p:sp>
        <p:nvSpPr>
          <p:cNvPr id="22" name="Text 17"/>
          <p:cNvSpPr/>
          <p:nvPr/>
        </p:nvSpPr>
        <p:spPr>
          <a:xfrm>
            <a:off x="1371600" y="3337560"/>
            <a:ext cx="3108960" cy="320040"/>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教师 / 助教</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18"/>
          <p:cNvSpPr/>
          <p:nvPr/>
        </p:nvSpPr>
        <p:spPr>
          <a:xfrm>
            <a:off x="1371600" y="3648456"/>
            <a:ext cx="3200400" cy="38404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掌握多个实验台状态、定位共性错误</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Shape 19"/>
          <p:cNvSpPr/>
          <p:nvPr/>
        </p:nvSpPr>
        <p:spPr>
          <a:xfrm>
            <a:off x="548640" y="4565904"/>
            <a:ext cx="4160520" cy="8686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5" name="Shape 20"/>
          <p:cNvSpPr/>
          <p:nvPr/>
        </p:nvSpPr>
        <p:spPr>
          <a:xfrm>
            <a:off x="548640" y="4565904"/>
            <a:ext cx="73152" cy="868680"/>
          </a:xfrm>
          <a:prstGeom prst="rect">
            <a:avLst/>
          </a:prstGeom>
          <a:solidFill>
            <a:srgbClr val="4472C4"/>
          </a:solidFill>
        </p:spPr>
      </p:sp>
      <p:sp>
        <p:nvSpPr>
          <p:cNvPr id="26" name="Shape 21"/>
          <p:cNvSpPr/>
          <p:nvPr/>
        </p:nvSpPr>
        <p:spPr>
          <a:xfrm>
            <a:off x="749808" y="4757928"/>
            <a:ext cx="475488" cy="475488"/>
          </a:xfrm>
          <a:prstGeom prst="roundRect">
            <a:avLst>
              <a:gd name="adj" fmla="val 22000"/>
            </a:avLst>
          </a:prstGeom>
          <a:solidFill>
            <a:schemeClr val="accent1">
              <a:lumMod val="40000"/>
              <a:lumOff val="60000"/>
            </a:schemeClr>
          </a:solidFill>
        </p:spPr>
      </p:sp>
      <p:pic>
        <p:nvPicPr>
          <p:cNvPr id="27" name="Image 3" descr="preencoded.png"/>
          <p:cNvPicPr>
            <a:picLocks noChangeAspect="1"/>
          </p:cNvPicPr>
          <p:nvPr/>
        </p:nvPicPr>
        <p:blipFill>
          <a:blip r:embed="rId4"/>
          <a:stretch>
            <a:fillRect/>
          </a:stretch>
        </p:blipFill>
        <p:spPr>
          <a:xfrm>
            <a:off x="873435" y="4881555"/>
            <a:ext cx="228234" cy="228234"/>
          </a:xfrm>
          <a:prstGeom prst="rect">
            <a:avLst/>
          </a:prstGeom>
        </p:spPr>
      </p:pic>
      <p:sp>
        <p:nvSpPr>
          <p:cNvPr id="28" name="Text 22"/>
          <p:cNvSpPr/>
          <p:nvPr/>
        </p:nvSpPr>
        <p:spPr>
          <a:xfrm>
            <a:off x="1371600" y="4675632"/>
            <a:ext cx="3108960" cy="320040"/>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系统维护者</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3"/>
          <p:cNvSpPr/>
          <p:nvPr/>
        </p:nvSpPr>
        <p:spPr>
          <a:xfrm>
            <a:off x="1371600" y="4986528"/>
            <a:ext cx="3200400" cy="38404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各模块数据契约稳定、便于后续扩展</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Text 24"/>
          <p:cNvSpPr/>
          <p:nvPr/>
        </p:nvSpPr>
        <p:spPr>
          <a:xfrm>
            <a:off x="5212080" y="1417320"/>
            <a:ext cx="644652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本</a:t>
            </a:r>
            <a:r>
              <a:rPr lang="zh-CN" alt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项目</a:t>
            </a: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四项主要贡献</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Shape 25"/>
          <p:cNvSpPr/>
          <p:nvPr/>
        </p:nvSpPr>
        <p:spPr>
          <a:xfrm>
            <a:off x="5212080" y="1905000"/>
            <a:ext cx="6446520" cy="10820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2" name="Shape 26"/>
          <p:cNvSpPr/>
          <p:nvPr/>
        </p:nvSpPr>
        <p:spPr>
          <a:xfrm>
            <a:off x="5212080" y="1905000"/>
            <a:ext cx="76200" cy="1082040"/>
          </a:xfrm>
          <a:prstGeom prst="rect">
            <a:avLst/>
          </a:prstGeom>
          <a:solidFill>
            <a:srgbClr val="5B9BD5"/>
          </a:solidFill>
        </p:spPr>
      </p:sp>
      <p:sp>
        <p:nvSpPr>
          <p:cNvPr id="33" name="Shape 27"/>
          <p:cNvSpPr/>
          <p:nvPr/>
        </p:nvSpPr>
        <p:spPr>
          <a:xfrm>
            <a:off x="5413248" y="2124456"/>
            <a:ext cx="438912" cy="438912"/>
          </a:xfrm>
          <a:prstGeom prst="ellipse">
            <a:avLst/>
          </a:prstGeom>
          <a:solidFill>
            <a:srgbClr val="E9EBF5"/>
          </a:solidFill>
        </p:spPr>
      </p:sp>
      <p:sp>
        <p:nvSpPr>
          <p:cNvPr id="34" name="Text 28"/>
          <p:cNvSpPr/>
          <p:nvPr/>
        </p:nvSpPr>
        <p:spPr>
          <a:xfrm>
            <a:off x="5413248" y="2124456"/>
            <a:ext cx="438912" cy="438912"/>
          </a:xfrm>
          <a:prstGeom prst="rect">
            <a:avLst/>
          </a:prstGeom>
          <a:noFill/>
        </p:spPr>
        <p:txBody>
          <a:bodyPr wrap="square" lIns="0" tIns="0" rIns="0" bIns="0" rtlCol="0" anchor="ctr"/>
          <a:lstStyle/>
          <a:p>
            <a:pPr marL="0" indent="0" algn="ctr">
              <a:buNone/>
            </a:pPr>
            <a:r>
              <a:rPr 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000" dirty="0"/>
          </a:p>
        </p:txBody>
      </p:sp>
      <p:sp>
        <p:nvSpPr>
          <p:cNvPr id="35" name="Text 29"/>
          <p:cNvSpPr/>
          <p:nvPr/>
        </p:nvSpPr>
        <p:spPr>
          <a:xfrm>
            <a:off x="5989320" y="1996440"/>
            <a:ext cx="5486400" cy="329184"/>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引脚级电气网表重构</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0"/>
          <p:cNvSpPr/>
          <p:nvPr/>
        </p:nvSpPr>
        <p:spPr>
          <a:xfrm>
            <a:off x="5989320" y="2354580"/>
            <a:ext cx="5486400" cy="633095"/>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以关键点检测与孔位吸附替代端到端检测，将识别精度下沉至引脚与孔位</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31"/>
          <p:cNvSpPr/>
          <p:nvPr/>
        </p:nvSpPr>
        <p:spPr>
          <a:xfrm>
            <a:off x="5212080" y="3037205"/>
            <a:ext cx="6446520" cy="105854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8" name="Shape 32"/>
          <p:cNvSpPr/>
          <p:nvPr/>
        </p:nvSpPr>
        <p:spPr>
          <a:xfrm>
            <a:off x="5212080" y="3037205"/>
            <a:ext cx="76200" cy="1058545"/>
          </a:xfrm>
          <a:prstGeom prst="rect">
            <a:avLst/>
          </a:prstGeom>
          <a:solidFill>
            <a:srgbClr val="5B9BD5"/>
          </a:solidFill>
        </p:spPr>
      </p:sp>
      <p:sp>
        <p:nvSpPr>
          <p:cNvPr id="39" name="Shape 33"/>
          <p:cNvSpPr/>
          <p:nvPr/>
        </p:nvSpPr>
        <p:spPr>
          <a:xfrm>
            <a:off x="5413248" y="3256788"/>
            <a:ext cx="438912" cy="438912"/>
          </a:xfrm>
          <a:prstGeom prst="ellipse">
            <a:avLst/>
          </a:prstGeom>
          <a:solidFill>
            <a:srgbClr val="E9EBF5"/>
          </a:solidFill>
        </p:spPr>
      </p:sp>
      <p:sp>
        <p:nvSpPr>
          <p:cNvPr id="40" name="Text 34"/>
          <p:cNvSpPr/>
          <p:nvPr/>
        </p:nvSpPr>
        <p:spPr>
          <a:xfrm>
            <a:off x="5413248" y="3256788"/>
            <a:ext cx="438912" cy="438912"/>
          </a:xfrm>
          <a:prstGeom prst="rect">
            <a:avLst/>
          </a:prstGeom>
          <a:noFill/>
        </p:spPr>
        <p:txBody>
          <a:bodyPr wrap="square" lIns="0" tIns="0" rIns="0" bIns="0" rtlCol="0" anchor="ctr"/>
          <a:lstStyle/>
          <a:p>
            <a:pPr marL="0" indent="0" algn="ctr">
              <a:buNone/>
            </a:pPr>
            <a:r>
              <a:rPr 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41" name="Text 35"/>
          <p:cNvSpPr/>
          <p:nvPr/>
        </p:nvSpPr>
        <p:spPr>
          <a:xfrm>
            <a:off x="5989320" y="3128772"/>
            <a:ext cx="5486400" cy="329184"/>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可审计的神经—符号诊断链</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Text 36"/>
          <p:cNvSpPr/>
          <p:nvPr/>
        </p:nvSpPr>
        <p:spPr>
          <a:xfrm>
            <a:off x="5989320" y="3463925"/>
            <a:ext cx="5486400" cy="582295"/>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确定性图比对承担对错判断，智能体仅在受约束证据内解释，不可绕过校验器拦截无依据陈述</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3" name="Shape 37"/>
          <p:cNvSpPr/>
          <p:nvPr/>
        </p:nvSpPr>
        <p:spPr>
          <a:xfrm>
            <a:off x="5212080" y="4161790"/>
            <a:ext cx="6446520" cy="10718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44" name="Shape 38"/>
          <p:cNvSpPr/>
          <p:nvPr/>
        </p:nvSpPr>
        <p:spPr>
          <a:xfrm>
            <a:off x="5212080" y="4161790"/>
            <a:ext cx="76200" cy="1071880"/>
          </a:xfrm>
          <a:prstGeom prst="rect">
            <a:avLst/>
          </a:prstGeom>
          <a:solidFill>
            <a:srgbClr val="5B9BD5"/>
          </a:solidFill>
        </p:spPr>
      </p:sp>
      <p:sp>
        <p:nvSpPr>
          <p:cNvPr id="45" name="Shape 39"/>
          <p:cNvSpPr/>
          <p:nvPr/>
        </p:nvSpPr>
        <p:spPr>
          <a:xfrm>
            <a:off x="5413248" y="4381500"/>
            <a:ext cx="438912" cy="438912"/>
          </a:xfrm>
          <a:prstGeom prst="ellipse">
            <a:avLst/>
          </a:prstGeom>
          <a:solidFill>
            <a:srgbClr val="E9EBF5"/>
          </a:solidFill>
        </p:spPr>
      </p:sp>
      <p:sp>
        <p:nvSpPr>
          <p:cNvPr id="46" name="Text 40"/>
          <p:cNvSpPr/>
          <p:nvPr/>
        </p:nvSpPr>
        <p:spPr>
          <a:xfrm>
            <a:off x="5413248" y="4381500"/>
            <a:ext cx="438912" cy="438912"/>
          </a:xfrm>
          <a:prstGeom prst="rect">
            <a:avLst/>
          </a:prstGeom>
          <a:noFill/>
        </p:spPr>
        <p:txBody>
          <a:bodyPr wrap="square" lIns="0" tIns="0" rIns="0" bIns="0" rtlCol="0" anchor="ctr"/>
          <a:lstStyle/>
          <a:p>
            <a:pPr marL="0" indent="0" algn="ctr">
              <a:buNone/>
            </a:pPr>
            <a:r>
              <a:rPr 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000" dirty="0"/>
          </a:p>
        </p:txBody>
      </p:sp>
      <p:sp>
        <p:nvSpPr>
          <p:cNvPr id="47" name="Text 41"/>
          <p:cNvSpPr/>
          <p:nvPr/>
        </p:nvSpPr>
        <p:spPr>
          <a:xfrm>
            <a:off x="5989320" y="4253484"/>
            <a:ext cx="5486400" cy="329184"/>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边缘端侧蒸馏与部署</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8" name="Text 42"/>
          <p:cNvSpPr/>
          <p:nvPr/>
        </p:nvSpPr>
        <p:spPr>
          <a:xfrm>
            <a:off x="5989320" y="4611624"/>
            <a:ext cx="5486400" cy="420624"/>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双教师蒸馏 + INT4 量化，在 DK-2500 上以 NPU/iGPU/CPU 异构分工实现低功耗本地推理</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9" name="Shape 43"/>
          <p:cNvSpPr/>
          <p:nvPr/>
        </p:nvSpPr>
        <p:spPr>
          <a:xfrm>
            <a:off x="5212080" y="5271770"/>
            <a:ext cx="6446520" cy="103886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50" name="Shape 44"/>
          <p:cNvSpPr/>
          <p:nvPr/>
        </p:nvSpPr>
        <p:spPr>
          <a:xfrm>
            <a:off x="5212080" y="5271770"/>
            <a:ext cx="76200" cy="1038860"/>
          </a:xfrm>
          <a:prstGeom prst="rect">
            <a:avLst/>
          </a:prstGeom>
          <a:solidFill>
            <a:srgbClr val="5B9BD5"/>
          </a:solidFill>
        </p:spPr>
      </p:sp>
      <p:sp>
        <p:nvSpPr>
          <p:cNvPr id="51" name="Shape 45"/>
          <p:cNvSpPr/>
          <p:nvPr/>
        </p:nvSpPr>
        <p:spPr>
          <a:xfrm>
            <a:off x="5413248" y="5490972"/>
            <a:ext cx="438912" cy="438912"/>
          </a:xfrm>
          <a:prstGeom prst="ellipse">
            <a:avLst/>
          </a:prstGeom>
          <a:solidFill>
            <a:srgbClr val="E9EBF5"/>
          </a:solidFill>
        </p:spPr>
      </p:sp>
      <p:sp>
        <p:nvSpPr>
          <p:cNvPr id="52" name="Text 46"/>
          <p:cNvSpPr/>
          <p:nvPr/>
        </p:nvSpPr>
        <p:spPr>
          <a:xfrm>
            <a:off x="5413248" y="5490972"/>
            <a:ext cx="438912" cy="438912"/>
          </a:xfrm>
          <a:prstGeom prst="rect">
            <a:avLst/>
          </a:prstGeom>
          <a:noFill/>
        </p:spPr>
        <p:txBody>
          <a:bodyPr wrap="square" lIns="0" tIns="0" rIns="0" bIns="0" rtlCol="0" anchor="ctr"/>
          <a:lstStyle/>
          <a:p>
            <a:pPr marL="0" indent="0" algn="ctr">
              <a:buNone/>
            </a:pPr>
            <a:r>
              <a:rPr 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53" name="Text 47"/>
          <p:cNvSpPr/>
          <p:nvPr/>
        </p:nvSpPr>
        <p:spPr>
          <a:xfrm>
            <a:off x="5989320" y="5362956"/>
            <a:ext cx="5486400" cy="329184"/>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三组正交消融验证</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4" name="Text 48"/>
          <p:cNvSpPr/>
          <p:nvPr/>
        </p:nvSpPr>
        <p:spPr>
          <a:xfrm>
            <a:off x="5989320" y="5736336"/>
            <a:ext cx="5486400" cy="420624"/>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分别量化检索契约、模型蒸馏与量化各自的贡献</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6" name="Text 50"/>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第二章 · 系统方案</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项目定位、目的与必要性</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nvSpPr>
        <p:spPr>
          <a:xfrm>
            <a:off x="548640" y="1508760"/>
            <a:ext cx="11094720" cy="1555115"/>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12" name="Shape 9"/>
          <p:cNvSpPr/>
          <p:nvPr/>
        </p:nvSpPr>
        <p:spPr>
          <a:xfrm>
            <a:off x="548640" y="1508760"/>
            <a:ext cx="76200" cy="1555115"/>
          </a:xfrm>
          <a:prstGeom prst="rect">
            <a:avLst/>
          </a:prstGeom>
          <a:solidFill>
            <a:srgbClr val="4472C4"/>
          </a:solidFill>
        </p:spPr>
      </p:sp>
      <p:sp>
        <p:nvSpPr>
          <p:cNvPr id="13" name="Text 10"/>
          <p:cNvSpPr/>
          <p:nvPr/>
        </p:nvSpPr>
        <p:spPr>
          <a:xfrm>
            <a:off x="868680" y="1664208"/>
            <a:ext cx="10515600" cy="41148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面向电子实验教学的边缘智能助教系统</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Text 11"/>
          <p:cNvSpPr/>
          <p:nvPr/>
        </p:nvSpPr>
        <p:spPr>
          <a:xfrm>
            <a:off x="868680" y="2066544"/>
            <a:ext cx="10698480" cy="64008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以学生实际搭建的面包板照片为输入，将元件、引脚、孔位与电气连接重建为可验证、可审计的结构化事实，再与参考电路逻辑比较，输出错误位置、成因、风险等级与修改建议——把高度依赖经验的实验巡检形式化为可复现、可解释的诊断流程。</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2"/>
          <p:cNvSpPr/>
          <p:nvPr/>
        </p:nvSpPr>
        <p:spPr>
          <a:xfrm>
            <a:off x="548640" y="3284220"/>
            <a:ext cx="5486400" cy="320040"/>
          </a:xfrm>
          <a:prstGeom prst="rect">
            <a:avLst/>
          </a:prstGeom>
          <a:noFill/>
        </p:spPr>
        <p:txBody>
          <a:bodyPr wrap="square" lIns="0" tIns="0" rIns="0" bIns="0" rtlCol="0" anchor="ctr"/>
          <a:lstStyle/>
          <a:p>
            <a:pPr marL="0" indent="0">
              <a:buNone/>
            </a:pPr>
            <a:r>
              <a:rPr lang="en-US" sz="22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系统主线：逐级事实链</a:t>
            </a:r>
            <a:endParaRPr lang="en-US" sz="22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3"/>
          <p:cNvSpPr/>
          <p:nvPr/>
        </p:nvSpPr>
        <p:spPr>
          <a:xfrm>
            <a:off x="548640" y="3741420"/>
            <a:ext cx="1481328" cy="713232"/>
          </a:xfrm>
          <a:prstGeom prst="roundRect">
            <a:avLst>
              <a:gd name="adj" fmla="val 10256"/>
            </a:avLst>
          </a:prstGeom>
          <a:solidFill>
            <a:srgbClr val="14326C"/>
          </a:solidFill>
          <a:ln w="16510">
            <a:solidFill>
              <a:srgbClr val="14326C"/>
            </a:solidFill>
            <a:prstDash val="solid"/>
          </a:ln>
          <a:effectLst>
            <a:outerShdw blurRad="76200" dist="25400" dir="5400000" algn="bl" rotWithShape="0">
              <a:srgbClr val="9AAFD0">
                <a:alpha val="10000"/>
              </a:srgbClr>
            </a:outerShdw>
          </a:effectLst>
        </p:spPr>
      </p:sp>
      <p:sp>
        <p:nvSpPr>
          <p:cNvPr id="17" name="Text 14"/>
          <p:cNvSpPr/>
          <p:nvPr/>
        </p:nvSpPr>
        <p:spPr>
          <a:xfrm>
            <a:off x="548640" y="3741420"/>
            <a:ext cx="1481328"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元件</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Text 15"/>
          <p:cNvSpPr/>
          <p:nvPr/>
        </p:nvSpPr>
        <p:spPr>
          <a:xfrm>
            <a:off x="2029968" y="3741420"/>
            <a:ext cx="441289" cy="713232"/>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19" name="Shape 16"/>
          <p:cNvSpPr/>
          <p:nvPr/>
        </p:nvSpPr>
        <p:spPr>
          <a:xfrm>
            <a:off x="2471257" y="3741420"/>
            <a:ext cx="1481328" cy="713232"/>
          </a:xfrm>
          <a:prstGeom prst="roundRect">
            <a:avLst>
              <a:gd name="adj" fmla="val 10256"/>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0" name="Text 17"/>
          <p:cNvSpPr/>
          <p:nvPr/>
        </p:nvSpPr>
        <p:spPr>
          <a:xfrm>
            <a:off x="2471257" y="3741420"/>
            <a:ext cx="1481328" cy="713232"/>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引脚</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8"/>
          <p:cNvSpPr/>
          <p:nvPr/>
        </p:nvSpPr>
        <p:spPr>
          <a:xfrm>
            <a:off x="3952585" y="3741420"/>
            <a:ext cx="441289" cy="713232"/>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22" name="Shape 19"/>
          <p:cNvSpPr/>
          <p:nvPr/>
        </p:nvSpPr>
        <p:spPr>
          <a:xfrm>
            <a:off x="4393875" y="3741420"/>
            <a:ext cx="1481328" cy="713232"/>
          </a:xfrm>
          <a:prstGeom prst="roundRect">
            <a:avLst>
              <a:gd name="adj" fmla="val 10256"/>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3" name="Text 20"/>
          <p:cNvSpPr/>
          <p:nvPr/>
        </p:nvSpPr>
        <p:spPr>
          <a:xfrm>
            <a:off x="4393875" y="3741420"/>
            <a:ext cx="1481328" cy="713232"/>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物理孔位</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21"/>
          <p:cNvSpPr/>
          <p:nvPr/>
        </p:nvSpPr>
        <p:spPr>
          <a:xfrm>
            <a:off x="5875203" y="3741420"/>
            <a:ext cx="441289" cy="713232"/>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25" name="Shape 22"/>
          <p:cNvSpPr/>
          <p:nvPr/>
        </p:nvSpPr>
        <p:spPr>
          <a:xfrm>
            <a:off x="6316492" y="3741420"/>
            <a:ext cx="1481328" cy="713232"/>
          </a:xfrm>
          <a:prstGeom prst="roundRect">
            <a:avLst>
              <a:gd name="adj" fmla="val 10256"/>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6" name="Text 23"/>
          <p:cNvSpPr/>
          <p:nvPr/>
        </p:nvSpPr>
        <p:spPr>
          <a:xfrm>
            <a:off x="6316492" y="3741420"/>
            <a:ext cx="1481328" cy="713232"/>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导通节点</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Text 24"/>
          <p:cNvSpPr/>
          <p:nvPr/>
        </p:nvSpPr>
        <p:spPr>
          <a:xfrm>
            <a:off x="7797820" y="3741420"/>
            <a:ext cx="441289" cy="713232"/>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28" name="Shape 25"/>
          <p:cNvSpPr/>
          <p:nvPr/>
        </p:nvSpPr>
        <p:spPr>
          <a:xfrm>
            <a:off x="8239110" y="3741420"/>
            <a:ext cx="1481328" cy="713232"/>
          </a:xfrm>
          <a:prstGeom prst="roundRect">
            <a:avLst>
              <a:gd name="adj" fmla="val 10256"/>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9" name="Text 26"/>
          <p:cNvSpPr/>
          <p:nvPr/>
        </p:nvSpPr>
        <p:spPr>
          <a:xfrm>
            <a:off x="8239110" y="3741420"/>
            <a:ext cx="1481328" cy="713232"/>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电气网络</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Text 27"/>
          <p:cNvSpPr/>
          <p:nvPr/>
        </p:nvSpPr>
        <p:spPr>
          <a:xfrm>
            <a:off x="9720438" y="3741420"/>
            <a:ext cx="441289" cy="713232"/>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31" name="Shape 28"/>
          <p:cNvSpPr/>
          <p:nvPr/>
        </p:nvSpPr>
        <p:spPr>
          <a:xfrm>
            <a:off x="10161727" y="3741420"/>
            <a:ext cx="1481328" cy="713232"/>
          </a:xfrm>
          <a:prstGeom prst="roundRect">
            <a:avLst>
              <a:gd name="adj" fmla="val 10256"/>
            </a:avLst>
          </a:prstGeom>
          <a:solidFill>
            <a:srgbClr val="14326C"/>
          </a:solidFill>
          <a:ln w="16510">
            <a:solidFill>
              <a:srgbClr val="14326C"/>
            </a:solidFill>
            <a:prstDash val="solid"/>
          </a:ln>
          <a:effectLst>
            <a:outerShdw blurRad="76200" dist="25400" dir="5400000" algn="bl" rotWithShape="0">
              <a:srgbClr val="9AAFD0">
                <a:alpha val="10000"/>
              </a:srgbClr>
            </a:outerShdw>
          </a:effectLst>
        </p:spPr>
      </p:sp>
      <p:sp>
        <p:nvSpPr>
          <p:cNvPr id="32" name="Text 29"/>
          <p:cNvSpPr/>
          <p:nvPr/>
        </p:nvSpPr>
        <p:spPr>
          <a:xfrm>
            <a:off x="10161727" y="3741420"/>
            <a:ext cx="1481328"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结构化网表</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30"/>
          <p:cNvSpPr/>
          <p:nvPr/>
        </p:nvSpPr>
        <p:spPr>
          <a:xfrm>
            <a:off x="548640" y="4747260"/>
            <a:ext cx="11094415" cy="822960"/>
          </a:xfrm>
          <a:prstGeom prst="rect">
            <a:avLst/>
          </a:prstGeom>
          <a:noFill/>
        </p:spPr>
        <p:txBody>
          <a:bodyPr wrap="square" lIns="0" tIns="0" rIns="0" bIns="0" rtlCol="0" anchor="t"/>
          <a:lstStyle/>
          <a:p>
            <a:pPr marL="0" indent="0" algn="l">
              <a:lnSpc>
                <a:spcPct val="11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把“某引脚在图像中接近某处”的模糊观察，逐层上升为“某引脚归属某一电气网络”的确定结论。该链路的可靠性，决定了系统能否将像素层面的连接观测转化为确定性的网络归属判断。</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48" name="组合 47"/>
          <p:cNvGrpSpPr>
            <a:grpSpLocks noChangeAspect="1"/>
          </p:cNvGrpSpPr>
          <p:nvPr/>
        </p:nvGrpSpPr>
        <p:grpSpPr>
          <a:xfrm>
            <a:off x="1060450" y="5570220"/>
            <a:ext cx="3059655" cy="720000"/>
            <a:chOff x="3600" y="8988"/>
            <a:chExt cx="3672" cy="864"/>
          </a:xfrm>
        </p:grpSpPr>
        <p:sp>
          <p:nvSpPr>
            <p:cNvPr id="34" name="Shape 31"/>
            <p:cNvSpPr/>
            <p:nvPr/>
          </p:nvSpPr>
          <p:spPr>
            <a:xfrm>
              <a:off x="3600" y="8988"/>
              <a:ext cx="3672" cy="864"/>
            </a:xfrm>
            <a:prstGeom prst="roundRect">
              <a:avLst>
                <a:gd name="adj" fmla="val 50000"/>
              </a:avLst>
            </a:prstGeom>
            <a:solidFill>
              <a:srgbClr val="F3F5F9"/>
            </a:solidFill>
            <a:ln w="12700">
              <a:solidFill>
                <a:srgbClr val="CFD5EA"/>
              </a:solidFill>
              <a:prstDash val="solid"/>
            </a:ln>
          </p:spPr>
          <p:txBody>
            <a:bodyPr/>
            <a:p>
              <a:endParaRPr lang="zh-CN" altLang="en-US"/>
            </a:p>
          </p:txBody>
        </p:sp>
        <p:sp>
          <p:nvSpPr>
            <p:cNvPr id="35" name="Shape 32"/>
            <p:cNvSpPr/>
            <p:nvPr/>
          </p:nvSpPr>
          <p:spPr>
            <a:xfrm>
              <a:off x="3830" y="9175"/>
              <a:ext cx="490" cy="490"/>
            </a:xfrm>
            <a:prstGeom prst="roundRect">
              <a:avLst>
                <a:gd name="adj" fmla="val 22000"/>
              </a:avLst>
            </a:prstGeom>
            <a:solidFill>
              <a:srgbClr val="5B9BD5"/>
            </a:solidFill>
          </p:spPr>
        </p:sp>
        <p:pic>
          <p:nvPicPr>
            <p:cNvPr id="36" name="Image 1" descr="preencoded.png"/>
            <p:cNvPicPr>
              <a:picLocks noChangeAspect="1"/>
            </p:cNvPicPr>
            <p:nvPr/>
          </p:nvPicPr>
          <p:blipFill>
            <a:blip r:embed="rId2"/>
            <a:stretch>
              <a:fillRect/>
            </a:stretch>
          </p:blipFill>
          <p:spPr>
            <a:xfrm>
              <a:off x="3958" y="9302"/>
              <a:ext cx="235" cy="235"/>
            </a:xfrm>
            <a:prstGeom prst="rect">
              <a:avLst/>
            </a:prstGeom>
          </p:spPr>
        </p:pic>
        <p:sp>
          <p:nvSpPr>
            <p:cNvPr id="37" name="Text 33"/>
            <p:cNvSpPr/>
            <p:nvPr/>
          </p:nvSpPr>
          <p:spPr>
            <a:xfrm>
              <a:off x="4464" y="8988"/>
              <a:ext cx="2736" cy="864"/>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可复现</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49" name="组合 48"/>
          <p:cNvGrpSpPr>
            <a:grpSpLocks noChangeAspect="1"/>
          </p:cNvGrpSpPr>
          <p:nvPr/>
        </p:nvGrpSpPr>
        <p:grpSpPr>
          <a:xfrm>
            <a:off x="4502375" y="5594350"/>
            <a:ext cx="3059430" cy="720000"/>
            <a:chOff x="7704" y="8988"/>
            <a:chExt cx="3672" cy="864"/>
          </a:xfrm>
        </p:grpSpPr>
        <p:sp>
          <p:nvSpPr>
            <p:cNvPr id="38" name="Shape 34"/>
            <p:cNvSpPr/>
            <p:nvPr/>
          </p:nvSpPr>
          <p:spPr>
            <a:xfrm>
              <a:off x="7704" y="8988"/>
              <a:ext cx="3672" cy="864"/>
            </a:xfrm>
            <a:prstGeom prst="roundRect">
              <a:avLst>
                <a:gd name="adj" fmla="val 50000"/>
              </a:avLst>
            </a:prstGeom>
            <a:solidFill>
              <a:srgbClr val="F3F5F9"/>
            </a:solidFill>
            <a:ln w="12700">
              <a:solidFill>
                <a:srgbClr val="CFD5EA"/>
              </a:solidFill>
              <a:prstDash val="solid"/>
            </a:ln>
          </p:spPr>
        </p:sp>
        <p:sp>
          <p:nvSpPr>
            <p:cNvPr id="39" name="Shape 35"/>
            <p:cNvSpPr/>
            <p:nvPr/>
          </p:nvSpPr>
          <p:spPr>
            <a:xfrm>
              <a:off x="7934" y="9175"/>
              <a:ext cx="490" cy="490"/>
            </a:xfrm>
            <a:prstGeom prst="roundRect">
              <a:avLst>
                <a:gd name="adj" fmla="val 22000"/>
              </a:avLst>
            </a:prstGeom>
            <a:solidFill>
              <a:srgbClr val="5B9BD5"/>
            </a:solidFill>
          </p:spPr>
        </p:sp>
        <p:pic>
          <p:nvPicPr>
            <p:cNvPr id="40" name="Image 2" descr="preencoded.png"/>
            <p:cNvPicPr>
              <a:picLocks noChangeAspect="1"/>
            </p:cNvPicPr>
            <p:nvPr/>
          </p:nvPicPr>
          <p:blipFill>
            <a:blip r:embed="rId3"/>
            <a:stretch>
              <a:fillRect/>
            </a:stretch>
          </p:blipFill>
          <p:spPr>
            <a:xfrm>
              <a:off x="8062" y="9302"/>
              <a:ext cx="235" cy="235"/>
            </a:xfrm>
            <a:prstGeom prst="rect">
              <a:avLst/>
            </a:prstGeom>
          </p:spPr>
        </p:pic>
        <p:sp>
          <p:nvSpPr>
            <p:cNvPr id="41" name="Text 36"/>
            <p:cNvSpPr/>
            <p:nvPr/>
          </p:nvSpPr>
          <p:spPr>
            <a:xfrm>
              <a:off x="8568" y="8988"/>
              <a:ext cx="2736" cy="864"/>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可审计</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50" name="组合 49"/>
          <p:cNvGrpSpPr>
            <a:grpSpLocks noChangeAspect="1"/>
          </p:cNvGrpSpPr>
          <p:nvPr/>
        </p:nvGrpSpPr>
        <p:grpSpPr>
          <a:xfrm>
            <a:off x="7944075" y="5570220"/>
            <a:ext cx="3059430" cy="720000"/>
            <a:chOff x="11808" y="8988"/>
            <a:chExt cx="3672" cy="864"/>
          </a:xfrm>
        </p:grpSpPr>
        <p:sp>
          <p:nvSpPr>
            <p:cNvPr id="42" name="Shape 37"/>
            <p:cNvSpPr/>
            <p:nvPr/>
          </p:nvSpPr>
          <p:spPr>
            <a:xfrm>
              <a:off x="11808" y="8988"/>
              <a:ext cx="3672" cy="864"/>
            </a:xfrm>
            <a:prstGeom prst="roundRect">
              <a:avLst>
                <a:gd name="adj" fmla="val 50000"/>
              </a:avLst>
            </a:prstGeom>
            <a:solidFill>
              <a:srgbClr val="F3F5F9"/>
            </a:solidFill>
            <a:ln w="12700">
              <a:solidFill>
                <a:srgbClr val="CFD5EA"/>
              </a:solidFill>
              <a:prstDash val="solid"/>
            </a:ln>
          </p:spPr>
        </p:sp>
        <p:sp>
          <p:nvSpPr>
            <p:cNvPr id="43" name="Shape 38"/>
            <p:cNvSpPr/>
            <p:nvPr/>
          </p:nvSpPr>
          <p:spPr>
            <a:xfrm>
              <a:off x="12038" y="9175"/>
              <a:ext cx="490" cy="490"/>
            </a:xfrm>
            <a:prstGeom prst="roundRect">
              <a:avLst>
                <a:gd name="adj" fmla="val 22000"/>
              </a:avLst>
            </a:prstGeom>
            <a:solidFill>
              <a:srgbClr val="5B9BD5"/>
            </a:solidFill>
          </p:spPr>
        </p:sp>
        <p:pic>
          <p:nvPicPr>
            <p:cNvPr id="44" name="Image 3" descr="preencoded.png"/>
            <p:cNvPicPr>
              <a:picLocks noChangeAspect="1"/>
            </p:cNvPicPr>
            <p:nvPr/>
          </p:nvPicPr>
          <p:blipFill>
            <a:blip r:embed="rId4"/>
            <a:stretch>
              <a:fillRect/>
            </a:stretch>
          </p:blipFill>
          <p:spPr>
            <a:xfrm>
              <a:off x="12166" y="9302"/>
              <a:ext cx="235" cy="235"/>
            </a:xfrm>
            <a:prstGeom prst="rect">
              <a:avLst/>
            </a:prstGeom>
          </p:spPr>
        </p:pic>
        <p:sp>
          <p:nvSpPr>
            <p:cNvPr id="45" name="Text 39"/>
            <p:cNvSpPr/>
            <p:nvPr/>
          </p:nvSpPr>
          <p:spPr>
            <a:xfrm>
              <a:off x="12672" y="8988"/>
              <a:ext cx="2736" cy="864"/>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即时反馈</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sp>
        <p:nvSpPr>
          <p:cNvPr id="47" name="Text 41"/>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第二章 · 系统方案</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核心创新：三条互相制约的链路</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371600"/>
            <a:ext cx="109728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不是简单叠加“视觉模型 + 大语言模型”，而是把诊断拆成三条互相制约的链路</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1874520"/>
            <a:ext cx="3456432" cy="24688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nvSpPr>
        <p:spPr>
          <a:xfrm>
            <a:off x="548640" y="1874520"/>
            <a:ext cx="73152" cy="2468880"/>
          </a:xfrm>
          <a:prstGeom prst="rect">
            <a:avLst/>
          </a:prstGeom>
          <a:solidFill>
            <a:srgbClr val="4472C4"/>
          </a:solidFill>
        </p:spPr>
      </p:sp>
      <p:sp>
        <p:nvSpPr>
          <p:cNvPr id="14" name="Shape 11"/>
          <p:cNvSpPr/>
          <p:nvPr/>
        </p:nvSpPr>
        <p:spPr>
          <a:xfrm>
            <a:off x="822960" y="2148840"/>
            <a:ext cx="621792" cy="621792"/>
          </a:xfrm>
          <a:prstGeom prst="roundRect">
            <a:avLst>
              <a:gd name="adj" fmla="val 22000"/>
            </a:avLst>
          </a:prstGeom>
          <a:solidFill>
            <a:schemeClr val="accent1">
              <a:lumMod val="40000"/>
              <a:lumOff val="60000"/>
            </a:schemeClr>
          </a:solidFill>
        </p:spPr>
      </p:sp>
      <p:pic>
        <p:nvPicPr>
          <p:cNvPr id="15" name="Image 1" descr="preencoded.png"/>
          <p:cNvPicPr>
            <a:picLocks noChangeAspect="1"/>
          </p:cNvPicPr>
          <p:nvPr/>
        </p:nvPicPr>
        <p:blipFill>
          <a:blip r:embed="rId2"/>
          <a:stretch>
            <a:fillRect/>
          </a:stretch>
        </p:blipFill>
        <p:spPr>
          <a:xfrm>
            <a:off x="984626" y="2310506"/>
            <a:ext cx="298460" cy="298460"/>
          </a:xfrm>
          <a:prstGeom prst="rect">
            <a:avLst/>
          </a:prstGeom>
        </p:spPr>
      </p:pic>
      <p:sp>
        <p:nvSpPr>
          <p:cNvPr id="16" name="Text 12"/>
          <p:cNvSpPr/>
          <p:nvPr/>
        </p:nvSpPr>
        <p:spPr>
          <a:xfrm>
            <a:off x="1572768" y="2167128"/>
            <a:ext cx="2267712" cy="36576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感知事实链</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3"/>
          <p:cNvSpPr/>
          <p:nvPr/>
        </p:nvSpPr>
        <p:spPr>
          <a:xfrm>
            <a:off x="1572768" y="2551176"/>
            <a:ext cx="2176272" cy="310896"/>
          </a:xfrm>
          <a:prstGeom prst="roundRect">
            <a:avLst>
              <a:gd name="adj" fmla="val 50000"/>
            </a:avLst>
          </a:prstGeom>
          <a:solidFill>
            <a:srgbClr val="E9EBF5"/>
          </a:solidFill>
        </p:spPr>
      </p:sp>
      <p:sp>
        <p:nvSpPr>
          <p:cNvPr id="18" name="Text 14"/>
          <p:cNvSpPr/>
          <p:nvPr/>
        </p:nvSpPr>
        <p:spPr>
          <a:xfrm>
            <a:off x="1572768" y="2551176"/>
            <a:ext cx="2176272" cy="310896"/>
          </a:xfrm>
          <a:prstGeom prst="rect">
            <a:avLst/>
          </a:prstGeom>
          <a:noFill/>
        </p:spPr>
        <p:txBody>
          <a:bodyPr wrap="square" lIns="0" tIns="0" rIns="0" bIns="0" rtlCol="0" anchor="ctr"/>
          <a:lstStyle/>
          <a:p>
            <a:pPr marL="0" indent="0" algn="ctr">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像素 → 网表</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5"/>
          <p:cNvSpPr/>
          <p:nvPr/>
        </p:nvSpPr>
        <p:spPr>
          <a:xfrm>
            <a:off x="822960" y="3081528"/>
            <a:ext cx="2907792" cy="0"/>
          </a:xfrm>
          <a:prstGeom prst="line">
            <a:avLst/>
          </a:prstGeom>
          <a:noFill/>
          <a:ln w="12700">
            <a:solidFill>
              <a:srgbClr val="CFD5EA"/>
            </a:solidFill>
            <a:prstDash val="solid"/>
          </a:ln>
        </p:spPr>
      </p:sp>
      <p:sp>
        <p:nvSpPr>
          <p:cNvPr id="20" name="Text 16"/>
          <p:cNvSpPr/>
          <p:nvPr/>
        </p:nvSpPr>
        <p:spPr>
          <a:xfrm>
            <a:off x="822960" y="3200400"/>
            <a:ext cx="2907792" cy="1005840"/>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解决真实面包板图像带噪、遮挡和孔位歧义问题</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Shape 17"/>
          <p:cNvSpPr/>
          <p:nvPr/>
        </p:nvSpPr>
        <p:spPr>
          <a:xfrm>
            <a:off x="4297680" y="1874520"/>
            <a:ext cx="3456432" cy="24688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2" name="Shape 18"/>
          <p:cNvSpPr/>
          <p:nvPr/>
        </p:nvSpPr>
        <p:spPr>
          <a:xfrm>
            <a:off x="4297680" y="1874520"/>
            <a:ext cx="73152" cy="2468880"/>
          </a:xfrm>
          <a:prstGeom prst="rect">
            <a:avLst/>
          </a:prstGeom>
          <a:solidFill>
            <a:srgbClr val="14326C"/>
          </a:solidFill>
        </p:spPr>
      </p:sp>
      <p:sp>
        <p:nvSpPr>
          <p:cNvPr id="23" name="Shape 19"/>
          <p:cNvSpPr/>
          <p:nvPr/>
        </p:nvSpPr>
        <p:spPr>
          <a:xfrm>
            <a:off x="4572000" y="2148840"/>
            <a:ext cx="621792" cy="621792"/>
          </a:xfrm>
          <a:prstGeom prst="roundRect">
            <a:avLst>
              <a:gd name="adj" fmla="val 22000"/>
            </a:avLst>
          </a:prstGeom>
          <a:solidFill>
            <a:schemeClr val="accent1">
              <a:lumMod val="40000"/>
              <a:lumOff val="60000"/>
            </a:schemeClr>
          </a:solidFill>
        </p:spPr>
      </p:sp>
      <p:pic>
        <p:nvPicPr>
          <p:cNvPr id="24" name="Image 2" descr="preencoded.png"/>
          <p:cNvPicPr>
            <a:picLocks noChangeAspect="1"/>
          </p:cNvPicPr>
          <p:nvPr/>
        </p:nvPicPr>
        <p:blipFill>
          <a:blip r:embed="rId3"/>
          <a:stretch>
            <a:fillRect/>
          </a:stretch>
        </p:blipFill>
        <p:spPr>
          <a:xfrm>
            <a:off x="4733666" y="2310506"/>
            <a:ext cx="298460" cy="298460"/>
          </a:xfrm>
          <a:prstGeom prst="rect">
            <a:avLst/>
          </a:prstGeom>
        </p:spPr>
      </p:pic>
      <p:sp>
        <p:nvSpPr>
          <p:cNvPr id="25" name="Text 20"/>
          <p:cNvSpPr/>
          <p:nvPr/>
        </p:nvSpPr>
        <p:spPr>
          <a:xfrm>
            <a:off x="5321808" y="2167128"/>
            <a:ext cx="2267712" cy="36576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符号判定链</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1"/>
          <p:cNvSpPr/>
          <p:nvPr/>
        </p:nvSpPr>
        <p:spPr>
          <a:xfrm>
            <a:off x="5321808" y="2551176"/>
            <a:ext cx="2176272" cy="310896"/>
          </a:xfrm>
          <a:prstGeom prst="roundRect">
            <a:avLst>
              <a:gd name="adj" fmla="val 50000"/>
            </a:avLst>
          </a:prstGeom>
          <a:solidFill>
            <a:srgbClr val="E9EBF5"/>
          </a:solidFill>
        </p:spPr>
      </p:sp>
      <p:sp>
        <p:nvSpPr>
          <p:cNvPr id="27" name="Text 22"/>
          <p:cNvSpPr/>
          <p:nvPr/>
        </p:nvSpPr>
        <p:spPr>
          <a:xfrm>
            <a:off x="5321808" y="2551176"/>
            <a:ext cx="2176272" cy="310896"/>
          </a:xfrm>
          <a:prstGeom prst="rect">
            <a:avLst/>
          </a:prstGeom>
          <a:noFill/>
        </p:spPr>
        <p:txBody>
          <a:bodyPr wrap="square" lIns="0" tIns="0" rIns="0" bIns="0" rtlCol="0" anchor="ctr"/>
          <a:lstStyle/>
          <a:p>
            <a:pPr marL="0" indent="0" algn="ctr">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网表 → 错误码</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Shape 23"/>
          <p:cNvSpPr/>
          <p:nvPr/>
        </p:nvSpPr>
        <p:spPr>
          <a:xfrm>
            <a:off x="4572000" y="3081528"/>
            <a:ext cx="2907792" cy="0"/>
          </a:xfrm>
          <a:prstGeom prst="line">
            <a:avLst/>
          </a:prstGeom>
          <a:noFill/>
          <a:ln w="12700">
            <a:solidFill>
              <a:srgbClr val="CFD5EA"/>
            </a:solidFill>
            <a:prstDash val="solid"/>
          </a:ln>
        </p:spPr>
      </p:sp>
      <p:sp>
        <p:nvSpPr>
          <p:cNvPr id="29" name="Text 24"/>
          <p:cNvSpPr/>
          <p:nvPr/>
        </p:nvSpPr>
        <p:spPr>
          <a:xfrm>
            <a:off x="4572000" y="3200400"/>
            <a:ext cx="2907792" cy="1005840"/>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保证对错判断可复现、可审计</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5"/>
          <p:cNvSpPr/>
          <p:nvPr/>
        </p:nvSpPr>
        <p:spPr>
          <a:xfrm>
            <a:off x="8046720" y="1874520"/>
            <a:ext cx="3456432" cy="246888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1" name="Shape 26"/>
          <p:cNvSpPr/>
          <p:nvPr/>
        </p:nvSpPr>
        <p:spPr>
          <a:xfrm>
            <a:off x="8046720" y="1874520"/>
            <a:ext cx="73152" cy="2468880"/>
          </a:xfrm>
          <a:prstGeom prst="rect">
            <a:avLst/>
          </a:prstGeom>
          <a:solidFill>
            <a:srgbClr val="5B9BD5"/>
          </a:solidFill>
        </p:spPr>
      </p:sp>
      <p:sp>
        <p:nvSpPr>
          <p:cNvPr id="32" name="Shape 27"/>
          <p:cNvSpPr/>
          <p:nvPr/>
        </p:nvSpPr>
        <p:spPr>
          <a:xfrm>
            <a:off x="8321040" y="2148840"/>
            <a:ext cx="621792" cy="621792"/>
          </a:xfrm>
          <a:prstGeom prst="roundRect">
            <a:avLst>
              <a:gd name="adj" fmla="val 22000"/>
            </a:avLst>
          </a:prstGeom>
          <a:solidFill>
            <a:schemeClr val="accent1">
              <a:lumMod val="40000"/>
              <a:lumOff val="60000"/>
            </a:schemeClr>
          </a:solidFill>
        </p:spPr>
      </p:sp>
      <p:pic>
        <p:nvPicPr>
          <p:cNvPr id="33" name="Image 3" descr="preencoded.png"/>
          <p:cNvPicPr>
            <a:picLocks noChangeAspect="1"/>
          </p:cNvPicPr>
          <p:nvPr/>
        </p:nvPicPr>
        <p:blipFill>
          <a:blip r:embed="rId4"/>
          <a:stretch>
            <a:fillRect/>
          </a:stretch>
        </p:blipFill>
        <p:spPr>
          <a:xfrm>
            <a:off x="8482706" y="2310506"/>
            <a:ext cx="298460" cy="298460"/>
          </a:xfrm>
          <a:prstGeom prst="rect">
            <a:avLst/>
          </a:prstGeom>
        </p:spPr>
      </p:pic>
      <p:sp>
        <p:nvSpPr>
          <p:cNvPr id="34" name="Text 28"/>
          <p:cNvSpPr/>
          <p:nvPr/>
        </p:nvSpPr>
        <p:spPr>
          <a:xfrm>
            <a:off x="9070848" y="2167128"/>
            <a:ext cx="2267712" cy="36576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接地解释链</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Shape 29"/>
          <p:cNvSpPr/>
          <p:nvPr/>
        </p:nvSpPr>
        <p:spPr>
          <a:xfrm>
            <a:off x="9070848" y="2551176"/>
            <a:ext cx="2176272" cy="310896"/>
          </a:xfrm>
          <a:prstGeom prst="roundRect">
            <a:avLst>
              <a:gd name="adj" fmla="val 50000"/>
            </a:avLst>
          </a:prstGeom>
          <a:solidFill>
            <a:srgbClr val="E9EBF5"/>
          </a:solidFill>
        </p:spPr>
      </p:sp>
      <p:sp>
        <p:nvSpPr>
          <p:cNvPr id="36" name="Text 30"/>
          <p:cNvSpPr/>
          <p:nvPr/>
        </p:nvSpPr>
        <p:spPr>
          <a:xfrm>
            <a:off x="9070848" y="2551176"/>
            <a:ext cx="2176272" cy="310896"/>
          </a:xfrm>
          <a:prstGeom prst="rect">
            <a:avLst/>
          </a:prstGeom>
          <a:noFill/>
        </p:spPr>
        <p:txBody>
          <a:bodyPr wrap="square" lIns="0" tIns="0" rIns="0" bIns="0" rtlCol="0" anchor="ctr"/>
          <a:lstStyle/>
          <a:p>
            <a:pPr marL="0" indent="0" algn="ctr">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错误码 → 教学语言</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31"/>
          <p:cNvSpPr/>
          <p:nvPr/>
        </p:nvSpPr>
        <p:spPr>
          <a:xfrm>
            <a:off x="8321040" y="3081528"/>
            <a:ext cx="2907792" cy="0"/>
          </a:xfrm>
          <a:prstGeom prst="line">
            <a:avLst/>
          </a:prstGeom>
          <a:noFill/>
          <a:ln w="12700">
            <a:solidFill>
              <a:srgbClr val="CFD5EA"/>
            </a:solidFill>
            <a:prstDash val="solid"/>
          </a:ln>
        </p:spPr>
      </p:sp>
      <p:sp>
        <p:nvSpPr>
          <p:cNvPr id="38" name="Text 32"/>
          <p:cNvSpPr/>
          <p:nvPr/>
        </p:nvSpPr>
        <p:spPr>
          <a:xfrm>
            <a:off x="8321040" y="3200400"/>
            <a:ext cx="2907792" cy="1005840"/>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保证智能体回答不越过证据边界</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Shape 33"/>
          <p:cNvSpPr/>
          <p:nvPr/>
        </p:nvSpPr>
        <p:spPr>
          <a:xfrm>
            <a:off x="548640" y="4599305"/>
            <a:ext cx="11094720" cy="1502410"/>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40" name="Text 34"/>
          <p:cNvSpPr/>
          <p:nvPr/>
        </p:nvSpPr>
        <p:spPr>
          <a:xfrm>
            <a:off x="883920" y="4916297"/>
            <a:ext cx="10362895" cy="868680"/>
          </a:xfrm>
          <a:prstGeom prst="rect">
            <a:avLst/>
          </a:prstGeom>
          <a:noFill/>
        </p:spPr>
        <p:txBody>
          <a:bodyPr wrap="square" lIns="0" tIns="0" rIns="0" bIns="0" rtlCol="0" anchor="ctr"/>
          <a:lstStyle/>
          <a:p>
            <a:pPr marL="0" indent="0">
              <a:lnSpc>
                <a:spcPct val="105000"/>
              </a:lnSpc>
              <a:buNone/>
            </a:pPr>
            <a:r>
              <a:rPr lang="en-US" sz="24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闭环：</a:t>
            </a:r>
            <a:r>
              <a:rPr lang="en-US" sz="24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三条链路共同形成“噪声感知输入—确定性诊断—受约束解释”的闭环——既体现 AI 能力，又不把安全敏感的正误判定交给不可审计模型。</a:t>
            </a:r>
            <a:endParaRPr lang="en-US" sz="24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Text 36"/>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第二章 · 系统方案</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总体架构：六层解耦设计</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455420"/>
            <a:ext cx="109728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核心问题：既用上大模型的语言能力，又不让它染指安全敏感的对错判定</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2118360"/>
            <a:ext cx="457200" cy="566928"/>
          </a:xfrm>
          <a:prstGeom prst="rect">
            <a:avLst/>
          </a:prstGeom>
          <a:solidFill>
            <a:srgbClr val="5B9BD5"/>
          </a:solidFill>
        </p:spPr>
      </p:sp>
      <p:sp>
        <p:nvSpPr>
          <p:cNvPr id="13" name="Text 10"/>
          <p:cNvSpPr/>
          <p:nvPr/>
        </p:nvSpPr>
        <p:spPr>
          <a:xfrm>
            <a:off x="548640" y="2118360"/>
            <a:ext cx="457200"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600" dirty="0"/>
          </a:p>
        </p:txBody>
      </p:sp>
      <p:sp>
        <p:nvSpPr>
          <p:cNvPr id="14" name="Shape 11"/>
          <p:cNvSpPr/>
          <p:nvPr>
            <p:custDataLst>
              <p:tags r:id="rId2"/>
            </p:custDataLst>
          </p:nvPr>
        </p:nvSpPr>
        <p:spPr>
          <a:xfrm>
            <a:off x="1005840" y="2118360"/>
            <a:ext cx="6492240" cy="566928"/>
          </a:xfrm>
          <a:prstGeom prst="rect">
            <a:avLst/>
          </a:prstGeom>
          <a:solidFill>
            <a:srgbClr val="F3F5F9"/>
          </a:solidFill>
          <a:ln w="12700">
            <a:solidFill>
              <a:srgbClr val="CFD5EA"/>
            </a:solidFill>
            <a:prstDash val="solid"/>
          </a:ln>
        </p:spPr>
      </p:sp>
      <p:sp>
        <p:nvSpPr>
          <p:cNvPr id="15" name="Text 12"/>
          <p:cNvSpPr/>
          <p:nvPr>
            <p:custDataLst>
              <p:tags r:id="rId3"/>
            </p:custDataLst>
          </p:nvPr>
        </p:nvSpPr>
        <p:spPr>
          <a:xfrm>
            <a:off x="1188720" y="2118360"/>
            <a:ext cx="2743200" cy="56692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交互层</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3"/>
          <p:cNvSpPr/>
          <p:nvPr>
            <p:custDataLst>
              <p:tags r:id="rId4"/>
            </p:custDataLst>
          </p:nvPr>
        </p:nvSpPr>
        <p:spPr>
          <a:xfrm>
            <a:off x="3703320" y="2118360"/>
            <a:ext cx="3739515" cy="567055"/>
          </a:xfrm>
          <a:prstGeom prst="rect">
            <a:avLst/>
          </a:prstGeom>
          <a:noFill/>
        </p:spPr>
        <p:txBody>
          <a:bodyPr wrap="square" lIns="0" tIns="0" rIns="0" bIns="0" rtlCol="0" anchor="ctr"/>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图片上传 · 可视化 · 人工修正 · 对话</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4"/>
          <p:cNvSpPr/>
          <p:nvPr/>
        </p:nvSpPr>
        <p:spPr>
          <a:xfrm>
            <a:off x="548640" y="2795016"/>
            <a:ext cx="457200" cy="566928"/>
          </a:xfrm>
          <a:prstGeom prst="rect">
            <a:avLst/>
          </a:prstGeom>
          <a:solidFill>
            <a:srgbClr val="4472C4"/>
          </a:solidFill>
        </p:spPr>
      </p:sp>
      <p:sp>
        <p:nvSpPr>
          <p:cNvPr id="18" name="Text 15"/>
          <p:cNvSpPr/>
          <p:nvPr/>
        </p:nvSpPr>
        <p:spPr>
          <a:xfrm>
            <a:off x="548640" y="2795016"/>
            <a:ext cx="457200"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600" dirty="0"/>
          </a:p>
        </p:txBody>
      </p:sp>
      <p:sp>
        <p:nvSpPr>
          <p:cNvPr id="19" name="Shape 16"/>
          <p:cNvSpPr/>
          <p:nvPr>
            <p:custDataLst>
              <p:tags r:id="rId5"/>
            </p:custDataLst>
          </p:nvPr>
        </p:nvSpPr>
        <p:spPr>
          <a:xfrm>
            <a:off x="1005840" y="2795016"/>
            <a:ext cx="6492240" cy="566928"/>
          </a:xfrm>
          <a:prstGeom prst="rect">
            <a:avLst/>
          </a:prstGeom>
          <a:solidFill>
            <a:srgbClr val="F3F5F9"/>
          </a:solidFill>
          <a:ln w="12700">
            <a:solidFill>
              <a:srgbClr val="CFD5EA"/>
            </a:solidFill>
            <a:prstDash val="solid"/>
          </a:ln>
        </p:spPr>
      </p:sp>
      <p:sp>
        <p:nvSpPr>
          <p:cNvPr id="20" name="Text 17"/>
          <p:cNvSpPr/>
          <p:nvPr>
            <p:custDataLst>
              <p:tags r:id="rId6"/>
            </p:custDataLst>
          </p:nvPr>
        </p:nvSpPr>
        <p:spPr>
          <a:xfrm>
            <a:off x="1188720" y="2795016"/>
            <a:ext cx="2743200" cy="56692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API 服务层</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8"/>
          <p:cNvSpPr/>
          <p:nvPr>
            <p:custDataLst>
              <p:tags r:id="rId7"/>
            </p:custDataLst>
          </p:nvPr>
        </p:nvSpPr>
        <p:spPr>
          <a:xfrm>
            <a:off x="3703320" y="2795270"/>
            <a:ext cx="3739515" cy="567055"/>
          </a:xfrm>
          <a:prstGeom prst="rect">
            <a:avLst/>
          </a:prstGeom>
          <a:noFill/>
        </p:spPr>
        <p:txBody>
          <a:bodyPr wrap="square" lIns="0" tIns="0" rIns="0" bIns="0" rtlCol="0" anchor="ctr"/>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协议入口 · 不承担领域推理</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Shape 19"/>
          <p:cNvSpPr/>
          <p:nvPr/>
        </p:nvSpPr>
        <p:spPr>
          <a:xfrm>
            <a:off x="548640" y="3471672"/>
            <a:ext cx="457200" cy="566928"/>
          </a:xfrm>
          <a:prstGeom prst="rect">
            <a:avLst/>
          </a:prstGeom>
          <a:solidFill>
            <a:srgbClr val="4472C4"/>
          </a:solidFill>
        </p:spPr>
      </p:sp>
      <p:sp>
        <p:nvSpPr>
          <p:cNvPr id="23" name="Text 20"/>
          <p:cNvSpPr/>
          <p:nvPr/>
        </p:nvSpPr>
        <p:spPr>
          <a:xfrm>
            <a:off x="548640" y="3471672"/>
            <a:ext cx="457200"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600" dirty="0"/>
          </a:p>
        </p:txBody>
      </p:sp>
      <p:sp>
        <p:nvSpPr>
          <p:cNvPr id="24" name="Shape 21"/>
          <p:cNvSpPr/>
          <p:nvPr>
            <p:custDataLst>
              <p:tags r:id="rId8"/>
            </p:custDataLst>
          </p:nvPr>
        </p:nvSpPr>
        <p:spPr>
          <a:xfrm>
            <a:off x="1005840" y="3471672"/>
            <a:ext cx="6492240" cy="566928"/>
          </a:xfrm>
          <a:prstGeom prst="rect">
            <a:avLst/>
          </a:prstGeom>
          <a:solidFill>
            <a:srgbClr val="F3F5F9"/>
          </a:solidFill>
          <a:ln w="12700">
            <a:solidFill>
              <a:srgbClr val="CFD5EA"/>
            </a:solidFill>
            <a:prstDash val="solid"/>
          </a:ln>
        </p:spPr>
      </p:sp>
      <p:sp>
        <p:nvSpPr>
          <p:cNvPr id="25" name="Text 22"/>
          <p:cNvSpPr/>
          <p:nvPr>
            <p:custDataLst>
              <p:tags r:id="rId9"/>
            </p:custDataLst>
          </p:nvPr>
        </p:nvSpPr>
        <p:spPr>
          <a:xfrm>
            <a:off x="1188720" y="3471672"/>
            <a:ext cx="2743200" cy="56692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流水线事实层</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3"/>
          <p:cNvSpPr/>
          <p:nvPr>
            <p:custDataLst>
              <p:tags r:id="rId10"/>
            </p:custDataLst>
          </p:nvPr>
        </p:nvSpPr>
        <p:spPr>
          <a:xfrm>
            <a:off x="3703320" y="3471545"/>
            <a:ext cx="3739515" cy="567055"/>
          </a:xfrm>
          <a:prstGeom prst="rect">
            <a:avLst/>
          </a:prstGeom>
          <a:noFill/>
        </p:spPr>
        <p:txBody>
          <a:bodyPr wrap="square" lIns="0" tIns="0" rIns="0" bIns="0" rtlCol="0" anchor="ctr"/>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只输出结构化事实 · 不生成话术</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4"/>
          <p:cNvSpPr/>
          <p:nvPr/>
        </p:nvSpPr>
        <p:spPr>
          <a:xfrm>
            <a:off x="548640" y="4148328"/>
            <a:ext cx="457200" cy="566928"/>
          </a:xfrm>
          <a:prstGeom prst="rect">
            <a:avLst/>
          </a:prstGeom>
          <a:solidFill>
            <a:srgbClr val="14326C"/>
          </a:solidFill>
        </p:spPr>
      </p:sp>
      <p:sp>
        <p:nvSpPr>
          <p:cNvPr id="28" name="Text 25"/>
          <p:cNvSpPr/>
          <p:nvPr/>
        </p:nvSpPr>
        <p:spPr>
          <a:xfrm>
            <a:off x="548640" y="4148328"/>
            <a:ext cx="457200"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600" dirty="0"/>
          </a:p>
        </p:txBody>
      </p:sp>
      <p:sp>
        <p:nvSpPr>
          <p:cNvPr id="29" name="Shape 26"/>
          <p:cNvSpPr/>
          <p:nvPr>
            <p:custDataLst>
              <p:tags r:id="rId11"/>
            </p:custDataLst>
          </p:nvPr>
        </p:nvSpPr>
        <p:spPr>
          <a:xfrm>
            <a:off x="1005840" y="4148328"/>
            <a:ext cx="6492240" cy="566928"/>
          </a:xfrm>
          <a:prstGeom prst="rect">
            <a:avLst/>
          </a:prstGeom>
          <a:solidFill>
            <a:srgbClr val="F3F5F9"/>
          </a:solidFill>
          <a:ln w="12700">
            <a:solidFill>
              <a:srgbClr val="CFD5EA"/>
            </a:solidFill>
            <a:prstDash val="solid"/>
          </a:ln>
        </p:spPr>
      </p:sp>
      <p:sp>
        <p:nvSpPr>
          <p:cNvPr id="30" name="Text 27"/>
          <p:cNvSpPr/>
          <p:nvPr>
            <p:custDataLst>
              <p:tags r:id="rId12"/>
            </p:custDataLst>
          </p:nvPr>
        </p:nvSpPr>
        <p:spPr>
          <a:xfrm>
            <a:off x="1188720" y="4148328"/>
            <a:ext cx="2743200" cy="56692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领域规则层</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8"/>
          <p:cNvSpPr/>
          <p:nvPr>
            <p:custDataLst>
              <p:tags r:id="rId13"/>
            </p:custDataLst>
          </p:nvPr>
        </p:nvSpPr>
        <p:spPr>
          <a:xfrm>
            <a:off x="3703320" y="4148455"/>
            <a:ext cx="3739515" cy="567055"/>
          </a:xfrm>
          <a:prstGeom prst="rect">
            <a:avLst/>
          </a:prstGeom>
          <a:noFill/>
        </p:spPr>
        <p:txBody>
          <a:bodyPr wrap="square" lIns="0" tIns="0" rIns="0" bIns="0" rtlCol="0" anchor="ctr"/>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板型规则 · 电路分析 · 验证 · 风险评估</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9"/>
          <p:cNvSpPr/>
          <p:nvPr/>
        </p:nvSpPr>
        <p:spPr>
          <a:xfrm>
            <a:off x="548640" y="4824984"/>
            <a:ext cx="457200" cy="566928"/>
          </a:xfrm>
          <a:prstGeom prst="rect">
            <a:avLst/>
          </a:prstGeom>
          <a:solidFill>
            <a:srgbClr val="14326C"/>
          </a:solidFill>
        </p:spPr>
      </p:sp>
      <p:sp>
        <p:nvSpPr>
          <p:cNvPr id="33" name="Text 30"/>
          <p:cNvSpPr/>
          <p:nvPr/>
        </p:nvSpPr>
        <p:spPr>
          <a:xfrm>
            <a:off x="548640" y="4824984"/>
            <a:ext cx="457200"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1600" dirty="0"/>
          </a:p>
        </p:txBody>
      </p:sp>
      <p:sp>
        <p:nvSpPr>
          <p:cNvPr id="34" name="Shape 31"/>
          <p:cNvSpPr/>
          <p:nvPr>
            <p:custDataLst>
              <p:tags r:id="rId14"/>
            </p:custDataLst>
          </p:nvPr>
        </p:nvSpPr>
        <p:spPr>
          <a:xfrm>
            <a:off x="1005840" y="4824984"/>
            <a:ext cx="6492240" cy="566928"/>
          </a:xfrm>
          <a:prstGeom prst="rect">
            <a:avLst/>
          </a:prstGeom>
          <a:solidFill>
            <a:srgbClr val="F3F5F9"/>
          </a:solidFill>
          <a:ln w="12700">
            <a:solidFill>
              <a:srgbClr val="CFD5EA"/>
            </a:solidFill>
            <a:prstDash val="solid"/>
          </a:ln>
        </p:spPr>
      </p:sp>
      <p:sp>
        <p:nvSpPr>
          <p:cNvPr id="35" name="Text 32"/>
          <p:cNvSpPr/>
          <p:nvPr>
            <p:custDataLst>
              <p:tags r:id="rId15"/>
            </p:custDataLst>
          </p:nvPr>
        </p:nvSpPr>
        <p:spPr>
          <a:xfrm>
            <a:off x="1188720" y="4824984"/>
            <a:ext cx="2743200" cy="56692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Agent 与知识解释层</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3"/>
          <p:cNvSpPr/>
          <p:nvPr>
            <p:custDataLst>
              <p:tags r:id="rId16"/>
            </p:custDataLst>
          </p:nvPr>
        </p:nvSpPr>
        <p:spPr>
          <a:xfrm>
            <a:off x="3703320" y="4824730"/>
            <a:ext cx="3739515" cy="567055"/>
          </a:xfrm>
          <a:prstGeom prst="rect">
            <a:avLst/>
          </a:prstGeom>
          <a:noFill/>
        </p:spPr>
        <p:txBody>
          <a:bodyPr wrap="square" lIns="0" tIns="0" rIns="0" bIns="0" rtlCol="0" anchor="ctr"/>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组织上下文 · 工具调用 · 受约束回答</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34"/>
          <p:cNvSpPr/>
          <p:nvPr/>
        </p:nvSpPr>
        <p:spPr>
          <a:xfrm>
            <a:off x="548640" y="5501640"/>
            <a:ext cx="457200" cy="566928"/>
          </a:xfrm>
          <a:prstGeom prst="rect">
            <a:avLst/>
          </a:prstGeom>
          <a:solidFill>
            <a:srgbClr val="808080"/>
          </a:solidFill>
        </p:spPr>
      </p:sp>
      <p:sp>
        <p:nvSpPr>
          <p:cNvPr id="38" name="Text 35"/>
          <p:cNvSpPr/>
          <p:nvPr/>
        </p:nvSpPr>
        <p:spPr>
          <a:xfrm>
            <a:off x="548640" y="5501640"/>
            <a:ext cx="457200" cy="56692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a:t>
            </a:r>
            <a:endParaRPr lang="en-US" sz="1600" dirty="0"/>
          </a:p>
        </p:txBody>
      </p:sp>
      <p:sp>
        <p:nvSpPr>
          <p:cNvPr id="39" name="Shape 36"/>
          <p:cNvSpPr/>
          <p:nvPr>
            <p:custDataLst>
              <p:tags r:id="rId17"/>
            </p:custDataLst>
          </p:nvPr>
        </p:nvSpPr>
        <p:spPr>
          <a:xfrm>
            <a:off x="1005840" y="5501640"/>
            <a:ext cx="6492240" cy="566928"/>
          </a:xfrm>
          <a:prstGeom prst="rect">
            <a:avLst/>
          </a:prstGeom>
          <a:solidFill>
            <a:srgbClr val="F3F5F9"/>
          </a:solidFill>
          <a:ln w="12700">
            <a:solidFill>
              <a:srgbClr val="CFD5EA"/>
            </a:solidFill>
            <a:prstDash val="solid"/>
          </a:ln>
        </p:spPr>
      </p:sp>
      <p:sp>
        <p:nvSpPr>
          <p:cNvPr id="40" name="Text 37"/>
          <p:cNvSpPr/>
          <p:nvPr>
            <p:custDataLst>
              <p:tags r:id="rId18"/>
            </p:custDataLst>
          </p:nvPr>
        </p:nvSpPr>
        <p:spPr>
          <a:xfrm>
            <a:off x="1188720" y="5501640"/>
            <a:ext cx="2743200" cy="56692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基础支撑层</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8"/>
          <p:cNvSpPr/>
          <p:nvPr>
            <p:custDataLst>
              <p:tags r:id="rId19"/>
            </p:custDataLst>
          </p:nvPr>
        </p:nvSpPr>
        <p:spPr>
          <a:xfrm>
            <a:off x="3703320" y="5501640"/>
            <a:ext cx="3739515" cy="567055"/>
          </a:xfrm>
          <a:prstGeom prst="rect">
            <a:avLst/>
          </a:prstGeom>
          <a:noFill/>
        </p:spPr>
        <p:txBody>
          <a:bodyPr wrap="square" lIns="0" tIns="0" rIns="0" bIns="0" rtlCol="0" anchor="ctr"/>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异步任务 · 缓存 · 容器化 · 测试支撑</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Shape 39"/>
          <p:cNvSpPr/>
          <p:nvPr/>
        </p:nvSpPr>
        <p:spPr>
          <a:xfrm>
            <a:off x="7741920" y="2179320"/>
            <a:ext cx="4069080" cy="3822192"/>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43" name="Shape 40"/>
          <p:cNvSpPr/>
          <p:nvPr/>
        </p:nvSpPr>
        <p:spPr>
          <a:xfrm>
            <a:off x="7741920" y="2179320"/>
            <a:ext cx="73152" cy="3822192"/>
          </a:xfrm>
          <a:prstGeom prst="rect">
            <a:avLst/>
          </a:prstGeom>
          <a:solidFill>
            <a:srgbClr val="5B9BD5"/>
          </a:solidFill>
        </p:spPr>
      </p:sp>
      <p:sp>
        <p:nvSpPr>
          <p:cNvPr id="44" name="Shape 41"/>
          <p:cNvSpPr/>
          <p:nvPr/>
        </p:nvSpPr>
        <p:spPr>
          <a:xfrm>
            <a:off x="8016240" y="2426208"/>
            <a:ext cx="548640" cy="548640"/>
          </a:xfrm>
          <a:prstGeom prst="roundRect">
            <a:avLst>
              <a:gd name="adj" fmla="val 22000"/>
            </a:avLst>
          </a:prstGeom>
          <a:solidFill>
            <a:schemeClr val="accent1">
              <a:lumMod val="40000"/>
              <a:lumOff val="60000"/>
            </a:schemeClr>
          </a:solidFill>
        </p:spPr>
      </p:sp>
      <p:pic>
        <p:nvPicPr>
          <p:cNvPr id="45" name="Image 1" descr="preencoded.png"/>
          <p:cNvPicPr>
            <a:picLocks noChangeAspect="1"/>
          </p:cNvPicPr>
          <p:nvPr/>
        </p:nvPicPr>
        <p:blipFill>
          <a:blip r:embed="rId20"/>
          <a:stretch>
            <a:fillRect/>
          </a:stretch>
        </p:blipFill>
        <p:spPr>
          <a:xfrm>
            <a:off x="8158886" y="2568854"/>
            <a:ext cx="263347" cy="263347"/>
          </a:xfrm>
          <a:prstGeom prst="rect">
            <a:avLst/>
          </a:prstGeom>
        </p:spPr>
      </p:pic>
      <p:sp>
        <p:nvSpPr>
          <p:cNvPr id="46" name="Text 42"/>
          <p:cNvSpPr/>
          <p:nvPr/>
        </p:nvSpPr>
        <p:spPr>
          <a:xfrm>
            <a:off x="8702040" y="2407920"/>
            <a:ext cx="2880360" cy="594360"/>
          </a:xfrm>
          <a:prstGeom prst="rect">
            <a:avLst/>
          </a:prstGeom>
          <a:noFill/>
        </p:spPr>
        <p:txBody>
          <a:bodyPr wrap="square" lIns="0" tIns="0" rIns="0" bIns="0" rtlCol="0" anchor="ctr"/>
          <a:lstStyle/>
          <a:p>
            <a:pPr marL="0" indent="0">
              <a:lnSpc>
                <a:spcPct val="100000"/>
              </a:lnSpc>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事实生产 / 话术生成 彻底解耦</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7" name="Shape 43"/>
          <p:cNvSpPr/>
          <p:nvPr/>
        </p:nvSpPr>
        <p:spPr>
          <a:xfrm>
            <a:off x="8016240" y="3185160"/>
            <a:ext cx="3520440" cy="0"/>
          </a:xfrm>
          <a:prstGeom prst="line">
            <a:avLst/>
          </a:prstGeom>
          <a:noFill/>
          <a:ln w="12700">
            <a:solidFill>
              <a:srgbClr val="CFD5EA"/>
            </a:solidFill>
            <a:prstDash val="solid"/>
          </a:ln>
        </p:spPr>
      </p:sp>
      <p:sp>
        <p:nvSpPr>
          <p:cNvPr id="48" name="Text 44"/>
          <p:cNvSpPr/>
          <p:nvPr/>
        </p:nvSpPr>
        <p:spPr>
          <a:xfrm>
            <a:off x="8016240" y="3322320"/>
            <a:ext cx="3520440" cy="2560320"/>
          </a:xfrm>
          <a:prstGeom prst="rect">
            <a:avLst/>
          </a:prstGeom>
          <a:noFill/>
        </p:spPr>
        <p:txBody>
          <a:bodyPr wrap="square" lIns="0" tIns="0" rIns="0" bIns="0" rtlCol="0" anchor="t"/>
          <a:lstStyle/>
          <a:p>
            <a:pPr marL="0" indent="0">
              <a:lnSpc>
                <a:spcPct val="115000"/>
              </a:lnSpc>
              <a:spcAft>
                <a:spcPts val="1000"/>
              </a:spcAft>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下游的自然语言解释，永远以上游可证伪的结构化事实为唯一依据。</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spcAft>
                <a:spcPts val="1000"/>
              </a:spcAft>
              <a:buNone/>
            </a:pPr>
            <a:endParaRPr lang="en-US" dirty="0"/>
          </a:p>
          <a:p>
            <a:pPr marL="0" indent="0">
              <a:lnSpc>
                <a:spcPct val="115000"/>
              </a:lnSpc>
              <a:buNone/>
            </a:pPr>
            <a:r>
              <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调用方向：左端发起调用</a:t>
            </a:r>
            <a:endParaRPr lang="en-US" sz="2800" dirty="0"/>
          </a:p>
          <a:p>
            <a:pPr marL="0" indent="0">
              <a:lnSpc>
                <a:spcPct val="115000"/>
              </a:lnSpc>
              <a:buNone/>
            </a:pP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事实方向：右端逐层向左提供可证伪的结构化事实</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0" name="Text 46"/>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第二章 · 系统方案</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主业务流程</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508760"/>
            <a:ext cx="54864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自动诊断主链</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2141220"/>
            <a:ext cx="1371600" cy="731520"/>
          </a:xfrm>
          <a:prstGeom prst="roundRect">
            <a:avLst>
              <a:gd name="adj" fmla="val 10000"/>
            </a:avLst>
          </a:prstGeom>
          <a:solidFill>
            <a:srgbClr val="14326C"/>
          </a:solidFill>
          <a:ln w="16510">
            <a:solidFill>
              <a:srgbClr val="14326C"/>
            </a:solidFill>
            <a:prstDash val="solid"/>
          </a:ln>
          <a:effectLst>
            <a:outerShdw blurRad="76200" dist="25400" dir="5400000" algn="bl" rotWithShape="0">
              <a:srgbClr val="9AAFD0">
                <a:alpha val="10000"/>
              </a:srgbClr>
            </a:outerShdw>
          </a:effectLst>
        </p:spPr>
      </p:sp>
      <p:sp>
        <p:nvSpPr>
          <p:cNvPr id="13" name="Text 10"/>
          <p:cNvSpPr/>
          <p:nvPr/>
        </p:nvSpPr>
        <p:spPr>
          <a:xfrm>
            <a:off x="548640" y="2141220"/>
            <a:ext cx="1371600" cy="731520"/>
          </a:xfrm>
          <a:prstGeom prst="rect">
            <a:avLst/>
          </a:prstGeom>
          <a:noFill/>
        </p:spPr>
        <p:txBody>
          <a:bodyPr wrap="square" lIns="0" tIns="0" rIns="0" bIns="0" rtlCol="0" anchor="ct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上传图片</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Text 11"/>
          <p:cNvSpPr/>
          <p:nvPr/>
        </p:nvSpPr>
        <p:spPr>
          <a:xfrm>
            <a:off x="1920240" y="2141220"/>
            <a:ext cx="248869" cy="731520"/>
          </a:xfrm>
          <a:prstGeom prst="rect">
            <a:avLst/>
          </a:prstGeom>
          <a:noFill/>
        </p:spPr>
        <p:txBody>
          <a:bodyPr wrap="square" lIns="0" tIns="0" rIns="0" bIns="0" rtlCol="0" anchor="ctr"/>
          <a:lstStyle/>
          <a:p>
            <a:pPr marL="0" indent="0" algn="ctr">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dirty="0"/>
          </a:p>
        </p:txBody>
      </p:sp>
      <p:sp>
        <p:nvSpPr>
          <p:cNvPr id="15" name="Shape 12"/>
          <p:cNvSpPr/>
          <p:nvPr/>
        </p:nvSpPr>
        <p:spPr>
          <a:xfrm>
            <a:off x="2169109" y="2141220"/>
            <a:ext cx="1371600" cy="731520"/>
          </a:xfrm>
          <a:prstGeom prst="roundRect">
            <a:avLst>
              <a:gd name="adj" fmla="val 10000"/>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16" name="Text 13"/>
          <p:cNvSpPr/>
          <p:nvPr/>
        </p:nvSpPr>
        <p:spPr>
          <a:xfrm>
            <a:off x="2169109" y="2141220"/>
            <a:ext cx="1371600" cy="731520"/>
          </a:xfrm>
          <a:prstGeom prst="rect">
            <a:avLst/>
          </a:prstGeom>
          <a:noFill/>
        </p:spPr>
        <p:txBody>
          <a:bodyPr wrap="square" lIns="0" tIns="0" rIns="0" bIns="0" rtlCol="0" anchor="ctr"/>
          <a:lstStyle/>
          <a:p>
            <a:pPr marL="0" indent="0" algn="ctr">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组件检测</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4"/>
          <p:cNvSpPr/>
          <p:nvPr/>
        </p:nvSpPr>
        <p:spPr>
          <a:xfrm>
            <a:off x="3540709" y="2141220"/>
            <a:ext cx="248869" cy="731520"/>
          </a:xfrm>
          <a:prstGeom prst="rect">
            <a:avLst/>
          </a:prstGeom>
          <a:noFill/>
        </p:spPr>
        <p:txBody>
          <a:bodyPr wrap="square" lIns="0" tIns="0" rIns="0" bIns="0" rtlCol="0" anchor="ctr"/>
          <a:lstStyle/>
          <a:p>
            <a:pPr marL="0" indent="0" algn="ctr">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dirty="0"/>
          </a:p>
        </p:txBody>
      </p:sp>
      <p:sp>
        <p:nvSpPr>
          <p:cNvPr id="18" name="Shape 15"/>
          <p:cNvSpPr/>
          <p:nvPr/>
        </p:nvSpPr>
        <p:spPr>
          <a:xfrm>
            <a:off x="3789578" y="2141220"/>
            <a:ext cx="1371600" cy="731520"/>
          </a:xfrm>
          <a:prstGeom prst="roundRect">
            <a:avLst>
              <a:gd name="adj" fmla="val 10000"/>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19" name="Text 16"/>
          <p:cNvSpPr/>
          <p:nvPr/>
        </p:nvSpPr>
        <p:spPr>
          <a:xfrm>
            <a:off x="3789578" y="2141220"/>
            <a:ext cx="1371600" cy="731520"/>
          </a:xfrm>
          <a:prstGeom prst="rect">
            <a:avLst/>
          </a:prstGeom>
          <a:noFill/>
        </p:spPr>
        <p:txBody>
          <a:bodyPr wrap="square" lIns="0" tIns="0" rIns="0" bIns="0" rtlCol="0" anchor="ctr"/>
          <a:lstStyle/>
          <a:p>
            <a:pPr marL="0" indent="0" algn="ctr">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孔位映射</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Text 17"/>
          <p:cNvSpPr/>
          <p:nvPr/>
        </p:nvSpPr>
        <p:spPr>
          <a:xfrm>
            <a:off x="5161178" y="2141220"/>
            <a:ext cx="248869" cy="731520"/>
          </a:xfrm>
          <a:prstGeom prst="rect">
            <a:avLst/>
          </a:prstGeom>
          <a:noFill/>
        </p:spPr>
        <p:txBody>
          <a:bodyPr wrap="square" lIns="0" tIns="0" rIns="0" bIns="0" rtlCol="0" anchor="ctr"/>
          <a:lstStyle/>
          <a:p>
            <a:pPr marL="0" indent="0" algn="ctr">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dirty="0"/>
          </a:p>
        </p:txBody>
      </p:sp>
      <p:sp>
        <p:nvSpPr>
          <p:cNvPr id="21" name="Shape 18"/>
          <p:cNvSpPr/>
          <p:nvPr/>
        </p:nvSpPr>
        <p:spPr>
          <a:xfrm>
            <a:off x="5410048" y="2141220"/>
            <a:ext cx="1371600" cy="731520"/>
          </a:xfrm>
          <a:prstGeom prst="roundRect">
            <a:avLst>
              <a:gd name="adj" fmla="val 10000"/>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2" name="Text 19"/>
          <p:cNvSpPr/>
          <p:nvPr/>
        </p:nvSpPr>
        <p:spPr>
          <a:xfrm>
            <a:off x="5410048" y="2141220"/>
            <a:ext cx="1371600" cy="731520"/>
          </a:xfrm>
          <a:prstGeom prst="rect">
            <a:avLst/>
          </a:prstGeom>
          <a:noFill/>
        </p:spPr>
        <p:txBody>
          <a:bodyPr wrap="square" lIns="0" tIns="0" rIns="0" bIns="0" rtlCol="0" anchor="ctr"/>
          <a:lstStyle/>
          <a:p>
            <a:pPr marL="0" indent="0" algn="ctr">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拓扑重构</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20"/>
          <p:cNvSpPr/>
          <p:nvPr/>
        </p:nvSpPr>
        <p:spPr>
          <a:xfrm>
            <a:off x="6781648" y="2141220"/>
            <a:ext cx="248869" cy="731520"/>
          </a:xfrm>
          <a:prstGeom prst="rect">
            <a:avLst/>
          </a:prstGeom>
          <a:noFill/>
        </p:spPr>
        <p:txBody>
          <a:bodyPr wrap="square" lIns="0" tIns="0" rIns="0" bIns="0" rtlCol="0" anchor="ctr"/>
          <a:lstStyle/>
          <a:p>
            <a:pPr marL="0" indent="0" algn="ctr">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dirty="0"/>
          </a:p>
        </p:txBody>
      </p:sp>
      <p:sp>
        <p:nvSpPr>
          <p:cNvPr id="24" name="Shape 21"/>
          <p:cNvSpPr/>
          <p:nvPr/>
        </p:nvSpPr>
        <p:spPr>
          <a:xfrm>
            <a:off x="7030517" y="2141220"/>
            <a:ext cx="1371600" cy="731520"/>
          </a:xfrm>
          <a:prstGeom prst="roundRect">
            <a:avLst>
              <a:gd name="adj" fmla="val 10000"/>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5" name="Text 22"/>
          <p:cNvSpPr/>
          <p:nvPr/>
        </p:nvSpPr>
        <p:spPr>
          <a:xfrm>
            <a:off x="7030517" y="2141220"/>
            <a:ext cx="1371600" cy="731520"/>
          </a:xfrm>
          <a:prstGeom prst="rect">
            <a:avLst/>
          </a:prstGeom>
          <a:noFill/>
        </p:spPr>
        <p:txBody>
          <a:bodyPr wrap="square" lIns="0" tIns="0" rIns="0" bIns="0" rtlCol="0" anchor="ctr"/>
          <a:lstStyle/>
          <a:p>
            <a:pPr marL="0" indent="0" algn="ctr">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参考验证</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3"/>
          <p:cNvSpPr/>
          <p:nvPr/>
        </p:nvSpPr>
        <p:spPr>
          <a:xfrm>
            <a:off x="8402117" y="2141220"/>
            <a:ext cx="248869" cy="731520"/>
          </a:xfrm>
          <a:prstGeom prst="rect">
            <a:avLst/>
          </a:prstGeom>
          <a:noFill/>
        </p:spPr>
        <p:txBody>
          <a:bodyPr wrap="square" lIns="0" tIns="0" rIns="0" bIns="0" rtlCol="0" anchor="ctr"/>
          <a:lstStyle/>
          <a:p>
            <a:pPr marL="0" indent="0" algn="ctr">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dirty="0"/>
          </a:p>
        </p:txBody>
      </p:sp>
      <p:sp>
        <p:nvSpPr>
          <p:cNvPr id="27" name="Shape 24"/>
          <p:cNvSpPr/>
          <p:nvPr/>
        </p:nvSpPr>
        <p:spPr>
          <a:xfrm>
            <a:off x="8650986" y="2141220"/>
            <a:ext cx="1371600" cy="731520"/>
          </a:xfrm>
          <a:prstGeom prst="roundRect">
            <a:avLst>
              <a:gd name="adj" fmla="val 10000"/>
            </a:avLst>
          </a:prstGeom>
          <a:solidFill>
            <a:srgbClr val="FFFFFF"/>
          </a:solidFill>
          <a:ln w="16510">
            <a:solidFill>
              <a:srgbClr val="4472C4"/>
            </a:solidFill>
            <a:prstDash val="solid"/>
          </a:ln>
          <a:effectLst>
            <a:outerShdw blurRad="76200" dist="25400" dir="5400000" algn="bl" rotWithShape="0">
              <a:srgbClr val="9AAFD0">
                <a:alpha val="10000"/>
              </a:srgbClr>
            </a:outerShdw>
          </a:effectLst>
        </p:spPr>
      </p:sp>
      <p:sp>
        <p:nvSpPr>
          <p:cNvPr id="28" name="Text 25"/>
          <p:cNvSpPr/>
          <p:nvPr/>
        </p:nvSpPr>
        <p:spPr>
          <a:xfrm>
            <a:off x="8650986" y="2141220"/>
            <a:ext cx="1371600" cy="731520"/>
          </a:xfrm>
          <a:prstGeom prst="rect">
            <a:avLst/>
          </a:prstGeom>
          <a:noFill/>
        </p:spPr>
        <p:txBody>
          <a:bodyPr wrap="square" lIns="0" tIns="0" rIns="0" bIns="0" rtlCol="0" anchor="ctr"/>
          <a:lstStyle/>
          <a:p>
            <a:pPr marL="0" indent="0" algn="ctr">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语义分析</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6"/>
          <p:cNvSpPr/>
          <p:nvPr/>
        </p:nvSpPr>
        <p:spPr>
          <a:xfrm>
            <a:off x="10022586" y="2141220"/>
            <a:ext cx="248869" cy="731520"/>
          </a:xfrm>
          <a:prstGeom prst="rect">
            <a:avLst/>
          </a:prstGeom>
          <a:noFill/>
        </p:spPr>
        <p:txBody>
          <a:bodyPr wrap="square" lIns="0" tIns="0" rIns="0" bIns="0" rtlCol="0" anchor="ctr"/>
          <a:lstStyle/>
          <a:p>
            <a:pPr marL="0" indent="0" algn="ctr">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dirty="0"/>
          </a:p>
        </p:txBody>
      </p:sp>
      <p:sp>
        <p:nvSpPr>
          <p:cNvPr id="30" name="Shape 27"/>
          <p:cNvSpPr/>
          <p:nvPr/>
        </p:nvSpPr>
        <p:spPr>
          <a:xfrm>
            <a:off x="10271455" y="2141220"/>
            <a:ext cx="1371600" cy="731520"/>
          </a:xfrm>
          <a:prstGeom prst="roundRect">
            <a:avLst>
              <a:gd name="adj" fmla="val 10000"/>
            </a:avLst>
          </a:prstGeom>
          <a:solidFill>
            <a:srgbClr val="14326C"/>
          </a:solidFill>
          <a:ln w="16510">
            <a:solidFill>
              <a:srgbClr val="14326C"/>
            </a:solidFill>
            <a:prstDash val="solid"/>
          </a:ln>
          <a:effectLst>
            <a:outerShdw blurRad="76200" dist="25400" dir="5400000" algn="bl" rotWithShape="0">
              <a:srgbClr val="9AAFD0">
                <a:alpha val="10000"/>
              </a:srgbClr>
            </a:outerShdw>
          </a:effectLst>
        </p:spPr>
      </p:sp>
      <p:sp>
        <p:nvSpPr>
          <p:cNvPr id="31" name="Text 28"/>
          <p:cNvSpPr/>
          <p:nvPr/>
        </p:nvSpPr>
        <p:spPr>
          <a:xfrm>
            <a:off x="10271455" y="2141220"/>
            <a:ext cx="1371600" cy="731520"/>
          </a:xfrm>
          <a:prstGeom prst="rect">
            <a:avLst/>
          </a:prstGeom>
          <a:noFill/>
        </p:spPr>
        <p:txBody>
          <a:bodyPr wrap="square" lIns="0" tIns="0" rIns="0" bIns="0" rtlCol="0" anchor="ct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诊断解释</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9"/>
          <p:cNvSpPr/>
          <p:nvPr/>
        </p:nvSpPr>
        <p:spPr>
          <a:xfrm>
            <a:off x="548640" y="3329940"/>
            <a:ext cx="11094720" cy="1674495"/>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33" name="Shape 30"/>
          <p:cNvSpPr/>
          <p:nvPr/>
        </p:nvSpPr>
        <p:spPr>
          <a:xfrm>
            <a:off x="548640" y="3329940"/>
            <a:ext cx="76200" cy="1674495"/>
          </a:xfrm>
          <a:prstGeom prst="rect">
            <a:avLst/>
          </a:prstGeom>
          <a:solidFill>
            <a:srgbClr val="5B9BD5"/>
          </a:solidFill>
        </p:spPr>
      </p:sp>
      <p:sp>
        <p:nvSpPr>
          <p:cNvPr id="34" name="Shape 31"/>
          <p:cNvSpPr/>
          <p:nvPr/>
        </p:nvSpPr>
        <p:spPr>
          <a:xfrm>
            <a:off x="822960" y="3558540"/>
            <a:ext cx="512064" cy="512064"/>
          </a:xfrm>
          <a:prstGeom prst="roundRect">
            <a:avLst>
              <a:gd name="adj" fmla="val 22000"/>
            </a:avLst>
          </a:prstGeom>
          <a:solidFill>
            <a:schemeClr val="accent1">
              <a:lumMod val="40000"/>
              <a:lumOff val="60000"/>
            </a:schemeClr>
          </a:solidFill>
        </p:spPr>
      </p:sp>
      <p:pic>
        <p:nvPicPr>
          <p:cNvPr id="35" name="Image 1" descr="preencoded.png"/>
          <p:cNvPicPr>
            <a:picLocks noChangeAspect="1"/>
          </p:cNvPicPr>
          <p:nvPr/>
        </p:nvPicPr>
        <p:blipFill>
          <a:blip r:embed="rId2"/>
          <a:stretch>
            <a:fillRect/>
          </a:stretch>
        </p:blipFill>
        <p:spPr>
          <a:xfrm>
            <a:off x="956097" y="3691677"/>
            <a:ext cx="245791" cy="245791"/>
          </a:xfrm>
          <a:prstGeom prst="rect">
            <a:avLst/>
          </a:prstGeom>
        </p:spPr>
      </p:pic>
      <p:sp>
        <p:nvSpPr>
          <p:cNvPr id="36" name="Text 32"/>
          <p:cNvSpPr/>
          <p:nvPr/>
        </p:nvSpPr>
        <p:spPr>
          <a:xfrm>
            <a:off x="1508760" y="3521964"/>
            <a:ext cx="5486400" cy="365760"/>
          </a:xfrm>
          <a:prstGeom prst="rect">
            <a:avLst/>
          </a:prstGeom>
          <a:noFill/>
        </p:spPr>
        <p:txBody>
          <a:bodyPr wrap="square" lIns="0" tIns="0" rIns="0" bIns="0" rtlCol="0" anchor="ctr"/>
          <a:lstStyle/>
          <a:p>
            <a:pPr marL="0" indent="0">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人机协同修正回路（视觉结果不准时）</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33"/>
          <p:cNvSpPr/>
          <p:nvPr/>
        </p:nvSpPr>
        <p:spPr>
          <a:xfrm>
            <a:off x="1508760" y="4145280"/>
            <a:ext cx="1463040" cy="502920"/>
          </a:xfrm>
          <a:prstGeom prst="roundRect">
            <a:avLst>
              <a:gd name="adj" fmla="val 14545"/>
            </a:avLst>
          </a:prstGeom>
          <a:solidFill>
            <a:srgbClr val="FFFFFF"/>
          </a:solidFill>
          <a:ln w="15240">
            <a:solidFill>
              <a:srgbClr val="5B9BD5"/>
            </a:solidFill>
            <a:prstDash val="dash"/>
          </a:ln>
        </p:spPr>
      </p:sp>
      <p:sp>
        <p:nvSpPr>
          <p:cNvPr id="38" name="Text 34"/>
          <p:cNvSpPr/>
          <p:nvPr/>
        </p:nvSpPr>
        <p:spPr>
          <a:xfrm>
            <a:off x="1508760" y="4145280"/>
            <a:ext cx="1463040" cy="502920"/>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人工修正</a:t>
            </a:r>
            <a:endPar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Text 35"/>
          <p:cNvSpPr/>
          <p:nvPr/>
        </p:nvSpPr>
        <p:spPr>
          <a:xfrm>
            <a:off x="2971800" y="4145280"/>
            <a:ext cx="457200" cy="502920"/>
          </a:xfrm>
          <a:prstGeom prst="rect">
            <a:avLst/>
          </a:prstGeom>
          <a:noFill/>
        </p:spPr>
        <p:txBody>
          <a:bodyPr wrap="square" lIns="0" tIns="0" rIns="0" bIns="0" rtlCol="0" anchor="ctr"/>
          <a:lstStyle/>
          <a:p>
            <a:pPr marL="0" indent="0" algn="ctr">
              <a:buNone/>
            </a:pPr>
            <a:r>
              <a:rPr lang="en-US" sz="15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500" dirty="0"/>
          </a:p>
        </p:txBody>
      </p:sp>
      <p:sp>
        <p:nvSpPr>
          <p:cNvPr id="40" name="Shape 36"/>
          <p:cNvSpPr/>
          <p:nvPr/>
        </p:nvSpPr>
        <p:spPr>
          <a:xfrm>
            <a:off x="3429000" y="4145280"/>
            <a:ext cx="1463040" cy="502920"/>
          </a:xfrm>
          <a:prstGeom prst="roundRect">
            <a:avLst>
              <a:gd name="adj" fmla="val 14545"/>
            </a:avLst>
          </a:prstGeom>
          <a:solidFill>
            <a:srgbClr val="FFFFFF"/>
          </a:solidFill>
          <a:ln w="15240">
            <a:solidFill>
              <a:srgbClr val="5B9BD5"/>
            </a:solidFill>
            <a:prstDash val="dash"/>
          </a:ln>
        </p:spPr>
      </p:sp>
      <p:sp>
        <p:nvSpPr>
          <p:cNvPr id="41" name="Text 37"/>
          <p:cNvSpPr/>
          <p:nvPr/>
        </p:nvSpPr>
        <p:spPr>
          <a:xfrm>
            <a:off x="3429000" y="4145280"/>
            <a:ext cx="1463040" cy="502920"/>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重算接口</a:t>
            </a:r>
            <a:endPar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Text 38"/>
          <p:cNvSpPr/>
          <p:nvPr/>
        </p:nvSpPr>
        <p:spPr>
          <a:xfrm>
            <a:off x="4892040" y="4145280"/>
            <a:ext cx="457200" cy="502920"/>
          </a:xfrm>
          <a:prstGeom prst="rect">
            <a:avLst/>
          </a:prstGeom>
          <a:noFill/>
        </p:spPr>
        <p:txBody>
          <a:bodyPr wrap="square" lIns="0" tIns="0" rIns="0" bIns="0" rtlCol="0" anchor="ctr"/>
          <a:lstStyle/>
          <a:p>
            <a:pPr marL="0" indent="0" algn="ctr">
              <a:buNone/>
            </a:pPr>
            <a:r>
              <a:rPr lang="en-US" sz="15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500" dirty="0"/>
          </a:p>
        </p:txBody>
      </p:sp>
      <p:sp>
        <p:nvSpPr>
          <p:cNvPr id="43" name="Shape 39"/>
          <p:cNvSpPr/>
          <p:nvPr/>
        </p:nvSpPr>
        <p:spPr>
          <a:xfrm>
            <a:off x="5349240" y="4145280"/>
            <a:ext cx="1463040" cy="502920"/>
          </a:xfrm>
          <a:prstGeom prst="roundRect">
            <a:avLst>
              <a:gd name="adj" fmla="val 14545"/>
            </a:avLst>
          </a:prstGeom>
          <a:solidFill>
            <a:srgbClr val="FFFFFF"/>
          </a:solidFill>
          <a:ln w="15240">
            <a:solidFill>
              <a:srgbClr val="5B9BD5"/>
            </a:solidFill>
            <a:prstDash val="dash"/>
          </a:ln>
        </p:spPr>
      </p:sp>
      <p:sp>
        <p:nvSpPr>
          <p:cNvPr id="44" name="Text 40"/>
          <p:cNvSpPr/>
          <p:nvPr/>
        </p:nvSpPr>
        <p:spPr>
          <a:xfrm>
            <a:off x="5349240" y="4145280"/>
            <a:ext cx="1463040" cy="502920"/>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拓扑重算</a:t>
            </a:r>
            <a:endPar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5" name="Text 41"/>
          <p:cNvSpPr/>
          <p:nvPr/>
        </p:nvSpPr>
        <p:spPr>
          <a:xfrm>
            <a:off x="7223760" y="3888105"/>
            <a:ext cx="4246245" cy="721995"/>
          </a:xfrm>
          <a:prstGeom prst="rect">
            <a:avLst/>
          </a:prstGeom>
          <a:noFill/>
        </p:spPr>
        <p:txBody>
          <a:bodyPr wrap="square" lIns="0" tIns="0" rIns="0" bIns="0" rtlCol="0" anchor="ctr"/>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服务端不重跑视觉检测，仅从修正后的元件重新执行拓扑重构、参考验证与语义分析。</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6" name="Text 42"/>
          <p:cNvSpPr/>
          <p:nvPr/>
        </p:nvSpPr>
        <p:spPr>
          <a:xfrm>
            <a:off x="548640" y="5310505"/>
            <a:ext cx="11094415" cy="640080"/>
          </a:xfrm>
          <a:prstGeom prst="rect">
            <a:avLst/>
          </a:prstGeom>
          <a:noFill/>
        </p:spPr>
        <p:txBody>
          <a:bodyPr wrap="square" lIns="0" tIns="0" rIns="0" bIns="0" rtlCol="0" anchor="t"/>
          <a:lstStyle/>
          <a:p>
            <a:pPr marL="0" indent="0" algn="l">
              <a:lnSpc>
                <a:spcPct val="110000"/>
              </a:lnSpc>
              <a:buNone/>
            </a:pPr>
            <a:r>
              <a:rPr lang="en-US" sz="20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兼顾 AI 自动识别与教学现场的人机协同，避免视觉阶段偶发错误导致系统整体不可用，正面回应“真实感知输入必然带噪”的现实约束。</a:t>
            </a:r>
            <a:endParaRPr lang="en-US" sz="20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8" name="Text 44"/>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第二章 · 系统方案</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技术选型与设计原则</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348740"/>
            <a:ext cx="45720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技术选型</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1874520"/>
            <a:ext cx="5212080" cy="548640"/>
          </a:xfrm>
          <a:prstGeom prst="rect">
            <a:avLst/>
          </a:prstGeom>
          <a:solidFill>
            <a:srgbClr val="F3F5F9"/>
          </a:solidFill>
          <a:ln w="12700">
            <a:solidFill>
              <a:srgbClr val="CFD5EA"/>
            </a:solidFill>
            <a:prstDash val="solid"/>
          </a:ln>
        </p:spPr>
      </p:sp>
      <p:grpSp>
        <p:nvGrpSpPr>
          <p:cNvPr id="69" name="组合 68"/>
          <p:cNvGrpSpPr>
            <a:grpSpLocks noChangeAspect="1"/>
          </p:cNvGrpSpPr>
          <p:nvPr/>
        </p:nvGrpSpPr>
        <p:grpSpPr>
          <a:xfrm>
            <a:off x="658495" y="1974850"/>
            <a:ext cx="346710" cy="346710"/>
            <a:chOff x="1037" y="3110"/>
            <a:chExt cx="546" cy="546"/>
          </a:xfrm>
        </p:grpSpPr>
        <p:sp>
          <p:nvSpPr>
            <p:cNvPr id="13" name="Shape 10"/>
            <p:cNvSpPr/>
            <p:nvPr/>
          </p:nvSpPr>
          <p:spPr>
            <a:xfrm>
              <a:off x="1037" y="3110"/>
              <a:ext cx="547" cy="547"/>
            </a:xfrm>
            <a:prstGeom prst="roundRect">
              <a:avLst>
                <a:gd name="adj" fmla="val 22000"/>
              </a:avLst>
            </a:prstGeom>
            <a:solidFill>
              <a:schemeClr val="accent1">
                <a:lumMod val="40000"/>
                <a:lumOff val="60000"/>
              </a:schemeClr>
            </a:solidFill>
          </p:spPr>
        </p:sp>
        <p:pic>
          <p:nvPicPr>
            <p:cNvPr id="14" name="Image 1" descr="preencoded.png"/>
            <p:cNvPicPr>
              <a:picLocks noChangeAspect="1"/>
            </p:cNvPicPr>
            <p:nvPr/>
          </p:nvPicPr>
          <p:blipFill>
            <a:blip r:embed="rId2"/>
            <a:stretch>
              <a:fillRect/>
            </a:stretch>
          </p:blipFill>
          <p:spPr>
            <a:xfrm>
              <a:off x="1179" y="3253"/>
              <a:ext cx="263" cy="263"/>
            </a:xfrm>
            <a:prstGeom prst="rect">
              <a:avLst/>
            </a:prstGeom>
          </p:spPr>
        </p:pic>
      </p:grpSp>
      <p:sp>
        <p:nvSpPr>
          <p:cNvPr id="15" name="Text 11"/>
          <p:cNvSpPr/>
          <p:nvPr/>
        </p:nvSpPr>
        <p:spPr>
          <a:xfrm>
            <a:off x="1115695" y="1874520"/>
            <a:ext cx="1276350" cy="5486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服务端</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2"/>
          <p:cNvSpPr/>
          <p:nvPr/>
        </p:nvSpPr>
        <p:spPr>
          <a:xfrm>
            <a:off x="2644140" y="1874520"/>
            <a:ext cx="3068320" cy="548640"/>
          </a:xfrm>
          <a:prstGeom prst="rect">
            <a:avLst/>
          </a:prstGeom>
          <a:noFill/>
        </p:spPr>
        <p:txBody>
          <a:bodyPr wrap="square" lIns="0" tIns="0" rIns="0" bIns="0" rtlCol="0" anchor="ctr"/>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Python + FastAPI 异步接口</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3"/>
          <p:cNvSpPr/>
          <p:nvPr/>
        </p:nvSpPr>
        <p:spPr>
          <a:xfrm>
            <a:off x="548640" y="2560320"/>
            <a:ext cx="5212080" cy="548640"/>
          </a:xfrm>
          <a:prstGeom prst="rect">
            <a:avLst/>
          </a:prstGeom>
          <a:solidFill>
            <a:srgbClr val="F3F5F9"/>
          </a:solidFill>
          <a:ln w="12700">
            <a:solidFill>
              <a:srgbClr val="CFD5EA"/>
            </a:solidFill>
            <a:prstDash val="solid"/>
          </a:ln>
        </p:spPr>
      </p:sp>
      <p:grpSp>
        <p:nvGrpSpPr>
          <p:cNvPr id="70" name="组合 69"/>
          <p:cNvGrpSpPr>
            <a:grpSpLocks noChangeAspect="1"/>
          </p:cNvGrpSpPr>
          <p:nvPr/>
        </p:nvGrpSpPr>
        <p:grpSpPr>
          <a:xfrm>
            <a:off x="658495" y="2660650"/>
            <a:ext cx="346710" cy="346710"/>
            <a:chOff x="1037" y="4118"/>
            <a:chExt cx="546" cy="546"/>
          </a:xfrm>
        </p:grpSpPr>
        <p:sp>
          <p:nvSpPr>
            <p:cNvPr id="18" name="Shape 14"/>
            <p:cNvSpPr/>
            <p:nvPr/>
          </p:nvSpPr>
          <p:spPr>
            <a:xfrm>
              <a:off x="1037" y="4118"/>
              <a:ext cx="547" cy="547"/>
            </a:xfrm>
            <a:prstGeom prst="roundRect">
              <a:avLst>
                <a:gd name="adj" fmla="val 22000"/>
              </a:avLst>
            </a:prstGeom>
            <a:solidFill>
              <a:schemeClr val="accent1">
                <a:lumMod val="40000"/>
                <a:lumOff val="60000"/>
              </a:schemeClr>
            </a:solidFill>
          </p:spPr>
        </p:sp>
        <p:pic>
          <p:nvPicPr>
            <p:cNvPr id="19" name="Image 2" descr="preencoded.png"/>
            <p:cNvPicPr>
              <a:picLocks noChangeAspect="1"/>
            </p:cNvPicPr>
            <p:nvPr/>
          </p:nvPicPr>
          <p:blipFill>
            <a:blip r:embed="rId3"/>
            <a:stretch>
              <a:fillRect/>
            </a:stretch>
          </p:blipFill>
          <p:spPr>
            <a:xfrm>
              <a:off x="1179" y="4261"/>
              <a:ext cx="263" cy="263"/>
            </a:xfrm>
            <a:prstGeom prst="rect">
              <a:avLst/>
            </a:prstGeom>
          </p:spPr>
        </p:pic>
      </p:grpSp>
      <p:sp>
        <p:nvSpPr>
          <p:cNvPr id="20" name="Text 15"/>
          <p:cNvSpPr/>
          <p:nvPr/>
        </p:nvSpPr>
        <p:spPr>
          <a:xfrm>
            <a:off x="1115695" y="2560320"/>
            <a:ext cx="1276350" cy="5486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视觉识别</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6"/>
          <p:cNvSpPr/>
          <p:nvPr/>
        </p:nvSpPr>
        <p:spPr>
          <a:xfrm>
            <a:off x="2644140" y="2560320"/>
            <a:ext cx="3068320" cy="548640"/>
          </a:xfrm>
          <a:prstGeom prst="rect">
            <a:avLst/>
          </a:prstGeom>
          <a:noFill/>
        </p:spPr>
        <p:txBody>
          <a:bodyPr wrap="square" lIns="0" tIns="0" rIns="0" bIns="0" rtlCol="0" anchor="ctr"/>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YOLO 系列 + OpenVINO 异构适配</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Shape 17"/>
          <p:cNvSpPr/>
          <p:nvPr/>
        </p:nvSpPr>
        <p:spPr>
          <a:xfrm>
            <a:off x="548640" y="3246120"/>
            <a:ext cx="5212080" cy="548640"/>
          </a:xfrm>
          <a:prstGeom prst="rect">
            <a:avLst/>
          </a:prstGeom>
          <a:solidFill>
            <a:srgbClr val="F3F5F9"/>
          </a:solidFill>
          <a:ln w="12700">
            <a:solidFill>
              <a:srgbClr val="CFD5EA"/>
            </a:solidFill>
            <a:prstDash val="solid"/>
          </a:ln>
        </p:spPr>
      </p:sp>
      <p:grpSp>
        <p:nvGrpSpPr>
          <p:cNvPr id="71" name="组合 70"/>
          <p:cNvGrpSpPr>
            <a:grpSpLocks noChangeAspect="1"/>
          </p:cNvGrpSpPr>
          <p:nvPr/>
        </p:nvGrpSpPr>
        <p:grpSpPr>
          <a:xfrm>
            <a:off x="658495" y="3346450"/>
            <a:ext cx="346710" cy="346710"/>
            <a:chOff x="1037" y="5126"/>
            <a:chExt cx="546" cy="546"/>
          </a:xfrm>
        </p:grpSpPr>
        <p:sp>
          <p:nvSpPr>
            <p:cNvPr id="23" name="Shape 18"/>
            <p:cNvSpPr/>
            <p:nvPr/>
          </p:nvSpPr>
          <p:spPr>
            <a:xfrm>
              <a:off x="1037" y="5126"/>
              <a:ext cx="547" cy="547"/>
            </a:xfrm>
            <a:prstGeom prst="roundRect">
              <a:avLst>
                <a:gd name="adj" fmla="val 22000"/>
              </a:avLst>
            </a:prstGeom>
            <a:solidFill>
              <a:schemeClr val="accent1">
                <a:lumMod val="40000"/>
                <a:lumOff val="60000"/>
              </a:schemeClr>
            </a:solidFill>
          </p:spPr>
        </p:sp>
        <p:pic>
          <p:nvPicPr>
            <p:cNvPr id="24" name="Image 3" descr="preencoded.png"/>
            <p:cNvPicPr>
              <a:picLocks noChangeAspect="1"/>
            </p:cNvPicPr>
            <p:nvPr/>
          </p:nvPicPr>
          <p:blipFill>
            <a:blip r:embed="rId4"/>
            <a:stretch>
              <a:fillRect/>
            </a:stretch>
          </p:blipFill>
          <p:spPr>
            <a:xfrm>
              <a:off x="1179" y="5269"/>
              <a:ext cx="263" cy="263"/>
            </a:xfrm>
            <a:prstGeom prst="rect">
              <a:avLst/>
            </a:prstGeom>
          </p:spPr>
        </p:pic>
      </p:grpSp>
      <p:sp>
        <p:nvSpPr>
          <p:cNvPr id="25" name="Text 19"/>
          <p:cNvSpPr/>
          <p:nvPr/>
        </p:nvSpPr>
        <p:spPr>
          <a:xfrm>
            <a:off x="1115695" y="3246120"/>
            <a:ext cx="1276350" cy="5486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电气比对</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0"/>
          <p:cNvSpPr/>
          <p:nvPr/>
        </p:nvSpPr>
        <p:spPr>
          <a:xfrm>
            <a:off x="2644140" y="3246120"/>
            <a:ext cx="3068320" cy="548640"/>
          </a:xfrm>
          <a:prstGeom prst="rect">
            <a:avLst/>
          </a:prstGeom>
          <a:noFill/>
        </p:spPr>
        <p:txBody>
          <a:bodyPr wrap="square" lIns="0" tIns="0" rIns="0" bIns="0" rtlCol="0" anchor="ctr"/>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图论库 · 确定性图同构 / 子图匹配</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1"/>
          <p:cNvSpPr/>
          <p:nvPr/>
        </p:nvSpPr>
        <p:spPr>
          <a:xfrm>
            <a:off x="548640" y="3924300"/>
            <a:ext cx="5212080" cy="548640"/>
          </a:xfrm>
          <a:prstGeom prst="rect">
            <a:avLst/>
          </a:prstGeom>
          <a:solidFill>
            <a:srgbClr val="F3F5F9"/>
          </a:solidFill>
          <a:ln w="12700">
            <a:solidFill>
              <a:srgbClr val="CFD5EA"/>
            </a:solidFill>
            <a:prstDash val="solid"/>
          </a:ln>
        </p:spPr>
      </p:sp>
      <p:grpSp>
        <p:nvGrpSpPr>
          <p:cNvPr id="72" name="组合 71"/>
          <p:cNvGrpSpPr>
            <a:grpSpLocks noChangeAspect="1"/>
          </p:cNvGrpSpPr>
          <p:nvPr/>
        </p:nvGrpSpPr>
        <p:grpSpPr>
          <a:xfrm>
            <a:off x="658495" y="4024630"/>
            <a:ext cx="346710" cy="346710"/>
            <a:chOff x="1037" y="6134"/>
            <a:chExt cx="546" cy="546"/>
          </a:xfrm>
        </p:grpSpPr>
        <p:sp>
          <p:nvSpPr>
            <p:cNvPr id="28" name="Shape 22"/>
            <p:cNvSpPr/>
            <p:nvPr/>
          </p:nvSpPr>
          <p:spPr>
            <a:xfrm>
              <a:off x="1037" y="6134"/>
              <a:ext cx="547" cy="547"/>
            </a:xfrm>
            <a:prstGeom prst="roundRect">
              <a:avLst>
                <a:gd name="adj" fmla="val 22000"/>
              </a:avLst>
            </a:prstGeom>
            <a:solidFill>
              <a:schemeClr val="accent1">
                <a:lumMod val="40000"/>
                <a:lumOff val="60000"/>
              </a:schemeClr>
            </a:solidFill>
          </p:spPr>
        </p:sp>
        <p:pic>
          <p:nvPicPr>
            <p:cNvPr id="29" name="Image 4" descr="preencoded.png"/>
            <p:cNvPicPr>
              <a:picLocks noChangeAspect="1"/>
            </p:cNvPicPr>
            <p:nvPr/>
          </p:nvPicPr>
          <p:blipFill>
            <a:blip r:embed="rId5"/>
            <a:stretch>
              <a:fillRect/>
            </a:stretch>
          </p:blipFill>
          <p:spPr>
            <a:xfrm>
              <a:off x="1179" y="6277"/>
              <a:ext cx="263" cy="263"/>
            </a:xfrm>
            <a:prstGeom prst="rect">
              <a:avLst/>
            </a:prstGeom>
          </p:spPr>
        </p:pic>
      </p:grpSp>
      <p:sp>
        <p:nvSpPr>
          <p:cNvPr id="30" name="Text 23"/>
          <p:cNvSpPr/>
          <p:nvPr/>
        </p:nvSpPr>
        <p:spPr>
          <a:xfrm>
            <a:off x="1115695" y="3924300"/>
            <a:ext cx="1276350" cy="5486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知识检索</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4"/>
          <p:cNvSpPr/>
          <p:nvPr/>
        </p:nvSpPr>
        <p:spPr>
          <a:xfrm>
            <a:off x="2644140" y="3924300"/>
            <a:ext cx="3068320" cy="548640"/>
          </a:xfrm>
          <a:prstGeom prst="rect">
            <a:avLst/>
          </a:prstGeom>
          <a:noFill/>
        </p:spPr>
        <p:txBody>
          <a:bodyPr wrap="square" lIns="0" tIns="0" rIns="0" bIns="0" rtlCol="0" anchor="ctr"/>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本地向量化多通道知识库</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5"/>
          <p:cNvSpPr/>
          <p:nvPr/>
        </p:nvSpPr>
        <p:spPr>
          <a:xfrm>
            <a:off x="548640" y="4594860"/>
            <a:ext cx="5212080" cy="548640"/>
          </a:xfrm>
          <a:prstGeom prst="rect">
            <a:avLst/>
          </a:prstGeom>
          <a:solidFill>
            <a:srgbClr val="F3F5F9"/>
          </a:solidFill>
          <a:ln w="12700">
            <a:solidFill>
              <a:srgbClr val="CFD5EA"/>
            </a:solidFill>
            <a:prstDash val="solid"/>
          </a:ln>
        </p:spPr>
      </p:sp>
      <p:grpSp>
        <p:nvGrpSpPr>
          <p:cNvPr id="73" name="组合 72"/>
          <p:cNvGrpSpPr>
            <a:grpSpLocks noChangeAspect="1"/>
          </p:cNvGrpSpPr>
          <p:nvPr/>
        </p:nvGrpSpPr>
        <p:grpSpPr>
          <a:xfrm>
            <a:off x="658495" y="4695190"/>
            <a:ext cx="346710" cy="346710"/>
            <a:chOff x="1037" y="7142"/>
            <a:chExt cx="546" cy="546"/>
          </a:xfrm>
        </p:grpSpPr>
        <p:sp>
          <p:nvSpPr>
            <p:cNvPr id="33" name="Shape 26"/>
            <p:cNvSpPr/>
            <p:nvPr/>
          </p:nvSpPr>
          <p:spPr>
            <a:xfrm>
              <a:off x="1037" y="7142"/>
              <a:ext cx="547" cy="547"/>
            </a:xfrm>
            <a:prstGeom prst="roundRect">
              <a:avLst>
                <a:gd name="adj" fmla="val 22000"/>
              </a:avLst>
            </a:prstGeom>
            <a:solidFill>
              <a:schemeClr val="accent1">
                <a:lumMod val="40000"/>
                <a:lumOff val="60000"/>
              </a:schemeClr>
            </a:solidFill>
          </p:spPr>
        </p:sp>
        <p:pic>
          <p:nvPicPr>
            <p:cNvPr id="34" name="Image 5" descr="preencoded.png"/>
            <p:cNvPicPr>
              <a:picLocks noChangeAspect="1"/>
            </p:cNvPicPr>
            <p:nvPr/>
          </p:nvPicPr>
          <p:blipFill>
            <a:blip r:embed="rId6"/>
            <a:stretch>
              <a:fillRect/>
            </a:stretch>
          </p:blipFill>
          <p:spPr>
            <a:xfrm>
              <a:off x="1179" y="7285"/>
              <a:ext cx="263" cy="263"/>
            </a:xfrm>
            <a:prstGeom prst="rect">
              <a:avLst/>
            </a:prstGeom>
          </p:spPr>
        </p:pic>
      </p:grpSp>
      <p:sp>
        <p:nvSpPr>
          <p:cNvPr id="35" name="Text 27"/>
          <p:cNvSpPr/>
          <p:nvPr/>
        </p:nvSpPr>
        <p:spPr>
          <a:xfrm>
            <a:off x="1115695" y="4594860"/>
            <a:ext cx="1276350" cy="5486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端侧解释</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28"/>
          <p:cNvSpPr/>
          <p:nvPr/>
        </p:nvSpPr>
        <p:spPr>
          <a:xfrm>
            <a:off x="2644140" y="4594860"/>
            <a:ext cx="3068320" cy="548640"/>
          </a:xfrm>
          <a:prstGeom prst="rect">
            <a:avLst/>
          </a:prstGeom>
          <a:noFill/>
        </p:spPr>
        <p:txBody>
          <a:bodyPr wrap="square" lIns="0" tIns="0" rIns="0" bIns="0" rtlCol="0" anchor="ctr"/>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开源中文小模型经蒸馏与量化</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29"/>
          <p:cNvSpPr/>
          <p:nvPr/>
        </p:nvSpPr>
        <p:spPr>
          <a:xfrm>
            <a:off x="548640" y="5273040"/>
            <a:ext cx="5212080" cy="548640"/>
          </a:xfrm>
          <a:prstGeom prst="rect">
            <a:avLst/>
          </a:prstGeom>
          <a:solidFill>
            <a:srgbClr val="F3F5F9"/>
          </a:solidFill>
          <a:ln w="12700">
            <a:solidFill>
              <a:srgbClr val="CFD5EA"/>
            </a:solidFill>
            <a:prstDash val="solid"/>
          </a:ln>
        </p:spPr>
      </p:sp>
      <p:grpSp>
        <p:nvGrpSpPr>
          <p:cNvPr id="74" name="组合 73"/>
          <p:cNvGrpSpPr>
            <a:grpSpLocks noChangeAspect="1"/>
          </p:cNvGrpSpPr>
          <p:nvPr/>
        </p:nvGrpSpPr>
        <p:grpSpPr>
          <a:xfrm>
            <a:off x="658495" y="5373370"/>
            <a:ext cx="346710" cy="346710"/>
            <a:chOff x="1037" y="8150"/>
            <a:chExt cx="546" cy="546"/>
          </a:xfrm>
        </p:grpSpPr>
        <p:sp>
          <p:nvSpPr>
            <p:cNvPr id="38" name="Shape 30"/>
            <p:cNvSpPr/>
            <p:nvPr/>
          </p:nvSpPr>
          <p:spPr>
            <a:xfrm>
              <a:off x="1037" y="8150"/>
              <a:ext cx="547" cy="547"/>
            </a:xfrm>
            <a:prstGeom prst="roundRect">
              <a:avLst>
                <a:gd name="adj" fmla="val 22000"/>
              </a:avLst>
            </a:prstGeom>
            <a:solidFill>
              <a:schemeClr val="accent1">
                <a:lumMod val="40000"/>
                <a:lumOff val="60000"/>
              </a:schemeClr>
            </a:solidFill>
          </p:spPr>
        </p:sp>
        <p:pic>
          <p:nvPicPr>
            <p:cNvPr id="39" name="Image 6" descr="preencoded.png"/>
            <p:cNvPicPr>
              <a:picLocks noChangeAspect="1"/>
            </p:cNvPicPr>
            <p:nvPr/>
          </p:nvPicPr>
          <p:blipFill>
            <a:blip r:embed="rId7"/>
            <a:stretch>
              <a:fillRect/>
            </a:stretch>
          </p:blipFill>
          <p:spPr>
            <a:xfrm>
              <a:off x="1179" y="8293"/>
              <a:ext cx="263" cy="263"/>
            </a:xfrm>
            <a:prstGeom prst="rect">
              <a:avLst/>
            </a:prstGeom>
          </p:spPr>
        </p:pic>
      </p:grpSp>
      <p:sp>
        <p:nvSpPr>
          <p:cNvPr id="40" name="Text 31"/>
          <p:cNvSpPr/>
          <p:nvPr/>
        </p:nvSpPr>
        <p:spPr>
          <a:xfrm>
            <a:off x="1115695" y="5273040"/>
            <a:ext cx="1276350" cy="5486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交互端</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2"/>
          <p:cNvSpPr/>
          <p:nvPr/>
        </p:nvSpPr>
        <p:spPr>
          <a:xfrm>
            <a:off x="2644140" y="5273040"/>
            <a:ext cx="3068320" cy="548640"/>
          </a:xfrm>
          <a:prstGeom prst="rect">
            <a:avLst/>
          </a:prstGeom>
          <a:noFill/>
        </p:spPr>
        <p:txBody>
          <a:bodyPr wrap="square" lIns="0" tIns="0" rIns="0" bIns="0" rtlCol="0" anchor="ctr"/>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现代前端框架 + 画布叠加呈现</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Text 33"/>
          <p:cNvSpPr/>
          <p:nvPr/>
        </p:nvSpPr>
        <p:spPr>
          <a:xfrm>
            <a:off x="6263640" y="1348740"/>
            <a:ext cx="539496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四项设计原则</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3" name="Shape 34"/>
          <p:cNvSpPr/>
          <p:nvPr/>
        </p:nvSpPr>
        <p:spPr>
          <a:xfrm>
            <a:off x="6263640" y="1874520"/>
            <a:ext cx="5394960" cy="110299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44" name="Shape 35"/>
          <p:cNvSpPr/>
          <p:nvPr/>
        </p:nvSpPr>
        <p:spPr>
          <a:xfrm>
            <a:off x="6263640" y="1874520"/>
            <a:ext cx="76200" cy="1102995"/>
          </a:xfrm>
          <a:prstGeom prst="rect">
            <a:avLst/>
          </a:prstGeom>
          <a:solidFill>
            <a:srgbClr val="5B9BD5"/>
          </a:solidFill>
        </p:spPr>
      </p:sp>
      <p:sp>
        <p:nvSpPr>
          <p:cNvPr id="45" name="Shape 36"/>
          <p:cNvSpPr/>
          <p:nvPr/>
        </p:nvSpPr>
        <p:spPr>
          <a:xfrm>
            <a:off x="6446520" y="2103120"/>
            <a:ext cx="438912" cy="438912"/>
          </a:xfrm>
          <a:prstGeom prst="ellipse">
            <a:avLst/>
          </a:prstGeom>
          <a:solidFill>
            <a:srgbClr val="14326C"/>
          </a:solidFill>
        </p:spPr>
      </p:sp>
      <p:sp>
        <p:nvSpPr>
          <p:cNvPr id="46" name="Text 37"/>
          <p:cNvSpPr/>
          <p:nvPr/>
        </p:nvSpPr>
        <p:spPr>
          <a:xfrm>
            <a:off x="6446520" y="2103120"/>
            <a:ext cx="438912" cy="438912"/>
          </a:xfrm>
          <a:prstGeom prst="rect">
            <a:avLst/>
          </a:prstGeom>
          <a:noFill/>
        </p:spPr>
        <p:txBody>
          <a:bodyPr wrap="square" lIns="0" tIns="0" rIns="0" bIns="0" rtlCol="0" anchor="ctr"/>
          <a:lstStyle/>
          <a:p>
            <a:pPr marL="0" indent="0" algn="ctr">
              <a:buNone/>
            </a:pPr>
            <a:r>
              <a:rPr lang="en-US" sz="19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900" dirty="0"/>
          </a:p>
        </p:txBody>
      </p:sp>
      <p:sp>
        <p:nvSpPr>
          <p:cNvPr id="47" name="Text 38"/>
          <p:cNvSpPr/>
          <p:nvPr/>
        </p:nvSpPr>
        <p:spPr>
          <a:xfrm>
            <a:off x="7040880" y="1984248"/>
            <a:ext cx="4434840" cy="329184"/>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事实链优先</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8" name="Text 39"/>
          <p:cNvSpPr/>
          <p:nvPr/>
        </p:nvSpPr>
        <p:spPr>
          <a:xfrm>
            <a:off x="7040880" y="2372868"/>
            <a:ext cx="4434840" cy="420624"/>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视觉模型只产生候选事实，最终结论须经板型规则、拓扑分析与验证模块约束</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9" name="Shape 40"/>
          <p:cNvSpPr/>
          <p:nvPr/>
        </p:nvSpPr>
        <p:spPr>
          <a:xfrm>
            <a:off x="6263640" y="3034030"/>
            <a:ext cx="5394960" cy="108077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50" name="Shape 41"/>
          <p:cNvSpPr/>
          <p:nvPr/>
        </p:nvSpPr>
        <p:spPr>
          <a:xfrm>
            <a:off x="6263640" y="3034030"/>
            <a:ext cx="76200" cy="1080770"/>
          </a:xfrm>
          <a:prstGeom prst="rect">
            <a:avLst/>
          </a:prstGeom>
          <a:solidFill>
            <a:srgbClr val="5B9BD5"/>
          </a:solidFill>
        </p:spPr>
      </p:sp>
      <p:sp>
        <p:nvSpPr>
          <p:cNvPr id="51" name="Shape 42"/>
          <p:cNvSpPr/>
          <p:nvPr/>
        </p:nvSpPr>
        <p:spPr>
          <a:xfrm>
            <a:off x="6446520" y="3262884"/>
            <a:ext cx="438912" cy="438912"/>
          </a:xfrm>
          <a:prstGeom prst="ellipse">
            <a:avLst/>
          </a:prstGeom>
          <a:solidFill>
            <a:srgbClr val="14326C"/>
          </a:solidFill>
        </p:spPr>
      </p:sp>
      <p:sp>
        <p:nvSpPr>
          <p:cNvPr id="52" name="Text 43"/>
          <p:cNvSpPr/>
          <p:nvPr/>
        </p:nvSpPr>
        <p:spPr>
          <a:xfrm>
            <a:off x="6446520" y="3262884"/>
            <a:ext cx="438912" cy="438912"/>
          </a:xfrm>
          <a:prstGeom prst="rect">
            <a:avLst/>
          </a:prstGeom>
          <a:noFill/>
        </p:spPr>
        <p:txBody>
          <a:bodyPr wrap="square" lIns="0" tIns="0" rIns="0" bIns="0" rtlCol="0" anchor="ctr"/>
          <a:lstStyle/>
          <a:p>
            <a:pPr marL="0" indent="0" algn="ctr">
              <a:buNone/>
            </a:pPr>
            <a:r>
              <a:rPr lang="en-US" sz="19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900" dirty="0"/>
          </a:p>
        </p:txBody>
      </p:sp>
      <p:sp>
        <p:nvSpPr>
          <p:cNvPr id="53" name="Text 44"/>
          <p:cNvSpPr/>
          <p:nvPr/>
        </p:nvSpPr>
        <p:spPr>
          <a:xfrm>
            <a:off x="7040880" y="3144012"/>
            <a:ext cx="4434840" cy="329184"/>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接口契约优先</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4" name="Text 45"/>
          <p:cNvSpPr/>
          <p:nvPr/>
        </p:nvSpPr>
        <p:spPr>
          <a:xfrm>
            <a:off x="7040880" y="3540252"/>
            <a:ext cx="4434840" cy="420624"/>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各阶段输出以统一结构化格式作为协作边界，避免私自猜测</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5" name="Shape 46"/>
          <p:cNvSpPr/>
          <p:nvPr/>
        </p:nvSpPr>
        <p:spPr>
          <a:xfrm>
            <a:off x="6263640" y="4171315"/>
            <a:ext cx="5394960" cy="107378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56" name="Shape 47"/>
          <p:cNvSpPr/>
          <p:nvPr/>
        </p:nvSpPr>
        <p:spPr>
          <a:xfrm>
            <a:off x="6263640" y="4171315"/>
            <a:ext cx="76200" cy="1073785"/>
          </a:xfrm>
          <a:prstGeom prst="rect">
            <a:avLst/>
          </a:prstGeom>
          <a:solidFill>
            <a:srgbClr val="5B9BD5"/>
          </a:solidFill>
        </p:spPr>
      </p:sp>
      <p:sp>
        <p:nvSpPr>
          <p:cNvPr id="57" name="Shape 48"/>
          <p:cNvSpPr/>
          <p:nvPr/>
        </p:nvSpPr>
        <p:spPr>
          <a:xfrm>
            <a:off x="6446520" y="4399788"/>
            <a:ext cx="438912" cy="438912"/>
          </a:xfrm>
          <a:prstGeom prst="ellipse">
            <a:avLst/>
          </a:prstGeom>
          <a:solidFill>
            <a:srgbClr val="14326C"/>
          </a:solidFill>
        </p:spPr>
      </p:sp>
      <p:sp>
        <p:nvSpPr>
          <p:cNvPr id="58" name="Text 49"/>
          <p:cNvSpPr/>
          <p:nvPr/>
        </p:nvSpPr>
        <p:spPr>
          <a:xfrm>
            <a:off x="6446520" y="4399788"/>
            <a:ext cx="438912" cy="438912"/>
          </a:xfrm>
          <a:prstGeom prst="rect">
            <a:avLst/>
          </a:prstGeom>
          <a:noFill/>
        </p:spPr>
        <p:txBody>
          <a:bodyPr wrap="square" lIns="0" tIns="0" rIns="0" bIns="0" rtlCol="0" anchor="ctr"/>
          <a:lstStyle/>
          <a:p>
            <a:pPr marL="0" indent="0" algn="ctr">
              <a:buNone/>
            </a:pPr>
            <a:r>
              <a:rPr lang="en-US" sz="19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900" dirty="0"/>
          </a:p>
        </p:txBody>
      </p:sp>
      <p:sp>
        <p:nvSpPr>
          <p:cNvPr id="59" name="Text 50"/>
          <p:cNvSpPr/>
          <p:nvPr/>
        </p:nvSpPr>
        <p:spPr>
          <a:xfrm>
            <a:off x="7040880" y="4280916"/>
            <a:ext cx="4434840" cy="329184"/>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人机协同优先</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0" name="Text 51"/>
          <p:cNvSpPr/>
          <p:nvPr/>
        </p:nvSpPr>
        <p:spPr>
          <a:xfrm>
            <a:off x="7040880" y="4669536"/>
            <a:ext cx="4434840" cy="420624"/>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允许人工端口标注与孔位修正，把 AI 输出修正为可信事实后再重算</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1" name="Shape 52"/>
          <p:cNvSpPr/>
          <p:nvPr/>
        </p:nvSpPr>
        <p:spPr>
          <a:xfrm>
            <a:off x="6263640" y="5315585"/>
            <a:ext cx="5394960" cy="114871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62" name="Shape 53"/>
          <p:cNvSpPr/>
          <p:nvPr/>
        </p:nvSpPr>
        <p:spPr>
          <a:xfrm>
            <a:off x="6263640" y="5315585"/>
            <a:ext cx="76200" cy="1148715"/>
          </a:xfrm>
          <a:prstGeom prst="rect">
            <a:avLst/>
          </a:prstGeom>
          <a:solidFill>
            <a:srgbClr val="5B9BD5"/>
          </a:solidFill>
        </p:spPr>
      </p:sp>
      <p:sp>
        <p:nvSpPr>
          <p:cNvPr id="63" name="Shape 54"/>
          <p:cNvSpPr/>
          <p:nvPr/>
        </p:nvSpPr>
        <p:spPr>
          <a:xfrm>
            <a:off x="6446520" y="5536692"/>
            <a:ext cx="438912" cy="438912"/>
          </a:xfrm>
          <a:prstGeom prst="ellipse">
            <a:avLst/>
          </a:prstGeom>
          <a:solidFill>
            <a:srgbClr val="14326C"/>
          </a:solidFill>
        </p:spPr>
      </p:sp>
      <p:sp>
        <p:nvSpPr>
          <p:cNvPr id="64" name="Text 55"/>
          <p:cNvSpPr/>
          <p:nvPr/>
        </p:nvSpPr>
        <p:spPr>
          <a:xfrm>
            <a:off x="6446520" y="5536692"/>
            <a:ext cx="438912" cy="438912"/>
          </a:xfrm>
          <a:prstGeom prst="rect">
            <a:avLst/>
          </a:prstGeom>
          <a:noFill/>
        </p:spPr>
        <p:txBody>
          <a:bodyPr wrap="square" lIns="0" tIns="0" rIns="0" bIns="0" rtlCol="0" anchor="ctr"/>
          <a:lstStyle/>
          <a:p>
            <a:pPr marL="0" indent="0" algn="ctr">
              <a:buNone/>
            </a:pPr>
            <a:r>
              <a:rPr lang="en-US" sz="19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900" dirty="0"/>
          </a:p>
        </p:txBody>
      </p:sp>
      <p:sp>
        <p:nvSpPr>
          <p:cNvPr id="65" name="Text 56"/>
          <p:cNvSpPr/>
          <p:nvPr/>
        </p:nvSpPr>
        <p:spPr>
          <a:xfrm>
            <a:off x="7040880" y="5417820"/>
            <a:ext cx="4434840" cy="329184"/>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边缘可观测优先</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6" name="Text 57"/>
          <p:cNvSpPr/>
          <p:nvPr/>
        </p:nvSpPr>
        <p:spPr>
          <a:xfrm>
            <a:off x="7040880" y="5844540"/>
            <a:ext cx="4434840" cy="420624"/>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保留模型路径、推理参数、版本号与阶段耗时，与遥测一起用于分析追溯</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8" name="Text 59"/>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第三章 · 视觉感知与拓扑重构</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自建引脚级面包板数据集</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custDataLst>
              <p:tags r:id="rId2"/>
            </p:custDataLst>
          </p:nvPr>
        </p:nvSpPr>
        <p:spPr>
          <a:xfrm>
            <a:off x="548640" y="1554480"/>
            <a:ext cx="1463040" cy="713232"/>
          </a:xfrm>
          <a:prstGeom prst="rect">
            <a:avLst/>
          </a:prstGeom>
          <a:solidFill>
            <a:srgbClr val="14326C"/>
          </a:solidFill>
        </p:spPr>
      </p:sp>
      <p:sp>
        <p:nvSpPr>
          <p:cNvPr id="12" name="Text 9"/>
          <p:cNvSpPr/>
          <p:nvPr>
            <p:custDataLst>
              <p:tags r:id="rId3"/>
            </p:custDataLst>
          </p:nvPr>
        </p:nvSpPr>
        <p:spPr>
          <a:xfrm>
            <a:off x="548640" y="1554480"/>
            <a:ext cx="1463040"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元件类别</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Shape 10"/>
          <p:cNvSpPr/>
          <p:nvPr>
            <p:custDataLst>
              <p:tags r:id="rId4"/>
            </p:custDataLst>
          </p:nvPr>
        </p:nvSpPr>
        <p:spPr>
          <a:xfrm>
            <a:off x="2011680" y="1554480"/>
            <a:ext cx="5486400" cy="713232"/>
          </a:xfrm>
          <a:prstGeom prst="rect">
            <a:avLst/>
          </a:prstGeom>
          <a:solidFill>
            <a:srgbClr val="F3F5F9"/>
          </a:solidFill>
          <a:ln w="12700">
            <a:solidFill>
              <a:srgbClr val="CFD5EA"/>
            </a:solidFill>
            <a:prstDash val="solid"/>
          </a:ln>
        </p:spPr>
      </p:sp>
      <p:sp>
        <p:nvSpPr>
          <p:cNvPr id="14" name="Text 11"/>
          <p:cNvSpPr/>
          <p:nvPr>
            <p:custDataLst>
              <p:tags r:id="rId5"/>
            </p:custDataLst>
          </p:nvPr>
        </p:nvSpPr>
        <p:spPr>
          <a:xfrm>
            <a:off x="2148840" y="1554480"/>
            <a:ext cx="5257800" cy="713232"/>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电阻、陶瓷/电解电容、二极管、发光二极管、跳线、三脚晶体管（共 7 类）</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Shape 12"/>
          <p:cNvSpPr/>
          <p:nvPr>
            <p:custDataLst>
              <p:tags r:id="rId6"/>
            </p:custDataLst>
          </p:nvPr>
        </p:nvSpPr>
        <p:spPr>
          <a:xfrm>
            <a:off x="548640" y="2555621"/>
            <a:ext cx="1463040" cy="713232"/>
          </a:xfrm>
          <a:prstGeom prst="rect">
            <a:avLst/>
          </a:prstGeom>
          <a:solidFill>
            <a:srgbClr val="14326C"/>
          </a:solidFill>
        </p:spPr>
      </p:sp>
      <p:sp>
        <p:nvSpPr>
          <p:cNvPr id="16" name="Text 13"/>
          <p:cNvSpPr/>
          <p:nvPr>
            <p:custDataLst>
              <p:tags r:id="rId7"/>
            </p:custDataLst>
          </p:nvPr>
        </p:nvSpPr>
        <p:spPr>
          <a:xfrm>
            <a:off x="548640" y="2555621"/>
            <a:ext cx="1463040"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标注粒度</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4"/>
          <p:cNvSpPr/>
          <p:nvPr>
            <p:custDataLst>
              <p:tags r:id="rId8"/>
            </p:custDataLst>
          </p:nvPr>
        </p:nvSpPr>
        <p:spPr>
          <a:xfrm>
            <a:off x="2011680" y="2555621"/>
            <a:ext cx="5486400" cy="713232"/>
          </a:xfrm>
          <a:prstGeom prst="rect">
            <a:avLst/>
          </a:prstGeom>
          <a:solidFill>
            <a:srgbClr val="F3F5F9"/>
          </a:solidFill>
          <a:ln w="12700">
            <a:solidFill>
              <a:srgbClr val="CFD5EA"/>
            </a:solidFill>
            <a:prstDash val="solid"/>
          </a:ln>
        </p:spPr>
      </p:sp>
      <p:sp>
        <p:nvSpPr>
          <p:cNvPr id="18" name="Text 15"/>
          <p:cNvSpPr/>
          <p:nvPr>
            <p:custDataLst>
              <p:tags r:id="rId9"/>
            </p:custDataLst>
          </p:nvPr>
        </p:nvSpPr>
        <p:spPr>
          <a:xfrm>
            <a:off x="2148840" y="2555621"/>
            <a:ext cx="5257800" cy="713232"/>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组件边界框 + 引脚级关键点（关键点张量 3×3，含可见性）</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6"/>
          <p:cNvSpPr/>
          <p:nvPr>
            <p:custDataLst>
              <p:tags r:id="rId10"/>
            </p:custDataLst>
          </p:nvPr>
        </p:nvSpPr>
        <p:spPr>
          <a:xfrm>
            <a:off x="548640" y="3556762"/>
            <a:ext cx="1463040" cy="713232"/>
          </a:xfrm>
          <a:prstGeom prst="rect">
            <a:avLst/>
          </a:prstGeom>
          <a:solidFill>
            <a:srgbClr val="14326C"/>
          </a:solidFill>
        </p:spPr>
      </p:sp>
      <p:sp>
        <p:nvSpPr>
          <p:cNvPr id="20" name="Text 17"/>
          <p:cNvSpPr/>
          <p:nvPr>
            <p:custDataLst>
              <p:tags r:id="rId11"/>
            </p:custDataLst>
          </p:nvPr>
        </p:nvSpPr>
        <p:spPr>
          <a:xfrm>
            <a:off x="548640" y="3556762"/>
            <a:ext cx="1463040"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覆盖拓扑</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Shape 18"/>
          <p:cNvSpPr/>
          <p:nvPr>
            <p:custDataLst>
              <p:tags r:id="rId12"/>
            </p:custDataLst>
          </p:nvPr>
        </p:nvSpPr>
        <p:spPr>
          <a:xfrm>
            <a:off x="2011680" y="3556762"/>
            <a:ext cx="5486400" cy="713232"/>
          </a:xfrm>
          <a:prstGeom prst="rect">
            <a:avLst/>
          </a:prstGeom>
          <a:solidFill>
            <a:srgbClr val="F3F5F9"/>
          </a:solidFill>
          <a:ln w="12700">
            <a:solidFill>
              <a:srgbClr val="CFD5EA"/>
            </a:solidFill>
            <a:prstDash val="solid"/>
          </a:ln>
        </p:spPr>
      </p:sp>
      <p:sp>
        <p:nvSpPr>
          <p:cNvPr id="22" name="Text 19"/>
          <p:cNvSpPr/>
          <p:nvPr>
            <p:custDataLst>
              <p:tags r:id="rId13"/>
            </p:custDataLst>
          </p:nvPr>
        </p:nvSpPr>
        <p:spPr>
          <a:xfrm>
            <a:off x="2148840" y="3556762"/>
            <a:ext cx="5257800" cy="713232"/>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一阶 RC、共射放大、差分对、UA741 反相 / 积分 / 加法（共 6 类）</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Shape 20"/>
          <p:cNvSpPr/>
          <p:nvPr>
            <p:custDataLst>
              <p:tags r:id="rId14"/>
            </p:custDataLst>
          </p:nvPr>
        </p:nvSpPr>
        <p:spPr>
          <a:xfrm>
            <a:off x="548640" y="4498848"/>
            <a:ext cx="1463040" cy="713232"/>
          </a:xfrm>
          <a:prstGeom prst="rect">
            <a:avLst/>
          </a:prstGeom>
          <a:solidFill>
            <a:srgbClr val="14326C"/>
          </a:solidFill>
        </p:spPr>
      </p:sp>
      <p:sp>
        <p:nvSpPr>
          <p:cNvPr id="24" name="Text 21"/>
          <p:cNvSpPr/>
          <p:nvPr>
            <p:custDataLst>
              <p:tags r:id="rId15"/>
            </p:custDataLst>
          </p:nvPr>
        </p:nvSpPr>
        <p:spPr>
          <a:xfrm>
            <a:off x="548640" y="4498848"/>
            <a:ext cx="1463040"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数据划分</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2"/>
          <p:cNvSpPr/>
          <p:nvPr>
            <p:custDataLst>
              <p:tags r:id="rId16"/>
            </p:custDataLst>
          </p:nvPr>
        </p:nvSpPr>
        <p:spPr>
          <a:xfrm>
            <a:off x="2011680" y="4498848"/>
            <a:ext cx="5486400" cy="713232"/>
          </a:xfrm>
          <a:prstGeom prst="rect">
            <a:avLst/>
          </a:prstGeom>
          <a:solidFill>
            <a:srgbClr val="F3F5F9"/>
          </a:solidFill>
          <a:ln w="12700">
            <a:solidFill>
              <a:srgbClr val="CFD5EA"/>
            </a:solidFill>
            <a:prstDash val="solid"/>
          </a:ln>
        </p:spPr>
      </p:sp>
      <p:sp>
        <p:nvSpPr>
          <p:cNvPr id="26" name="Text 23"/>
          <p:cNvSpPr/>
          <p:nvPr>
            <p:custDataLst>
              <p:tags r:id="rId17"/>
            </p:custDataLst>
          </p:nvPr>
        </p:nvSpPr>
        <p:spPr>
          <a:xfrm>
            <a:off x="2148840" y="4498848"/>
            <a:ext cx="5257800" cy="713232"/>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真实实验台自采自标，按训练/验证/测试留出，涵盖多角度、光照与遮挡</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4"/>
          <p:cNvSpPr/>
          <p:nvPr>
            <p:custDataLst>
              <p:tags r:id="rId18"/>
            </p:custDataLst>
          </p:nvPr>
        </p:nvSpPr>
        <p:spPr>
          <a:xfrm>
            <a:off x="548640" y="5449824"/>
            <a:ext cx="1463040" cy="713232"/>
          </a:xfrm>
          <a:prstGeom prst="rect">
            <a:avLst/>
          </a:prstGeom>
          <a:solidFill>
            <a:srgbClr val="14326C"/>
          </a:solidFill>
        </p:spPr>
      </p:sp>
      <p:sp>
        <p:nvSpPr>
          <p:cNvPr id="28" name="Text 25"/>
          <p:cNvSpPr/>
          <p:nvPr>
            <p:custDataLst>
              <p:tags r:id="rId19"/>
            </p:custDataLst>
          </p:nvPr>
        </p:nvSpPr>
        <p:spPr>
          <a:xfrm>
            <a:off x="548640" y="5449824"/>
            <a:ext cx="1463040" cy="713232"/>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训练配置</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Shape 26"/>
          <p:cNvSpPr/>
          <p:nvPr>
            <p:custDataLst>
              <p:tags r:id="rId20"/>
            </p:custDataLst>
          </p:nvPr>
        </p:nvSpPr>
        <p:spPr>
          <a:xfrm>
            <a:off x="2011680" y="5449824"/>
            <a:ext cx="5486400" cy="713232"/>
          </a:xfrm>
          <a:prstGeom prst="rect">
            <a:avLst/>
          </a:prstGeom>
          <a:solidFill>
            <a:srgbClr val="F3F5F9"/>
          </a:solidFill>
          <a:ln w="12700">
            <a:solidFill>
              <a:srgbClr val="CFD5EA"/>
            </a:solidFill>
            <a:prstDash val="solid"/>
          </a:ln>
        </p:spPr>
      </p:sp>
      <p:sp>
        <p:nvSpPr>
          <p:cNvPr id="30" name="Text 27"/>
          <p:cNvSpPr/>
          <p:nvPr>
            <p:custDataLst>
              <p:tags r:id="rId21"/>
            </p:custDataLst>
          </p:nvPr>
        </p:nvSpPr>
        <p:spPr>
          <a:xfrm>
            <a:off x="2148840" y="5449824"/>
            <a:ext cx="5257800" cy="713232"/>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YOLOv8s-pose 骨干，输入 960，batch 8，100 轮；INT8 由 144 张校准图后量化</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Shape 28"/>
          <p:cNvSpPr/>
          <p:nvPr/>
        </p:nvSpPr>
        <p:spPr>
          <a:xfrm>
            <a:off x="7818120" y="1554480"/>
            <a:ext cx="4069080" cy="2237105"/>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32" name="Shape 29"/>
          <p:cNvSpPr/>
          <p:nvPr/>
        </p:nvSpPr>
        <p:spPr>
          <a:xfrm>
            <a:off x="7818120" y="1554480"/>
            <a:ext cx="76200" cy="2237105"/>
          </a:xfrm>
          <a:prstGeom prst="rect">
            <a:avLst/>
          </a:prstGeom>
          <a:solidFill>
            <a:srgbClr val="5B9BD5"/>
          </a:solidFill>
        </p:spPr>
      </p:sp>
      <p:sp>
        <p:nvSpPr>
          <p:cNvPr id="33" name="Shape 30"/>
          <p:cNvSpPr/>
          <p:nvPr/>
        </p:nvSpPr>
        <p:spPr>
          <a:xfrm>
            <a:off x="8074152" y="1783080"/>
            <a:ext cx="502920" cy="502920"/>
          </a:xfrm>
          <a:prstGeom prst="roundRect">
            <a:avLst>
              <a:gd name="adj" fmla="val 22000"/>
            </a:avLst>
          </a:prstGeom>
          <a:solidFill>
            <a:schemeClr val="accent1">
              <a:lumMod val="40000"/>
              <a:lumOff val="60000"/>
            </a:schemeClr>
          </a:solidFill>
        </p:spPr>
      </p:sp>
      <p:pic>
        <p:nvPicPr>
          <p:cNvPr id="34" name="Image 1" descr="preencoded.png"/>
          <p:cNvPicPr>
            <a:picLocks noChangeAspect="1"/>
          </p:cNvPicPr>
          <p:nvPr/>
        </p:nvPicPr>
        <p:blipFill>
          <a:blip r:embed="rId22"/>
          <a:stretch>
            <a:fillRect/>
          </a:stretch>
        </p:blipFill>
        <p:spPr>
          <a:xfrm>
            <a:off x="8204911" y="1913839"/>
            <a:ext cx="241402" cy="241402"/>
          </a:xfrm>
          <a:prstGeom prst="rect">
            <a:avLst/>
          </a:prstGeom>
        </p:spPr>
      </p:pic>
      <p:sp>
        <p:nvSpPr>
          <p:cNvPr id="35" name="Text 31"/>
          <p:cNvSpPr/>
          <p:nvPr/>
        </p:nvSpPr>
        <p:spPr>
          <a:xfrm>
            <a:off x="8732520" y="1783080"/>
            <a:ext cx="2971800" cy="50292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数据集独创性</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2"/>
          <p:cNvSpPr/>
          <p:nvPr/>
        </p:nvSpPr>
        <p:spPr>
          <a:xfrm>
            <a:off x="8092440" y="2468880"/>
            <a:ext cx="3520440" cy="1005840"/>
          </a:xfrm>
          <a:prstGeom prst="rect">
            <a:avLst/>
          </a:prstGeom>
          <a:noFill/>
        </p:spPr>
        <p:txBody>
          <a:bodyPr wrap="square" lIns="0" tIns="0" rIns="0" bIns="0" rtlCol="0" anchor="t"/>
          <a:lstStyle/>
          <a:p>
            <a:pPr marL="0" indent="0">
              <a:lnSpc>
                <a:spcPct val="11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学术界缺乏严格符合“教学面包板 + 引脚级关键点 + 孔位映射 + 真实噪声”四维度的公开数据集；本项目自采自标，贴近课堂实拍噪声分布，无需合成增强。</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33"/>
          <p:cNvSpPr/>
          <p:nvPr/>
        </p:nvSpPr>
        <p:spPr>
          <a:xfrm>
            <a:off x="7818120" y="3930650"/>
            <a:ext cx="4069080" cy="1990090"/>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38" name="Text 34"/>
          <p:cNvSpPr/>
          <p:nvPr/>
        </p:nvSpPr>
        <p:spPr>
          <a:xfrm>
            <a:off x="8092440" y="4105783"/>
            <a:ext cx="3520440" cy="320040"/>
          </a:xfrm>
          <a:prstGeom prst="rect">
            <a:avLst/>
          </a:prstGeom>
          <a:noFill/>
        </p:spPr>
        <p:txBody>
          <a:bodyPr wrap="square" lIns="0" tIns="0" rIns="0" bIns="0" rtlCol="0" anchor="ctr"/>
          <a:lstStyle/>
          <a:p>
            <a:pPr marL="0" indent="0">
              <a:buNone/>
            </a:pP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渐进式训练路线</a:t>
            </a:r>
            <a:endPar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Text 35"/>
          <p:cNvSpPr/>
          <p:nvPr/>
        </p:nvSpPr>
        <p:spPr>
          <a:xfrm>
            <a:off x="8074025" y="4558030"/>
            <a:ext cx="3520440" cy="1097280"/>
          </a:xfrm>
          <a:prstGeom prst="rect">
            <a:avLst/>
          </a:prstGeom>
          <a:noFill/>
        </p:spPr>
        <p:txBody>
          <a:bodyPr wrap="square" lIns="0" tIns="0" rIns="0" bIns="0" rtlCol="0" anchor="t"/>
          <a:lstStyle/>
          <a:p>
            <a:pPr marL="0" indent="0">
              <a:lnSpc>
                <a:spcPct val="110000"/>
              </a:lnSpc>
              <a:spcAft>
                <a:spcPts val="600"/>
              </a:spcAft>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识别元件是什么</a:t>
            </a: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  →  </a:t>
            </a: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识别引脚在哪里</a:t>
            </a:r>
            <a:endParaRPr lang="en-US" sz="1600" dirty="0"/>
          </a:p>
          <a:p>
            <a:pPr marL="0" indent="0">
              <a:lnSpc>
                <a:spcPct val="110000"/>
              </a:lnSpc>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单元件 → 复杂器件 → 多元件共存与遮挡的真实实验板，使数据标注与模型能力同步演进。</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7"/>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第三章 · 视觉感知与拓扑重构</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视觉模型训练与验证指标</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2"/>
          <a:stretch>
            <a:fillRect/>
          </a:stretch>
        </p:blipFill>
        <p:spPr>
          <a:xfrm>
            <a:off x="11231575" y="411480"/>
            <a:ext cx="237744" cy="237744"/>
          </a:xfrm>
          <a:prstGeom prst="rect">
            <a:avLst/>
          </a:prstGeom>
        </p:spPr>
      </p:pic>
      <p:sp>
        <p:nvSpPr>
          <p:cNvPr id="11" name="Text 8"/>
          <p:cNvSpPr/>
          <p:nvPr/>
        </p:nvSpPr>
        <p:spPr>
          <a:xfrm>
            <a:off x="548640" y="1417320"/>
            <a:ext cx="73152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Ultralytics YOLOv8s-pose · 第 100 轮验证集指标</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12" name="Chart 0"/>
          <p:cNvGraphicFramePr/>
          <p:nvPr/>
        </p:nvGraphicFramePr>
        <p:xfrm>
          <a:off x="277495" y="1829435"/>
          <a:ext cx="7586345" cy="4902835"/>
        </p:xfrm>
        <a:graphic>
          <a:graphicData uri="http://schemas.openxmlformats.org/drawingml/2006/chart">
            <c:chart xmlns:c="http://schemas.openxmlformats.org/drawingml/2006/chart" xmlns:r="http://schemas.openxmlformats.org/officeDocument/2006/relationships" r:id="rId1"/>
          </a:graphicData>
        </a:graphic>
      </p:graphicFrame>
      <p:sp>
        <p:nvSpPr>
          <p:cNvPr id="13" name="Shape 9"/>
          <p:cNvSpPr/>
          <p:nvPr/>
        </p:nvSpPr>
        <p:spPr>
          <a:xfrm>
            <a:off x="8129270" y="1828800"/>
            <a:ext cx="3931920" cy="4023360"/>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14" name="Shape 10"/>
          <p:cNvSpPr/>
          <p:nvPr/>
        </p:nvSpPr>
        <p:spPr>
          <a:xfrm>
            <a:off x="8129270" y="1828800"/>
            <a:ext cx="73152" cy="4023360"/>
          </a:xfrm>
          <a:prstGeom prst="rect">
            <a:avLst/>
          </a:prstGeom>
          <a:solidFill>
            <a:srgbClr val="5B9BD5"/>
          </a:solidFill>
        </p:spPr>
      </p:sp>
      <p:sp>
        <p:nvSpPr>
          <p:cNvPr id="15" name="Text 11"/>
          <p:cNvSpPr/>
          <p:nvPr/>
        </p:nvSpPr>
        <p:spPr>
          <a:xfrm>
            <a:off x="8403590" y="2011680"/>
            <a:ext cx="338328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关键结论</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2"/>
          <p:cNvSpPr/>
          <p:nvPr/>
        </p:nvSpPr>
        <p:spPr>
          <a:xfrm>
            <a:off x="8403590" y="2377440"/>
            <a:ext cx="3383280" cy="0"/>
          </a:xfrm>
          <a:prstGeom prst="line">
            <a:avLst/>
          </a:prstGeom>
          <a:noFill/>
          <a:ln w="12700">
            <a:solidFill>
              <a:srgbClr val="CFD5EA"/>
            </a:solidFill>
            <a:prstDash val="solid"/>
          </a:ln>
        </p:spPr>
      </p:sp>
      <p:sp>
        <p:nvSpPr>
          <p:cNvPr id="17" name="Shape 13"/>
          <p:cNvSpPr/>
          <p:nvPr/>
        </p:nvSpPr>
        <p:spPr>
          <a:xfrm>
            <a:off x="8421878" y="2596896"/>
            <a:ext cx="109728" cy="109728"/>
          </a:xfrm>
          <a:prstGeom prst="ellipse">
            <a:avLst/>
          </a:prstGeom>
          <a:solidFill>
            <a:srgbClr val="5B9BD5"/>
          </a:solidFill>
        </p:spPr>
      </p:sp>
      <p:sp>
        <p:nvSpPr>
          <p:cNvPr id="18" name="Text 14"/>
          <p:cNvSpPr/>
          <p:nvPr/>
        </p:nvSpPr>
        <p:spPr>
          <a:xfrm>
            <a:off x="8641334" y="2496312"/>
            <a:ext cx="3200400" cy="64008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模型能稳定地同时完成组件定位与引脚关键点回归</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5"/>
          <p:cNvSpPr/>
          <p:nvPr/>
        </p:nvSpPr>
        <p:spPr>
          <a:xfrm>
            <a:off x="8421878" y="3364992"/>
            <a:ext cx="109728" cy="109728"/>
          </a:xfrm>
          <a:prstGeom prst="ellipse">
            <a:avLst/>
          </a:prstGeom>
          <a:solidFill>
            <a:srgbClr val="5B9BD5"/>
          </a:solidFill>
        </p:spPr>
      </p:sp>
      <p:sp>
        <p:nvSpPr>
          <p:cNvPr id="20" name="Text 16"/>
          <p:cNvSpPr/>
          <p:nvPr/>
        </p:nvSpPr>
        <p:spPr>
          <a:xfrm>
            <a:off x="8641334" y="3264408"/>
            <a:ext cx="3200400" cy="64008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为后续孔位映射与拓扑重构提供可用视觉前提</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Shape 17"/>
          <p:cNvSpPr/>
          <p:nvPr/>
        </p:nvSpPr>
        <p:spPr>
          <a:xfrm>
            <a:off x="8421878" y="4133088"/>
            <a:ext cx="109728" cy="109728"/>
          </a:xfrm>
          <a:prstGeom prst="ellipse">
            <a:avLst/>
          </a:prstGeom>
          <a:solidFill>
            <a:srgbClr val="5B9BD5"/>
          </a:solidFill>
        </p:spPr>
      </p:sp>
      <p:sp>
        <p:nvSpPr>
          <p:cNvPr id="22" name="Text 18"/>
          <p:cNvSpPr/>
          <p:nvPr/>
        </p:nvSpPr>
        <p:spPr>
          <a:xfrm>
            <a:off x="8641334" y="4032504"/>
            <a:ext cx="3200400" cy="64008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末 10 轮关闭 mosaic，启用默认优化器与常规增强</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Shape 19"/>
          <p:cNvSpPr/>
          <p:nvPr/>
        </p:nvSpPr>
        <p:spPr>
          <a:xfrm>
            <a:off x="8421878" y="4901184"/>
            <a:ext cx="109728" cy="109728"/>
          </a:xfrm>
          <a:prstGeom prst="ellipse">
            <a:avLst/>
          </a:prstGeom>
          <a:solidFill>
            <a:srgbClr val="5B9BD5"/>
          </a:solidFill>
        </p:spPr>
      </p:sp>
      <p:sp>
        <p:nvSpPr>
          <p:cNvPr id="24" name="Text 20"/>
          <p:cNvSpPr/>
          <p:nvPr/>
        </p:nvSpPr>
        <p:spPr>
          <a:xfrm>
            <a:off x="8641334" y="4800600"/>
            <a:ext cx="3200400" cy="640080"/>
          </a:xfrm>
          <a:prstGeom prst="rect">
            <a:avLst/>
          </a:prstGeom>
          <a:noFill/>
        </p:spPr>
        <p:txBody>
          <a:bodyPr wrap="square" lIns="0" tIns="0" rIns="0" bIns="0" rtlCol="0" anchor="t"/>
          <a:lstStyle/>
          <a:p>
            <a:pPr marL="0" indent="0">
              <a:lnSpc>
                <a:spcPct val="10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测试集未参与任何训练与模型选择，留作独立端到端评测</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2"/>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第三章 · 视觉感知与拓扑重构</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流水线编排与全图引脚检测</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nvSpPr>
        <p:spPr>
          <a:xfrm>
            <a:off x="548640" y="1554480"/>
            <a:ext cx="5303520" cy="480441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2" name="Shape 9"/>
          <p:cNvSpPr/>
          <p:nvPr/>
        </p:nvSpPr>
        <p:spPr>
          <a:xfrm>
            <a:off x="548640" y="1554480"/>
            <a:ext cx="76200" cy="4804410"/>
          </a:xfrm>
          <a:prstGeom prst="rect">
            <a:avLst/>
          </a:prstGeom>
          <a:solidFill>
            <a:srgbClr val="4472C4"/>
          </a:solidFill>
        </p:spPr>
      </p:sp>
      <p:sp>
        <p:nvSpPr>
          <p:cNvPr id="13" name="Shape 10"/>
          <p:cNvSpPr/>
          <p:nvPr/>
        </p:nvSpPr>
        <p:spPr>
          <a:xfrm>
            <a:off x="822960" y="1783080"/>
            <a:ext cx="512064" cy="512064"/>
          </a:xfrm>
          <a:prstGeom prst="roundRect">
            <a:avLst>
              <a:gd name="adj" fmla="val 22000"/>
            </a:avLst>
          </a:prstGeom>
          <a:solidFill>
            <a:schemeClr val="accent1">
              <a:lumMod val="40000"/>
              <a:lumOff val="60000"/>
            </a:schemeClr>
          </a:solidFill>
        </p:spPr>
      </p:sp>
      <p:pic>
        <p:nvPicPr>
          <p:cNvPr id="14" name="Image 1" descr="preencoded.png"/>
          <p:cNvPicPr>
            <a:picLocks noChangeAspect="1"/>
          </p:cNvPicPr>
          <p:nvPr/>
        </p:nvPicPr>
        <p:blipFill>
          <a:blip r:embed="rId2"/>
          <a:stretch>
            <a:fillRect/>
          </a:stretch>
        </p:blipFill>
        <p:spPr>
          <a:xfrm>
            <a:off x="956097" y="1916217"/>
            <a:ext cx="245791" cy="245791"/>
          </a:xfrm>
          <a:prstGeom prst="rect">
            <a:avLst/>
          </a:prstGeom>
        </p:spPr>
      </p:pic>
      <p:sp>
        <p:nvSpPr>
          <p:cNvPr id="15" name="Text 11"/>
          <p:cNvSpPr/>
          <p:nvPr/>
        </p:nvSpPr>
        <p:spPr>
          <a:xfrm>
            <a:off x="1463040" y="1783080"/>
            <a:ext cx="4114800" cy="512064"/>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流水线编排器</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2"/>
          <p:cNvSpPr/>
          <p:nvPr/>
        </p:nvSpPr>
        <p:spPr>
          <a:xfrm>
            <a:off x="822960" y="2377440"/>
            <a:ext cx="4754880" cy="274320"/>
          </a:xfrm>
          <a:prstGeom prst="rect">
            <a:avLst/>
          </a:prstGeom>
          <a:noFill/>
        </p:spPr>
        <p:txBody>
          <a:bodyPr wrap="square" lIns="0" tIns="0" rIns="0" bIns="0" rtlCol="0" anchor="ctr"/>
          <a:lstStyle/>
          <a:p>
            <a:pPr marL="0" indent="0">
              <a:buNone/>
            </a:pPr>
            <a:r>
              <a:rPr lang="en-US"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服务端事实链的核心</a:t>
            </a:r>
            <a:endParaRPr lang="en-US"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37" name="组合 36"/>
          <p:cNvGrpSpPr/>
          <p:nvPr/>
        </p:nvGrpSpPr>
        <p:grpSpPr>
          <a:xfrm>
            <a:off x="841375" y="2819400"/>
            <a:ext cx="4791075" cy="603250"/>
            <a:chOff x="1325" y="4440"/>
            <a:chExt cx="7545" cy="950"/>
          </a:xfrm>
        </p:grpSpPr>
        <p:sp>
          <p:nvSpPr>
            <p:cNvPr id="17" name="Shape 13"/>
            <p:cNvSpPr/>
            <p:nvPr/>
          </p:nvSpPr>
          <p:spPr>
            <a:xfrm>
              <a:off x="1325" y="4598"/>
              <a:ext cx="173" cy="173"/>
            </a:xfrm>
            <a:prstGeom prst="ellipse">
              <a:avLst/>
            </a:prstGeom>
            <a:solidFill>
              <a:srgbClr val="4472C4"/>
            </a:solidFill>
          </p:spPr>
        </p:sp>
        <p:sp>
          <p:nvSpPr>
            <p:cNvPr id="18" name="Text 14"/>
            <p:cNvSpPr/>
            <p:nvPr/>
          </p:nvSpPr>
          <p:spPr>
            <a:xfrm>
              <a:off x="1670" y="4440"/>
              <a:ext cx="7200" cy="950"/>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以线程安全的单例复用组件与引脚检测器，避免重复加载模型</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38" name="组合 37"/>
          <p:cNvGrpSpPr/>
          <p:nvPr/>
        </p:nvGrpSpPr>
        <p:grpSpPr>
          <a:xfrm>
            <a:off x="841375" y="3736340"/>
            <a:ext cx="4791075" cy="603250"/>
            <a:chOff x="1325" y="5623"/>
            <a:chExt cx="7545" cy="950"/>
          </a:xfrm>
        </p:grpSpPr>
        <p:sp>
          <p:nvSpPr>
            <p:cNvPr id="19" name="Shape 15"/>
            <p:cNvSpPr/>
            <p:nvPr/>
          </p:nvSpPr>
          <p:spPr>
            <a:xfrm>
              <a:off x="1325" y="5782"/>
              <a:ext cx="173" cy="173"/>
            </a:xfrm>
            <a:prstGeom prst="ellipse">
              <a:avLst/>
            </a:prstGeom>
            <a:solidFill>
              <a:srgbClr val="4472C4"/>
            </a:solidFill>
          </p:spPr>
        </p:sp>
        <p:sp>
          <p:nvSpPr>
            <p:cNvPr id="20" name="Text 16"/>
            <p:cNvSpPr/>
            <p:nvPr/>
          </p:nvSpPr>
          <p:spPr>
            <a:xfrm>
              <a:off x="1670" y="5623"/>
              <a:ext cx="7200" cy="950"/>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为每次请求单独创建保存网格状态的面包板校准器</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39" name="组合 38"/>
          <p:cNvGrpSpPr/>
          <p:nvPr/>
        </p:nvGrpSpPr>
        <p:grpSpPr>
          <a:xfrm>
            <a:off x="841375" y="4653280"/>
            <a:ext cx="4791075" cy="603250"/>
            <a:chOff x="1325" y="6782"/>
            <a:chExt cx="7545" cy="950"/>
          </a:xfrm>
        </p:grpSpPr>
        <p:sp>
          <p:nvSpPr>
            <p:cNvPr id="21" name="Shape 17"/>
            <p:cNvSpPr/>
            <p:nvPr/>
          </p:nvSpPr>
          <p:spPr>
            <a:xfrm>
              <a:off x="1325" y="6941"/>
              <a:ext cx="173" cy="173"/>
            </a:xfrm>
            <a:prstGeom prst="ellipse">
              <a:avLst/>
            </a:prstGeom>
            <a:solidFill>
              <a:srgbClr val="4472C4"/>
            </a:solidFill>
          </p:spPr>
        </p:sp>
        <p:sp>
          <p:nvSpPr>
            <p:cNvPr id="22" name="Text 18"/>
            <p:cNvSpPr/>
            <p:nvPr/>
          </p:nvSpPr>
          <p:spPr>
            <a:xfrm>
              <a:off x="1670" y="6782"/>
              <a:ext cx="7200" cy="950"/>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依次执行：组件检测 → 引脚检测 → 孔位映射 → 拓扑重构 → 参考验证 → 语义分析</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40" name="组合 39"/>
          <p:cNvGrpSpPr/>
          <p:nvPr/>
        </p:nvGrpSpPr>
        <p:grpSpPr>
          <a:xfrm>
            <a:off x="822960" y="5570220"/>
            <a:ext cx="4791075" cy="603250"/>
            <a:chOff x="1325" y="7942"/>
            <a:chExt cx="7545" cy="950"/>
          </a:xfrm>
        </p:grpSpPr>
        <p:sp>
          <p:nvSpPr>
            <p:cNvPr id="23" name="Shape 19"/>
            <p:cNvSpPr/>
            <p:nvPr/>
          </p:nvSpPr>
          <p:spPr>
            <a:xfrm>
              <a:off x="1325" y="8100"/>
              <a:ext cx="173" cy="173"/>
            </a:xfrm>
            <a:prstGeom prst="ellipse">
              <a:avLst/>
            </a:prstGeom>
            <a:solidFill>
              <a:srgbClr val="4472C4"/>
            </a:solidFill>
          </p:spPr>
        </p:sp>
        <p:sp>
          <p:nvSpPr>
            <p:cNvPr id="24" name="Text 20"/>
            <p:cNvSpPr/>
            <p:nvPr/>
          </p:nvSpPr>
          <p:spPr>
            <a:xfrm>
              <a:off x="1670" y="7942"/>
              <a:ext cx="7200" cy="950"/>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返回各阶段结果、总耗时与运行元数据</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sp>
        <p:nvSpPr>
          <p:cNvPr id="25" name="Text 21"/>
          <p:cNvSpPr/>
          <p:nvPr/>
        </p:nvSpPr>
        <p:spPr>
          <a:xfrm>
            <a:off x="6263640" y="1554480"/>
            <a:ext cx="5394960" cy="320040"/>
          </a:xfrm>
          <a:prstGeom prst="rect">
            <a:avLst/>
          </a:prstGeom>
          <a:noFill/>
        </p:spPr>
        <p:txBody>
          <a:bodyPr wrap="square" lIns="0" tIns="0" rIns="0" bIns="0" rtlCol="0" anchor="ctr"/>
          <a:lstStyle/>
          <a:p>
            <a:pPr marL="0" indent="0">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整图关键点检测 vs 裁剪方案</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2"/>
          <p:cNvSpPr/>
          <p:nvPr/>
        </p:nvSpPr>
        <p:spPr>
          <a:xfrm>
            <a:off x="6263640" y="1965960"/>
            <a:ext cx="5394960" cy="1417320"/>
          </a:xfrm>
          <a:prstGeom prst="rect">
            <a:avLst/>
          </a:prstGeom>
          <a:solidFill>
            <a:srgbClr val="F3F5F9"/>
          </a:solidFill>
          <a:ln w="12700">
            <a:solidFill>
              <a:srgbClr val="CFD5EA"/>
            </a:solidFill>
            <a:prstDash val="solid"/>
          </a:ln>
          <a:effectLst>
            <a:outerShdw blurRad="76200" dist="25400" dir="5400000" algn="bl" rotWithShape="0">
              <a:srgbClr val="9AAFD0">
                <a:alpha val="10000"/>
              </a:srgbClr>
            </a:outerShdw>
          </a:effectLst>
        </p:spPr>
      </p:sp>
      <p:sp>
        <p:nvSpPr>
          <p:cNvPr id="27" name="Shape 23"/>
          <p:cNvSpPr/>
          <p:nvPr/>
        </p:nvSpPr>
        <p:spPr>
          <a:xfrm>
            <a:off x="6263640" y="1965960"/>
            <a:ext cx="73152" cy="1417320"/>
          </a:xfrm>
          <a:prstGeom prst="rect">
            <a:avLst/>
          </a:prstGeom>
          <a:solidFill>
            <a:srgbClr val="C00000"/>
          </a:solidFill>
        </p:spPr>
      </p:sp>
      <p:sp>
        <p:nvSpPr>
          <p:cNvPr id="28" name="Text 24"/>
          <p:cNvSpPr/>
          <p:nvPr/>
        </p:nvSpPr>
        <p:spPr>
          <a:xfrm>
            <a:off x="6519672" y="2103120"/>
            <a:ext cx="4937760" cy="320040"/>
          </a:xfrm>
          <a:prstGeom prst="rect">
            <a:avLst/>
          </a:prstGeom>
          <a:noFill/>
        </p:spPr>
        <p:txBody>
          <a:bodyPr wrap="square" lIns="0" tIns="0" rIns="0" bIns="0" rtlCol="0" anchor="ctr"/>
          <a:lstStyle/>
          <a:p>
            <a:pPr marL="0" indent="0">
              <a:buNone/>
            </a:pPr>
            <a:r>
              <a:rPr 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直觉方案：裁剪单个元件框后回归引脚</a:t>
            </a:r>
            <a:endParaRPr 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5"/>
          <p:cNvSpPr/>
          <p:nvPr/>
        </p:nvSpPr>
        <p:spPr>
          <a:xfrm>
            <a:off x="6531610" y="2642870"/>
            <a:ext cx="4937760" cy="614045"/>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裁剪会把引脚切到框外、丢失元件周边上下文，导致系统性漏检。</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6"/>
          <p:cNvSpPr/>
          <p:nvPr/>
        </p:nvSpPr>
        <p:spPr>
          <a:xfrm>
            <a:off x="6263640" y="3703320"/>
            <a:ext cx="5394960" cy="2642235"/>
          </a:xfrm>
          <a:prstGeom prst="rect">
            <a:avLst/>
          </a:prstGeom>
          <a:solidFill>
            <a:srgbClr val="E9EBF5"/>
          </a:solidFill>
          <a:ln w="12700">
            <a:solidFill>
              <a:srgbClr val="CFD5EA"/>
            </a:solidFill>
            <a:prstDash val="solid"/>
          </a:ln>
          <a:effectLst>
            <a:outerShdw blurRad="76200" dist="25400" dir="5400000" algn="bl" rotWithShape="0">
              <a:srgbClr val="9AAFD0">
                <a:alpha val="10000"/>
              </a:srgbClr>
            </a:outerShdw>
          </a:effectLst>
        </p:spPr>
      </p:sp>
      <p:sp>
        <p:nvSpPr>
          <p:cNvPr id="31" name="Shape 27"/>
          <p:cNvSpPr/>
          <p:nvPr/>
        </p:nvSpPr>
        <p:spPr>
          <a:xfrm>
            <a:off x="6263640" y="3703320"/>
            <a:ext cx="76200" cy="2642235"/>
          </a:xfrm>
          <a:prstGeom prst="rect">
            <a:avLst/>
          </a:prstGeom>
          <a:solidFill>
            <a:srgbClr val="1E8E6A"/>
          </a:solidFill>
        </p:spPr>
      </p:sp>
      <p:sp>
        <p:nvSpPr>
          <p:cNvPr id="32" name="Text 28"/>
          <p:cNvSpPr/>
          <p:nvPr/>
        </p:nvSpPr>
        <p:spPr>
          <a:xfrm>
            <a:off x="6519672" y="3840480"/>
            <a:ext cx="4937760" cy="320040"/>
          </a:xfrm>
          <a:prstGeom prst="rect">
            <a:avLst/>
          </a:prstGeom>
          <a:noFill/>
        </p:spPr>
        <p:txBody>
          <a:bodyPr wrap="square" lIns="0" tIns="0" rIns="0" bIns="0" rtlCol="0" anchor="ctr"/>
          <a:lstStyle/>
          <a:p>
            <a:pPr marL="0" indent="0">
              <a:buNone/>
            </a:pPr>
            <a:r>
              <a:rPr lang="en-US" sz="20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本系统方案：整图 YOLO-Pose 一次性回归</a:t>
            </a:r>
            <a:endParaRPr lang="en-US" sz="20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29"/>
          <p:cNvSpPr/>
          <p:nvPr/>
        </p:nvSpPr>
        <p:spPr>
          <a:xfrm>
            <a:off x="6519545" y="4382770"/>
            <a:ext cx="4937760" cy="1790065"/>
          </a:xfrm>
          <a:prstGeom prst="rect">
            <a:avLst/>
          </a:prstGeom>
          <a:noFill/>
        </p:spPr>
        <p:txBody>
          <a:bodyPr wrap="square" lIns="0" tIns="0" rIns="0" bIns="0" rtlCol="0" anchor="t"/>
          <a:lstStyle/>
          <a:p>
            <a:pPr marL="0" indent="0">
              <a:lnSpc>
                <a:spcPct val="12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在俯视图上一次性回归全部引脚关键点，再依据类别与边界框的几何约束把引脚归属到对应元件——避免裁剪误差与局部上下文丢失，为后续孔位映射保留完整引脚证据。模型不可用时输出兼容的“不可用”占位，集成芯片可不依赖引脚模型按行列约束生成 8/14 脚。</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Text 31"/>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第三章 · 视觉感知与拓扑重构</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孔位映射与导通节点解析</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nvSpPr>
        <p:spPr>
          <a:xfrm>
            <a:off x="548640" y="1343025"/>
            <a:ext cx="11094720" cy="1766570"/>
          </a:xfrm>
          <a:prstGeom prst="rect">
            <a:avLst/>
          </a:prstGeom>
          <a:solidFill>
            <a:srgbClr val="14326C"/>
          </a:solidFill>
          <a:ln w="12700">
            <a:solidFill>
              <a:srgbClr val="CFD5EA"/>
            </a:solidFill>
            <a:prstDash val="solid"/>
          </a:ln>
          <a:effectLst>
            <a:outerShdw blurRad="76200" dist="25400" dir="5400000" algn="bl" rotWithShape="0">
              <a:srgbClr val="9AAFD0">
                <a:alpha val="10000"/>
              </a:srgbClr>
            </a:outerShdw>
          </a:effectLst>
        </p:spPr>
      </p:sp>
      <p:sp>
        <p:nvSpPr>
          <p:cNvPr id="12" name="Text 9"/>
          <p:cNvSpPr/>
          <p:nvPr/>
        </p:nvSpPr>
        <p:spPr>
          <a:xfrm>
            <a:off x="868680" y="1385570"/>
            <a:ext cx="10454640" cy="1495425"/>
          </a:xfrm>
          <a:prstGeom prst="rect">
            <a:avLst/>
          </a:prstGeom>
          <a:noFill/>
        </p:spPr>
        <p:txBody>
          <a:bodyPr wrap="square" lIns="0" tIns="0" rIns="0" bIns="0" rtlCol="0" anchor="ctr"/>
          <a:lstStyle/>
          <a:p>
            <a:pPr marL="0" indent="0">
              <a:lnSpc>
                <a:spcPct val="105000"/>
              </a:lnSpc>
              <a:buNone/>
            </a:pP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最易产生歧义的一步：</a:t>
            </a:r>
            <a:endPar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05000"/>
              </a:lnSpc>
              <a:buNone/>
            </a:pPr>
            <a:r>
              <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同一关键点可能落在相邻孔位之间，单凭最近邻吸附极易误判。先用俯视图标定网格（失败则回退合成网格并显式标记），整合关键点坐标、可见性、来源与投影构造观测记录生成候选孔位，再依板型规则解析为导通节点。</a:t>
            </a:r>
            <a:endPar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Shape 10"/>
          <p:cNvSpPr/>
          <p:nvPr>
            <p:custDataLst>
              <p:tags r:id="rId2"/>
            </p:custDataLst>
          </p:nvPr>
        </p:nvSpPr>
        <p:spPr>
          <a:xfrm>
            <a:off x="548640" y="3361055"/>
            <a:ext cx="3456305" cy="3120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4" name="Shape 11"/>
          <p:cNvSpPr/>
          <p:nvPr>
            <p:custDataLst>
              <p:tags r:id="rId3"/>
            </p:custDataLst>
          </p:nvPr>
        </p:nvSpPr>
        <p:spPr>
          <a:xfrm>
            <a:off x="548640" y="3361055"/>
            <a:ext cx="76200" cy="3120390"/>
          </a:xfrm>
          <a:prstGeom prst="rect">
            <a:avLst/>
          </a:prstGeom>
          <a:solidFill>
            <a:srgbClr val="5B9BD5"/>
          </a:solidFill>
        </p:spPr>
      </p:sp>
      <p:sp>
        <p:nvSpPr>
          <p:cNvPr id="15" name="Shape 12"/>
          <p:cNvSpPr/>
          <p:nvPr>
            <p:custDataLst>
              <p:tags r:id="rId4"/>
            </p:custDataLst>
          </p:nvPr>
        </p:nvSpPr>
        <p:spPr>
          <a:xfrm>
            <a:off x="822960" y="3886200"/>
            <a:ext cx="566928" cy="566928"/>
          </a:xfrm>
          <a:prstGeom prst="roundRect">
            <a:avLst>
              <a:gd name="adj" fmla="val 22000"/>
            </a:avLst>
          </a:prstGeom>
          <a:solidFill>
            <a:schemeClr val="accent1">
              <a:lumMod val="40000"/>
              <a:lumOff val="60000"/>
            </a:schemeClr>
          </a:solidFill>
        </p:spPr>
      </p:sp>
      <p:pic>
        <p:nvPicPr>
          <p:cNvPr id="16" name="Image 1" descr="preencoded.png"/>
          <p:cNvPicPr>
            <a:picLocks noChangeAspect="1"/>
          </p:cNvPicPr>
          <p:nvPr>
            <p:custDataLst>
              <p:tags r:id="rId5"/>
            </p:custDataLst>
          </p:nvPr>
        </p:nvPicPr>
        <p:blipFill>
          <a:blip r:embed="rId6"/>
          <a:stretch>
            <a:fillRect/>
          </a:stretch>
        </p:blipFill>
        <p:spPr>
          <a:xfrm>
            <a:off x="970361" y="4033601"/>
            <a:ext cx="272125" cy="272125"/>
          </a:xfrm>
          <a:prstGeom prst="rect">
            <a:avLst/>
          </a:prstGeom>
        </p:spPr>
      </p:pic>
      <p:sp>
        <p:nvSpPr>
          <p:cNvPr id="17" name="Text 13"/>
          <p:cNvSpPr/>
          <p:nvPr>
            <p:custDataLst>
              <p:tags r:id="rId7"/>
            </p:custDataLst>
          </p:nvPr>
        </p:nvSpPr>
        <p:spPr>
          <a:xfrm>
            <a:off x="822960" y="4572000"/>
            <a:ext cx="2907792" cy="457200"/>
          </a:xfrm>
          <a:prstGeom prst="rect">
            <a:avLst/>
          </a:prstGeom>
          <a:noFill/>
        </p:spPr>
        <p:txBody>
          <a:bodyPr wrap="square" lIns="0" tIns="0" rIns="0" bIns="0" rtlCol="0" anchor="t"/>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显式保留不确定性</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4"/>
          <p:cNvSpPr/>
          <p:nvPr>
            <p:custDataLst>
              <p:tags r:id="rId8"/>
            </p:custDataLst>
          </p:nvPr>
        </p:nvSpPr>
        <p:spPr>
          <a:xfrm>
            <a:off x="822960" y="5093208"/>
            <a:ext cx="2907792" cy="0"/>
          </a:xfrm>
          <a:prstGeom prst="line">
            <a:avLst/>
          </a:prstGeom>
          <a:noFill/>
          <a:ln w="12700">
            <a:solidFill>
              <a:srgbClr val="CFD5EA"/>
            </a:solidFill>
            <a:prstDash val="solid"/>
          </a:ln>
        </p:spPr>
      </p:sp>
      <p:sp>
        <p:nvSpPr>
          <p:cNvPr id="19" name="Text 15"/>
          <p:cNvSpPr/>
          <p:nvPr>
            <p:custDataLst>
              <p:tags r:id="rId9"/>
            </p:custDataLst>
          </p:nvPr>
        </p:nvSpPr>
        <p:spPr>
          <a:xfrm>
            <a:off x="822960" y="5212080"/>
            <a:ext cx="2907792" cy="1051560"/>
          </a:xfrm>
          <a:prstGeom prst="rect">
            <a:avLst/>
          </a:prstGeom>
          <a:noFill/>
        </p:spPr>
        <p:txBody>
          <a:bodyPr wrap="square" lIns="0" tIns="0" rIns="0" bIns="0" rtlCol="0" anchor="t"/>
          <a:lstStyle/>
          <a:p>
            <a:pPr marL="0" indent="0">
              <a:lnSpc>
                <a:spcPct val="10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每个引脚带上候选孔位、候选节点、是否歧义及原因、综合置信度、吸附距离等，区分高/低置信映射，为人机协同提供介入点。</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Shape 16"/>
          <p:cNvSpPr/>
          <p:nvPr>
            <p:custDataLst>
              <p:tags r:id="rId10"/>
            </p:custDataLst>
          </p:nvPr>
        </p:nvSpPr>
        <p:spPr>
          <a:xfrm>
            <a:off x="4297680" y="3361055"/>
            <a:ext cx="3456305" cy="3120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1" name="Shape 17"/>
          <p:cNvSpPr/>
          <p:nvPr>
            <p:custDataLst>
              <p:tags r:id="rId11"/>
            </p:custDataLst>
          </p:nvPr>
        </p:nvSpPr>
        <p:spPr>
          <a:xfrm>
            <a:off x="4297680" y="3361055"/>
            <a:ext cx="76200" cy="3120390"/>
          </a:xfrm>
          <a:prstGeom prst="rect">
            <a:avLst/>
          </a:prstGeom>
          <a:solidFill>
            <a:srgbClr val="5B9BD5"/>
          </a:solidFill>
        </p:spPr>
      </p:sp>
      <p:sp>
        <p:nvSpPr>
          <p:cNvPr id="22" name="Shape 18"/>
          <p:cNvSpPr/>
          <p:nvPr>
            <p:custDataLst>
              <p:tags r:id="rId12"/>
            </p:custDataLst>
          </p:nvPr>
        </p:nvSpPr>
        <p:spPr>
          <a:xfrm>
            <a:off x="4572000" y="3886200"/>
            <a:ext cx="566928" cy="566928"/>
          </a:xfrm>
          <a:prstGeom prst="roundRect">
            <a:avLst>
              <a:gd name="adj" fmla="val 22000"/>
            </a:avLst>
          </a:prstGeom>
          <a:solidFill>
            <a:schemeClr val="accent1">
              <a:lumMod val="40000"/>
              <a:lumOff val="60000"/>
            </a:schemeClr>
          </a:solidFill>
        </p:spPr>
      </p:sp>
      <p:pic>
        <p:nvPicPr>
          <p:cNvPr id="23" name="Image 2" descr="preencoded.png"/>
          <p:cNvPicPr>
            <a:picLocks noChangeAspect="1"/>
          </p:cNvPicPr>
          <p:nvPr>
            <p:custDataLst>
              <p:tags r:id="rId13"/>
            </p:custDataLst>
          </p:nvPr>
        </p:nvPicPr>
        <p:blipFill>
          <a:blip r:embed="rId14"/>
          <a:stretch>
            <a:fillRect/>
          </a:stretch>
        </p:blipFill>
        <p:spPr>
          <a:xfrm>
            <a:off x="4719401" y="4033601"/>
            <a:ext cx="272125" cy="272125"/>
          </a:xfrm>
          <a:prstGeom prst="rect">
            <a:avLst/>
          </a:prstGeom>
        </p:spPr>
      </p:pic>
      <p:sp>
        <p:nvSpPr>
          <p:cNvPr id="24" name="Text 19"/>
          <p:cNvSpPr/>
          <p:nvPr>
            <p:custDataLst>
              <p:tags r:id="rId15"/>
            </p:custDataLst>
          </p:nvPr>
        </p:nvSpPr>
        <p:spPr>
          <a:xfrm>
            <a:off x="4572000" y="4572000"/>
            <a:ext cx="2907792" cy="457200"/>
          </a:xfrm>
          <a:prstGeom prst="rect">
            <a:avLst/>
          </a:prstGeom>
          <a:noFill/>
        </p:spPr>
        <p:txBody>
          <a:bodyPr wrap="square" lIns="0" tIns="0" rIns="0" bIns="0" rtlCol="0" anchor="t"/>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板型规则桥接</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0"/>
          <p:cNvSpPr/>
          <p:nvPr>
            <p:custDataLst>
              <p:tags r:id="rId16"/>
            </p:custDataLst>
          </p:nvPr>
        </p:nvSpPr>
        <p:spPr>
          <a:xfrm>
            <a:off x="4572000" y="5093208"/>
            <a:ext cx="2907792" cy="0"/>
          </a:xfrm>
          <a:prstGeom prst="line">
            <a:avLst/>
          </a:prstGeom>
          <a:noFill/>
          <a:ln w="12700">
            <a:solidFill>
              <a:srgbClr val="CFD5EA"/>
            </a:solidFill>
            <a:prstDash val="solid"/>
          </a:ln>
        </p:spPr>
      </p:sp>
      <p:sp>
        <p:nvSpPr>
          <p:cNvPr id="26" name="Text 21"/>
          <p:cNvSpPr/>
          <p:nvPr>
            <p:custDataLst>
              <p:tags r:id="rId17"/>
            </p:custDataLst>
          </p:nvPr>
        </p:nvSpPr>
        <p:spPr>
          <a:xfrm>
            <a:off x="4572000" y="5212080"/>
            <a:ext cx="2907792" cy="1051560"/>
          </a:xfrm>
          <a:prstGeom prst="rect">
            <a:avLst/>
          </a:prstGeom>
          <a:noFill/>
        </p:spPr>
        <p:txBody>
          <a:bodyPr wrap="square" lIns="0" tIns="0" rIns="0" bIns="0" rtlCol="0" anchor="t"/>
          <a:lstStyle/>
          <a:p>
            <a:pPr marL="0" indent="0">
              <a:lnSpc>
                <a:spcPct val="10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依据行列归属把物理孔位规范化为稳定导通节点，并支持据节点反查整条导通带的全部孔位，供整带高亮。</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2"/>
          <p:cNvSpPr/>
          <p:nvPr>
            <p:custDataLst>
              <p:tags r:id="rId18"/>
            </p:custDataLst>
          </p:nvPr>
        </p:nvSpPr>
        <p:spPr>
          <a:xfrm>
            <a:off x="8046720" y="3361055"/>
            <a:ext cx="3456305" cy="3120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8" name="Shape 23"/>
          <p:cNvSpPr/>
          <p:nvPr>
            <p:custDataLst>
              <p:tags r:id="rId19"/>
            </p:custDataLst>
          </p:nvPr>
        </p:nvSpPr>
        <p:spPr>
          <a:xfrm>
            <a:off x="8046720" y="3361055"/>
            <a:ext cx="76200" cy="3120390"/>
          </a:xfrm>
          <a:prstGeom prst="rect">
            <a:avLst/>
          </a:prstGeom>
          <a:solidFill>
            <a:srgbClr val="5B9BD5"/>
          </a:solidFill>
        </p:spPr>
      </p:sp>
      <p:sp>
        <p:nvSpPr>
          <p:cNvPr id="29" name="Shape 24"/>
          <p:cNvSpPr/>
          <p:nvPr>
            <p:custDataLst>
              <p:tags r:id="rId20"/>
            </p:custDataLst>
          </p:nvPr>
        </p:nvSpPr>
        <p:spPr>
          <a:xfrm>
            <a:off x="8321040" y="3886200"/>
            <a:ext cx="566928" cy="566928"/>
          </a:xfrm>
          <a:prstGeom prst="roundRect">
            <a:avLst>
              <a:gd name="adj" fmla="val 22000"/>
            </a:avLst>
          </a:prstGeom>
          <a:solidFill>
            <a:schemeClr val="accent1">
              <a:lumMod val="40000"/>
              <a:lumOff val="60000"/>
            </a:schemeClr>
          </a:solidFill>
        </p:spPr>
      </p:sp>
      <p:pic>
        <p:nvPicPr>
          <p:cNvPr id="30" name="Image 3" descr="preencoded.png"/>
          <p:cNvPicPr>
            <a:picLocks noChangeAspect="1"/>
          </p:cNvPicPr>
          <p:nvPr>
            <p:custDataLst>
              <p:tags r:id="rId21"/>
            </p:custDataLst>
          </p:nvPr>
        </p:nvPicPr>
        <p:blipFill>
          <a:blip r:embed="rId22"/>
          <a:stretch>
            <a:fillRect/>
          </a:stretch>
        </p:blipFill>
        <p:spPr>
          <a:xfrm>
            <a:off x="8468441" y="4033601"/>
            <a:ext cx="272125" cy="272125"/>
          </a:xfrm>
          <a:prstGeom prst="rect">
            <a:avLst/>
          </a:prstGeom>
        </p:spPr>
      </p:pic>
      <p:sp>
        <p:nvSpPr>
          <p:cNvPr id="31" name="Text 25"/>
          <p:cNvSpPr/>
          <p:nvPr>
            <p:custDataLst>
              <p:tags r:id="rId23"/>
            </p:custDataLst>
          </p:nvPr>
        </p:nvSpPr>
        <p:spPr>
          <a:xfrm>
            <a:off x="8321040" y="4572000"/>
            <a:ext cx="2907792" cy="457200"/>
          </a:xfrm>
          <a:prstGeom prst="rect">
            <a:avLst/>
          </a:prstGeom>
          <a:noFill/>
        </p:spPr>
        <p:txBody>
          <a:bodyPr wrap="square" lIns="0" tIns="0" rIns="0" bIns="0" rtlCol="0" anchor="t"/>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器件级几何约束</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6"/>
          <p:cNvSpPr/>
          <p:nvPr>
            <p:custDataLst>
              <p:tags r:id="rId24"/>
            </p:custDataLst>
          </p:nvPr>
        </p:nvSpPr>
        <p:spPr>
          <a:xfrm>
            <a:off x="8321040" y="5093208"/>
            <a:ext cx="2907792" cy="0"/>
          </a:xfrm>
          <a:prstGeom prst="line">
            <a:avLst/>
          </a:prstGeom>
          <a:noFill/>
          <a:ln w="12700">
            <a:solidFill>
              <a:srgbClr val="CFD5EA"/>
            </a:solidFill>
            <a:prstDash val="solid"/>
          </a:ln>
        </p:spPr>
      </p:sp>
      <p:sp>
        <p:nvSpPr>
          <p:cNvPr id="33" name="Text 27"/>
          <p:cNvSpPr/>
          <p:nvPr>
            <p:custDataLst>
              <p:tags r:id="rId25"/>
            </p:custDataLst>
          </p:nvPr>
        </p:nvSpPr>
        <p:spPr>
          <a:xfrm>
            <a:off x="8321040" y="5212080"/>
            <a:ext cx="2907792" cy="1051560"/>
          </a:xfrm>
          <a:prstGeom prst="rect">
            <a:avLst/>
          </a:prstGeom>
          <a:noFill/>
        </p:spPr>
        <p:txBody>
          <a:bodyPr wrap="square" lIns="0" tIns="0" rIns="0" bIns="0" rtlCol="0" anchor="t"/>
          <a:lstStyle/>
          <a:p>
            <a:pPr marL="0" indent="0">
              <a:lnSpc>
                <a:spcPct val="10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两脚配对、电位器三孔共线、轴向器件不跨中缝，并由外形推断三极管 E-B-C 极性，把“像素邻近”修正为“符合物理形态”。</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Text 29"/>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第四章 · 电气重构与符号诊断引擎</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拓扑重构与结构化网表</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grpSp>
        <p:nvGrpSpPr>
          <p:cNvPr id="34" name="组合 33"/>
          <p:cNvGrpSpPr/>
          <p:nvPr/>
        </p:nvGrpSpPr>
        <p:grpSpPr>
          <a:xfrm>
            <a:off x="548640" y="1236345"/>
            <a:ext cx="11094720" cy="840740"/>
            <a:chOff x="864" y="2376"/>
            <a:chExt cx="17472" cy="1324"/>
          </a:xfrm>
        </p:grpSpPr>
        <p:sp>
          <p:nvSpPr>
            <p:cNvPr id="11" name="Shape 8"/>
            <p:cNvSpPr/>
            <p:nvPr/>
          </p:nvSpPr>
          <p:spPr>
            <a:xfrm>
              <a:off x="864" y="2376"/>
              <a:ext cx="17472" cy="1325"/>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12" name="Shape 9"/>
            <p:cNvSpPr/>
            <p:nvPr/>
          </p:nvSpPr>
          <p:spPr>
            <a:xfrm>
              <a:off x="864" y="2376"/>
              <a:ext cx="115" cy="1325"/>
            </a:xfrm>
            <a:prstGeom prst="rect">
              <a:avLst/>
            </a:prstGeom>
            <a:solidFill>
              <a:srgbClr val="4472C4"/>
            </a:solidFill>
          </p:spPr>
        </p:sp>
        <p:sp>
          <p:nvSpPr>
            <p:cNvPr id="13" name="Text 10"/>
            <p:cNvSpPr/>
            <p:nvPr/>
          </p:nvSpPr>
          <p:spPr>
            <a:xfrm>
              <a:off x="1368" y="2376"/>
              <a:ext cx="16464" cy="1325"/>
            </a:xfrm>
            <a:prstGeom prst="rect">
              <a:avLst/>
            </a:prstGeom>
            <a:noFill/>
          </p:spPr>
          <p:txBody>
            <a:bodyPr wrap="square" lIns="0" tIns="0" rIns="0" bIns="0" rtlCol="0" anchor="ctr"/>
            <a:lstStyle/>
            <a:p>
              <a:pPr marL="0" indent="0">
                <a:lnSpc>
                  <a:spcPct val="105000"/>
                </a:lnSpc>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符号侧：</a:t>
              </a: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不依赖任何神经网络，对错判断由图论算法以确定、可复现、可审计的方式给出，从根本上杜绝在安全敏感的“对错”问题上产生幻觉。</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sp>
        <p:nvSpPr>
          <p:cNvPr id="14" name="Text 11"/>
          <p:cNvSpPr/>
          <p:nvPr/>
        </p:nvSpPr>
        <p:spPr>
          <a:xfrm>
            <a:off x="548640" y="2606040"/>
            <a:ext cx="566928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从“引脚落在哪个孔”到“哪些引脚同属一网络”</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Shape 12"/>
          <p:cNvSpPr/>
          <p:nvPr>
            <p:custDataLst>
              <p:tags r:id="rId2"/>
            </p:custDataLst>
          </p:nvPr>
        </p:nvSpPr>
        <p:spPr>
          <a:xfrm>
            <a:off x="625475" y="3454273"/>
            <a:ext cx="365760" cy="365760"/>
          </a:xfrm>
          <a:prstGeom prst="ellipse">
            <a:avLst/>
          </a:prstGeom>
          <a:solidFill>
            <a:srgbClr val="14326C"/>
          </a:solidFill>
        </p:spPr>
      </p:sp>
      <p:sp>
        <p:nvSpPr>
          <p:cNvPr id="16" name="Text 13"/>
          <p:cNvSpPr/>
          <p:nvPr>
            <p:custDataLst>
              <p:tags r:id="rId3"/>
            </p:custDataLst>
          </p:nvPr>
        </p:nvSpPr>
        <p:spPr>
          <a:xfrm>
            <a:off x="625475" y="3454273"/>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00" dirty="0"/>
          </a:p>
        </p:txBody>
      </p:sp>
      <p:sp>
        <p:nvSpPr>
          <p:cNvPr id="17" name="Text 14"/>
          <p:cNvSpPr/>
          <p:nvPr>
            <p:custDataLst>
              <p:tags r:id="rId4"/>
            </p:custDataLst>
          </p:nvPr>
        </p:nvSpPr>
        <p:spPr>
          <a:xfrm>
            <a:off x="1128395" y="3390265"/>
            <a:ext cx="5212080" cy="566928"/>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读取孔位映射后的元件与引脚，构造电路分析器，以图结构表示元件与网络关系</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5"/>
          <p:cNvSpPr/>
          <p:nvPr>
            <p:custDataLst>
              <p:tags r:id="rId5"/>
            </p:custDataLst>
          </p:nvPr>
        </p:nvSpPr>
        <p:spPr>
          <a:xfrm>
            <a:off x="625475" y="4169029"/>
            <a:ext cx="365760" cy="365760"/>
          </a:xfrm>
          <a:prstGeom prst="ellipse">
            <a:avLst/>
          </a:prstGeom>
          <a:solidFill>
            <a:srgbClr val="14326C"/>
          </a:solidFill>
        </p:spPr>
      </p:sp>
      <p:sp>
        <p:nvSpPr>
          <p:cNvPr id="19" name="Text 16"/>
          <p:cNvSpPr/>
          <p:nvPr>
            <p:custDataLst>
              <p:tags r:id="rId6"/>
            </p:custDataLst>
          </p:nvPr>
        </p:nvSpPr>
        <p:spPr>
          <a:xfrm>
            <a:off x="625475" y="4169029"/>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00" dirty="0"/>
          </a:p>
        </p:txBody>
      </p:sp>
      <p:sp>
        <p:nvSpPr>
          <p:cNvPr id="20" name="Text 17"/>
          <p:cNvSpPr/>
          <p:nvPr>
            <p:custDataLst>
              <p:tags r:id="rId7"/>
            </p:custDataLst>
          </p:nvPr>
        </p:nvSpPr>
        <p:spPr>
          <a:xfrm>
            <a:off x="1128395" y="4105021"/>
            <a:ext cx="5212080" cy="566928"/>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用并查集把由导线连接的等电位孔位合并为统一网络</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Shape 18"/>
          <p:cNvSpPr/>
          <p:nvPr>
            <p:custDataLst>
              <p:tags r:id="rId8"/>
            </p:custDataLst>
          </p:nvPr>
        </p:nvSpPr>
        <p:spPr>
          <a:xfrm>
            <a:off x="625475" y="4914265"/>
            <a:ext cx="365760" cy="365760"/>
          </a:xfrm>
          <a:prstGeom prst="ellipse">
            <a:avLst/>
          </a:prstGeom>
          <a:solidFill>
            <a:srgbClr val="14326C"/>
          </a:solidFill>
        </p:spPr>
      </p:sp>
      <p:sp>
        <p:nvSpPr>
          <p:cNvPr id="22" name="Text 19"/>
          <p:cNvSpPr/>
          <p:nvPr>
            <p:custDataLst>
              <p:tags r:id="rId9"/>
            </p:custDataLst>
          </p:nvPr>
        </p:nvSpPr>
        <p:spPr>
          <a:xfrm>
            <a:off x="625475" y="4914265"/>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00" dirty="0"/>
          </a:p>
        </p:txBody>
      </p:sp>
      <p:sp>
        <p:nvSpPr>
          <p:cNvPr id="23" name="Text 20"/>
          <p:cNvSpPr/>
          <p:nvPr>
            <p:custDataLst>
              <p:tags r:id="rId10"/>
            </p:custDataLst>
          </p:nvPr>
        </p:nvSpPr>
        <p:spPr>
          <a:xfrm>
            <a:off x="1128395" y="4850257"/>
            <a:ext cx="5212080" cy="566928"/>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坚持以物理孔位为唯一可信来源、据孔位重新解析导通节点，避免旧编号残留致错</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Shape 21"/>
          <p:cNvSpPr/>
          <p:nvPr>
            <p:custDataLst>
              <p:tags r:id="rId11"/>
            </p:custDataLst>
          </p:nvPr>
        </p:nvSpPr>
        <p:spPr>
          <a:xfrm>
            <a:off x="625475" y="5674741"/>
            <a:ext cx="365760" cy="365760"/>
          </a:xfrm>
          <a:prstGeom prst="ellipse">
            <a:avLst/>
          </a:prstGeom>
          <a:solidFill>
            <a:srgbClr val="14326C"/>
          </a:solidFill>
        </p:spPr>
      </p:sp>
      <p:sp>
        <p:nvSpPr>
          <p:cNvPr id="25" name="Text 22"/>
          <p:cNvSpPr/>
          <p:nvPr>
            <p:custDataLst>
              <p:tags r:id="rId12"/>
            </p:custDataLst>
          </p:nvPr>
        </p:nvSpPr>
        <p:spPr>
          <a:xfrm>
            <a:off x="625475" y="5674741"/>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400" dirty="0"/>
          </a:p>
        </p:txBody>
      </p:sp>
      <p:sp>
        <p:nvSpPr>
          <p:cNvPr id="26" name="Text 23"/>
          <p:cNvSpPr/>
          <p:nvPr>
            <p:custDataLst>
              <p:tags r:id="rId13"/>
            </p:custDataLst>
          </p:nvPr>
        </p:nvSpPr>
        <p:spPr>
          <a:xfrm>
            <a:off x="1128395" y="5610733"/>
            <a:ext cx="5212080" cy="566928"/>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导线不作元件参与拓扑、仅用于合并网络；多引脚落入同网则标记短路风险</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4"/>
          <p:cNvSpPr/>
          <p:nvPr/>
        </p:nvSpPr>
        <p:spPr>
          <a:xfrm>
            <a:off x="6583680" y="2606040"/>
            <a:ext cx="5074920" cy="3830320"/>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28" name="Shape 25"/>
          <p:cNvSpPr/>
          <p:nvPr/>
        </p:nvSpPr>
        <p:spPr>
          <a:xfrm>
            <a:off x="6858000" y="2834640"/>
            <a:ext cx="512064" cy="512064"/>
          </a:xfrm>
          <a:prstGeom prst="roundRect">
            <a:avLst>
              <a:gd name="adj" fmla="val 22000"/>
            </a:avLst>
          </a:prstGeom>
          <a:solidFill>
            <a:srgbClr val="5B9BD5"/>
          </a:solidFill>
        </p:spPr>
      </p:sp>
      <p:pic>
        <p:nvPicPr>
          <p:cNvPr id="29" name="Image 1" descr="preencoded.png"/>
          <p:cNvPicPr>
            <a:picLocks noChangeAspect="1"/>
          </p:cNvPicPr>
          <p:nvPr/>
        </p:nvPicPr>
        <p:blipFill>
          <a:blip r:embed="rId14"/>
          <a:stretch>
            <a:fillRect/>
          </a:stretch>
        </p:blipFill>
        <p:spPr>
          <a:xfrm>
            <a:off x="6991137" y="2967777"/>
            <a:ext cx="245791" cy="245791"/>
          </a:xfrm>
          <a:prstGeom prst="rect">
            <a:avLst/>
          </a:prstGeom>
        </p:spPr>
      </p:pic>
      <p:sp>
        <p:nvSpPr>
          <p:cNvPr id="30" name="Text 26"/>
          <p:cNvSpPr/>
          <p:nvPr/>
        </p:nvSpPr>
        <p:spPr>
          <a:xfrm>
            <a:off x="7498080" y="2816352"/>
            <a:ext cx="3977640" cy="512064"/>
          </a:xfrm>
          <a:prstGeom prst="rect">
            <a:avLst/>
          </a:prstGeom>
          <a:noFill/>
        </p:spPr>
        <p:txBody>
          <a:bodyPr wrap="square" lIns="0" tIns="0" rIns="0" bIns="0" rtlCol="0" anchor="ctr"/>
          <a:lstStyle/>
          <a:p>
            <a:pPr marL="0" indent="0">
              <a:buNone/>
            </a:pPr>
            <a:r>
              <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核心产物：结构化网表</a:t>
            </a:r>
            <a:endPar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7"/>
          <p:cNvSpPr/>
          <p:nvPr/>
        </p:nvSpPr>
        <p:spPr>
          <a:xfrm>
            <a:off x="6876415" y="3620770"/>
            <a:ext cx="4507865" cy="2604770"/>
          </a:xfrm>
          <a:prstGeom prst="rect">
            <a:avLst/>
          </a:prstGeom>
          <a:noFill/>
        </p:spPr>
        <p:txBody>
          <a:bodyPr wrap="square" lIns="0" tIns="0" rIns="0" bIns="0" rtlCol="0" anchor="t"/>
          <a:lstStyle/>
          <a:p>
            <a:pPr marL="0" indent="0">
              <a:lnSpc>
                <a:spcPct val="112000"/>
              </a:lnSpc>
              <a:spcAft>
                <a:spcPts val="800"/>
              </a:spcAft>
              <a:buNone/>
            </a:pPr>
            <a:r>
              <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并非文字网表，而是保留元件、引脚、网络、节点索引与板型拓扑的结构化对象。</a:t>
            </a:r>
            <a:endParaRPr lang="en-US" dirty="0"/>
          </a:p>
          <a:p>
            <a:pPr marL="342900" indent="-342900">
              <a:lnSpc>
                <a:spcPct val="112000"/>
              </a:lnSpc>
              <a:buSzPct val="100000"/>
              <a:buChar char="•"/>
            </a:pPr>
            <a:r>
              <a:rPr lang="en-US"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可被交互端、验证模块与智能体共同消费</a:t>
            </a:r>
            <a:endParaRPr lang="en-US" dirty="0"/>
          </a:p>
          <a:p>
            <a:pPr marL="342900" indent="-342900">
              <a:lnSpc>
                <a:spcPct val="112000"/>
              </a:lnSpc>
              <a:buSzPct val="100000"/>
              <a:buChar char="•"/>
            </a:pPr>
            <a:r>
              <a:rPr lang="en-US"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支持导出拓扑级 SPICE 网表（导线已隐式合并）</a:t>
            </a:r>
            <a:endParaRPr lang="en-US" dirty="0"/>
          </a:p>
          <a:p>
            <a:pPr marL="342900" indent="-342900">
              <a:lnSpc>
                <a:spcPct val="112000"/>
              </a:lnSpc>
              <a:buSzPct val="100000"/>
              <a:buChar char="•"/>
            </a:pPr>
            <a:r>
              <a:rPr lang="en-US"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选中某网络时高亮其全部相关孔位，同时服务电气比较与可视化定位</a:t>
            </a:r>
            <a:endParaRPr lang="en-US"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29"/>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第四章 · 电气重构与符号诊断引擎</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参考电路的领域特定语言（DSL）</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417320"/>
            <a:ext cx="109728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不手写网表 JSON，而以嵌入式 Python DSL 声明逻辑参考电路，分离“作者意图”与“机器可比对结构”</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custDataLst>
              <p:tags r:id="rId2"/>
            </p:custDataLst>
          </p:nvPr>
        </p:nvSpPr>
        <p:spPr>
          <a:xfrm>
            <a:off x="548640" y="2255520"/>
            <a:ext cx="5349240" cy="129730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custDataLst>
              <p:tags r:id="rId3"/>
            </p:custDataLst>
          </p:nvPr>
        </p:nvSpPr>
        <p:spPr>
          <a:xfrm>
            <a:off x="548640" y="2255520"/>
            <a:ext cx="76200" cy="1297305"/>
          </a:xfrm>
          <a:prstGeom prst="rect">
            <a:avLst/>
          </a:prstGeom>
          <a:solidFill>
            <a:srgbClr val="5B9BD5"/>
          </a:solidFill>
        </p:spPr>
      </p:sp>
      <p:sp>
        <p:nvSpPr>
          <p:cNvPr id="14" name="Shape 11"/>
          <p:cNvSpPr/>
          <p:nvPr>
            <p:custDataLst>
              <p:tags r:id="rId4"/>
            </p:custDataLst>
          </p:nvPr>
        </p:nvSpPr>
        <p:spPr>
          <a:xfrm>
            <a:off x="749808" y="2456688"/>
            <a:ext cx="1691640" cy="420624"/>
          </a:xfrm>
          <a:prstGeom prst="roundRect">
            <a:avLst>
              <a:gd name="adj" fmla="val 13043"/>
            </a:avLst>
          </a:prstGeom>
          <a:solidFill>
            <a:srgbClr val="14326C"/>
          </a:solidFill>
        </p:spPr>
      </p:sp>
      <p:sp>
        <p:nvSpPr>
          <p:cNvPr id="15" name="Text 12"/>
          <p:cNvSpPr/>
          <p:nvPr>
            <p:custDataLst>
              <p:tags r:id="rId5"/>
            </p:custDataLst>
          </p:nvPr>
        </p:nvSpPr>
        <p:spPr>
          <a:xfrm>
            <a:off x="749808" y="2456688"/>
            <a:ext cx="1691640" cy="420624"/>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Circuit</a:t>
            </a:r>
            <a:endPar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16" name="Text 13"/>
          <p:cNvSpPr/>
          <p:nvPr>
            <p:custDataLst>
              <p:tags r:id="rId6"/>
            </p:custDataLst>
          </p:nvPr>
        </p:nvSpPr>
        <p:spPr>
          <a:xfrm>
            <a:off x="2560320" y="2438400"/>
            <a:ext cx="1097280" cy="365760"/>
          </a:xfrm>
          <a:prstGeom prst="rect">
            <a:avLst/>
          </a:prstGeom>
          <a:noFill/>
        </p:spPr>
        <p:txBody>
          <a:bodyPr wrap="square" lIns="0" tIns="0" rIns="0" bIns="0" rtlCol="0" anchor="ctr"/>
          <a:lstStyle/>
          <a:p>
            <a:pPr marL="0" indent="0">
              <a:buNone/>
            </a:pPr>
            <a:r>
              <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容器</a:t>
            </a:r>
            <a:endPar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4"/>
          <p:cNvSpPr/>
          <p:nvPr>
            <p:custDataLst>
              <p:tags r:id="rId7"/>
            </p:custDataLst>
          </p:nvPr>
        </p:nvSpPr>
        <p:spPr>
          <a:xfrm>
            <a:off x="768096" y="2958084"/>
            <a:ext cx="4892040" cy="420624"/>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承载参考标识、网络、元件、对称组与等价选项</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5"/>
          <p:cNvSpPr/>
          <p:nvPr>
            <p:custDataLst>
              <p:tags r:id="rId8"/>
            </p:custDataLst>
          </p:nvPr>
        </p:nvSpPr>
        <p:spPr>
          <a:xfrm>
            <a:off x="6217920" y="2255520"/>
            <a:ext cx="5349240" cy="129730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9" name="Shape 16"/>
          <p:cNvSpPr/>
          <p:nvPr>
            <p:custDataLst>
              <p:tags r:id="rId9"/>
            </p:custDataLst>
          </p:nvPr>
        </p:nvSpPr>
        <p:spPr>
          <a:xfrm>
            <a:off x="6217920" y="2255520"/>
            <a:ext cx="76200" cy="1297305"/>
          </a:xfrm>
          <a:prstGeom prst="rect">
            <a:avLst/>
          </a:prstGeom>
          <a:solidFill>
            <a:srgbClr val="5B9BD5"/>
          </a:solidFill>
        </p:spPr>
      </p:sp>
      <p:sp>
        <p:nvSpPr>
          <p:cNvPr id="20" name="Shape 17"/>
          <p:cNvSpPr/>
          <p:nvPr>
            <p:custDataLst>
              <p:tags r:id="rId10"/>
            </p:custDataLst>
          </p:nvPr>
        </p:nvSpPr>
        <p:spPr>
          <a:xfrm>
            <a:off x="6419088" y="2456688"/>
            <a:ext cx="1691640" cy="420624"/>
          </a:xfrm>
          <a:prstGeom prst="roundRect">
            <a:avLst>
              <a:gd name="adj" fmla="val 13043"/>
            </a:avLst>
          </a:prstGeom>
          <a:solidFill>
            <a:srgbClr val="14326C"/>
          </a:solidFill>
        </p:spPr>
      </p:sp>
      <p:sp>
        <p:nvSpPr>
          <p:cNvPr id="21" name="Text 18"/>
          <p:cNvSpPr/>
          <p:nvPr>
            <p:custDataLst>
              <p:tags r:id="rId11"/>
            </p:custDataLst>
          </p:nvPr>
        </p:nvSpPr>
        <p:spPr>
          <a:xfrm>
            <a:off x="6419088" y="2456688"/>
            <a:ext cx="1691640" cy="420624"/>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Net</a:t>
            </a:r>
            <a:endPar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22" name="Text 19"/>
          <p:cNvSpPr/>
          <p:nvPr>
            <p:custDataLst>
              <p:tags r:id="rId12"/>
            </p:custDataLst>
          </p:nvPr>
        </p:nvSpPr>
        <p:spPr>
          <a:xfrm>
            <a:off x="8229600" y="2438400"/>
            <a:ext cx="1097280" cy="365760"/>
          </a:xfrm>
          <a:prstGeom prst="rect">
            <a:avLst/>
          </a:prstGeom>
          <a:noFill/>
        </p:spPr>
        <p:txBody>
          <a:bodyPr wrap="square" lIns="0" tIns="0" rIns="0" bIns="0" rtlCol="0" anchor="ctr"/>
          <a:lstStyle/>
          <a:p>
            <a:pPr marL="0" indent="0">
              <a:buNone/>
            </a:pPr>
            <a:r>
              <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网络</a:t>
            </a:r>
            <a:endPar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20"/>
          <p:cNvSpPr/>
          <p:nvPr>
            <p:custDataLst>
              <p:tags r:id="rId13"/>
            </p:custDataLst>
          </p:nvPr>
        </p:nvSpPr>
        <p:spPr>
          <a:xfrm>
            <a:off x="6437376" y="2950464"/>
            <a:ext cx="4892040" cy="420624"/>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携带语义角色（signal/input/output/power/ground）与角色标签 UI1 / VCC / GND</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Shape 21"/>
          <p:cNvSpPr/>
          <p:nvPr>
            <p:custDataLst>
              <p:tags r:id="rId14"/>
            </p:custDataLst>
          </p:nvPr>
        </p:nvSpPr>
        <p:spPr>
          <a:xfrm>
            <a:off x="548640" y="3645535"/>
            <a:ext cx="5349240" cy="127190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5" name="Shape 22"/>
          <p:cNvSpPr/>
          <p:nvPr>
            <p:custDataLst>
              <p:tags r:id="rId15"/>
            </p:custDataLst>
          </p:nvPr>
        </p:nvSpPr>
        <p:spPr>
          <a:xfrm>
            <a:off x="548640" y="3645535"/>
            <a:ext cx="76200" cy="1271905"/>
          </a:xfrm>
          <a:prstGeom prst="rect">
            <a:avLst/>
          </a:prstGeom>
          <a:solidFill>
            <a:srgbClr val="5B9BD5"/>
          </a:solidFill>
        </p:spPr>
      </p:sp>
      <p:sp>
        <p:nvSpPr>
          <p:cNvPr id="26" name="Shape 23"/>
          <p:cNvSpPr/>
          <p:nvPr>
            <p:custDataLst>
              <p:tags r:id="rId16"/>
            </p:custDataLst>
          </p:nvPr>
        </p:nvSpPr>
        <p:spPr>
          <a:xfrm>
            <a:off x="749808" y="3846576"/>
            <a:ext cx="1691640" cy="420624"/>
          </a:xfrm>
          <a:prstGeom prst="roundRect">
            <a:avLst>
              <a:gd name="adj" fmla="val 13043"/>
            </a:avLst>
          </a:prstGeom>
          <a:solidFill>
            <a:srgbClr val="14326C"/>
          </a:solidFill>
        </p:spPr>
      </p:sp>
      <p:sp>
        <p:nvSpPr>
          <p:cNvPr id="27" name="Text 24"/>
          <p:cNvSpPr/>
          <p:nvPr>
            <p:custDataLst>
              <p:tags r:id="rId17"/>
            </p:custDataLst>
          </p:nvPr>
        </p:nvSpPr>
        <p:spPr>
          <a:xfrm>
            <a:off x="749808" y="3846576"/>
            <a:ext cx="1691640" cy="420624"/>
          </a:xfrm>
          <a:prstGeom prst="rect">
            <a:avLst/>
          </a:prstGeom>
          <a:noFill/>
        </p:spPr>
        <p:txBody>
          <a:bodyPr wrap="square" lIns="0" tIns="0" rIns="0" bIns="0" rtlCol="0" anchor="ctr"/>
          <a:lstStyle/>
          <a:p>
            <a:pPr marL="0" indent="0" algn="ctr">
              <a:buNone/>
            </a:pPr>
            <a:r>
              <a:rPr lang="en-US" sz="14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Pin</a:t>
            </a:r>
            <a:endParaRPr lang="en-US" sz="1400" dirty="0"/>
          </a:p>
        </p:txBody>
      </p:sp>
      <p:sp>
        <p:nvSpPr>
          <p:cNvPr id="28" name="Text 25"/>
          <p:cNvSpPr/>
          <p:nvPr>
            <p:custDataLst>
              <p:tags r:id="rId18"/>
            </p:custDataLst>
          </p:nvPr>
        </p:nvSpPr>
        <p:spPr>
          <a:xfrm>
            <a:off x="2560320" y="3828288"/>
            <a:ext cx="1097280" cy="365760"/>
          </a:xfrm>
          <a:prstGeom prst="rect">
            <a:avLst/>
          </a:prstGeom>
          <a:noFill/>
        </p:spPr>
        <p:txBody>
          <a:bodyPr wrap="square" lIns="0" tIns="0" rIns="0" bIns="0" rtlCol="0" anchor="ctr"/>
          <a:lstStyle/>
          <a:p>
            <a:pPr marL="0" indent="0">
              <a:buNone/>
            </a:pPr>
            <a:r>
              <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引脚</a:t>
            </a:r>
            <a:endPar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6"/>
          <p:cNvSpPr/>
          <p:nvPr>
            <p:custDataLst>
              <p:tags r:id="rId19"/>
            </p:custDataLst>
          </p:nvPr>
        </p:nvSpPr>
        <p:spPr>
          <a:xfrm>
            <a:off x="768096" y="4363212"/>
            <a:ext cx="4892040" cy="420624"/>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绑定到具体元件实例，可显式标注不连接（no-connect）</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7"/>
          <p:cNvSpPr/>
          <p:nvPr>
            <p:custDataLst>
              <p:tags r:id="rId20"/>
            </p:custDataLst>
          </p:nvPr>
        </p:nvSpPr>
        <p:spPr>
          <a:xfrm>
            <a:off x="6217920" y="3645535"/>
            <a:ext cx="5349240" cy="127190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1" name="Shape 28"/>
          <p:cNvSpPr/>
          <p:nvPr>
            <p:custDataLst>
              <p:tags r:id="rId21"/>
            </p:custDataLst>
          </p:nvPr>
        </p:nvSpPr>
        <p:spPr>
          <a:xfrm>
            <a:off x="6217920" y="3645535"/>
            <a:ext cx="76200" cy="1271905"/>
          </a:xfrm>
          <a:prstGeom prst="rect">
            <a:avLst/>
          </a:prstGeom>
          <a:solidFill>
            <a:srgbClr val="5B9BD5"/>
          </a:solidFill>
        </p:spPr>
      </p:sp>
      <p:sp>
        <p:nvSpPr>
          <p:cNvPr id="32" name="Shape 29"/>
          <p:cNvSpPr/>
          <p:nvPr>
            <p:custDataLst>
              <p:tags r:id="rId22"/>
            </p:custDataLst>
          </p:nvPr>
        </p:nvSpPr>
        <p:spPr>
          <a:xfrm>
            <a:off x="6419088" y="3846576"/>
            <a:ext cx="1691640" cy="420624"/>
          </a:xfrm>
          <a:prstGeom prst="roundRect">
            <a:avLst>
              <a:gd name="adj" fmla="val 13043"/>
            </a:avLst>
          </a:prstGeom>
          <a:solidFill>
            <a:srgbClr val="14326C"/>
          </a:solidFill>
        </p:spPr>
      </p:sp>
      <p:sp>
        <p:nvSpPr>
          <p:cNvPr id="33" name="Text 30"/>
          <p:cNvSpPr/>
          <p:nvPr>
            <p:custDataLst>
              <p:tags r:id="rId23"/>
            </p:custDataLst>
          </p:nvPr>
        </p:nvSpPr>
        <p:spPr>
          <a:xfrm>
            <a:off x="6419088" y="3846576"/>
            <a:ext cx="1691640" cy="420624"/>
          </a:xfrm>
          <a:prstGeom prst="rect">
            <a:avLst/>
          </a:prstGeom>
          <a:noFill/>
        </p:spPr>
        <p:txBody>
          <a:bodyPr wrap="square" lIns="0" tIns="0" rIns="0" bIns="0" rtlCol="0" anchor="ctr"/>
          <a:lstStyle/>
          <a:p>
            <a:pPr marL="0" indent="0" algn="ctr">
              <a:buNone/>
            </a:pPr>
            <a:r>
              <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Component</a:t>
            </a:r>
            <a:endParaRPr lang="en-US" sz="1600" b="1" dirty="0">
              <a:solidFill>
                <a:srgbClr val="FFFFFF"/>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34" name="Text 31"/>
          <p:cNvSpPr/>
          <p:nvPr>
            <p:custDataLst>
              <p:tags r:id="rId24"/>
            </p:custDataLst>
          </p:nvPr>
        </p:nvSpPr>
        <p:spPr>
          <a:xfrm>
            <a:off x="8229600" y="3828288"/>
            <a:ext cx="1097280" cy="365760"/>
          </a:xfrm>
          <a:prstGeom prst="rect">
            <a:avLst/>
          </a:prstGeom>
          <a:noFill/>
        </p:spPr>
        <p:txBody>
          <a:bodyPr wrap="square" lIns="0" tIns="0" rIns="0" bIns="0" rtlCol="0" anchor="ctr"/>
          <a:lstStyle/>
          <a:p>
            <a:pPr marL="0" indent="0">
              <a:buNone/>
            </a:pPr>
            <a:r>
              <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元件</a:t>
            </a:r>
            <a:endParaRPr lang="en-US" sz="2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Text 32"/>
          <p:cNvSpPr/>
          <p:nvPr>
            <p:custDataLst>
              <p:tags r:id="rId25"/>
            </p:custDataLst>
          </p:nvPr>
        </p:nvSpPr>
        <p:spPr>
          <a:xfrm>
            <a:off x="6437376" y="4363212"/>
            <a:ext cx="4892040" cy="420624"/>
          </a:xfrm>
          <a:prstGeom prst="rect">
            <a:avLst/>
          </a:prstGeom>
          <a:noFill/>
        </p:spPr>
        <p:txBody>
          <a:bodyPr wrap="square" lIns="0" tIns="0" rIns="0" bIns="0" rtlCol="0" anchor="t"/>
          <a:lstStyle/>
          <a:p>
            <a:pPr marL="0" indent="0">
              <a:lnSpc>
                <a:spcPct val="100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记录编号、类型、子类型与引脚</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Shape 33"/>
          <p:cNvSpPr/>
          <p:nvPr/>
        </p:nvSpPr>
        <p:spPr>
          <a:xfrm>
            <a:off x="548640" y="5074920"/>
            <a:ext cx="11094720" cy="1404620"/>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37" name="Shape 34"/>
          <p:cNvSpPr/>
          <p:nvPr/>
        </p:nvSpPr>
        <p:spPr>
          <a:xfrm>
            <a:off x="548640" y="5074920"/>
            <a:ext cx="76200" cy="1404620"/>
          </a:xfrm>
          <a:prstGeom prst="rect">
            <a:avLst/>
          </a:prstGeom>
          <a:solidFill>
            <a:srgbClr val="4472C4"/>
          </a:solidFill>
        </p:spPr>
      </p:sp>
      <p:sp>
        <p:nvSpPr>
          <p:cNvPr id="38" name="Text 35"/>
          <p:cNvSpPr/>
          <p:nvPr/>
        </p:nvSpPr>
        <p:spPr>
          <a:xfrm>
            <a:off x="875030" y="5356225"/>
            <a:ext cx="10454335" cy="841248"/>
          </a:xfrm>
          <a:prstGeom prst="rect">
            <a:avLst/>
          </a:prstGeom>
          <a:noFill/>
        </p:spPr>
        <p:txBody>
          <a:bodyPr wrap="square" lIns="0" tIns="0" rIns="0" bIns="0" rtlCol="0" anchor="ctr"/>
          <a:lstStyle/>
          <a:p>
            <a:pPr marL="0" indent="0">
              <a:lnSpc>
                <a:spcPct val="125000"/>
              </a:lnSpc>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等价规则表达比对意图：</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2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忽略孔位与元件编号、忽略无极性引脚顺序、允许多余导线，最终经 </a:t>
            </a:r>
            <a:r>
              <a:rPr lang="en-US" b="1" dirty="0">
                <a:solidFill>
                  <a:srgbClr val="4472C4"/>
                </a:solidFill>
                <a:latin typeface="Consolas" panose="020B0609020204030204" pitchFamily="34" charset="0"/>
                <a:ea typeface="Consolas" panose="020B0609020204030204" pitchFamily="34" charset="-122"/>
                <a:cs typeface="Consolas" panose="020B0609020204030204" pitchFamily="34" charset="-120"/>
              </a:rPr>
              <a:t>to_logical_reference()</a:t>
            </a: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 编译为统一逻辑参考 JSON。新增参考电路只需以接近原理图的方式书写数十行 DSL。</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Text 37"/>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第四章 · 电气重构与符号诊断引擎</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确定性图比对算法</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371600"/>
            <a:ext cx="10972800" cy="27432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把比对提升到逻辑层：摆放不同但逻辑等价判为正确，逻辑网络接错判为错误</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1889760"/>
            <a:ext cx="1828800" cy="411480"/>
          </a:xfrm>
          <a:prstGeom prst="rect">
            <a:avLst/>
          </a:prstGeom>
          <a:solidFill>
            <a:srgbClr val="14326C"/>
          </a:solidFill>
          <a:ln w="12700">
            <a:solidFill>
              <a:srgbClr val="FFFFFF"/>
            </a:solidFill>
            <a:prstDash val="solid"/>
          </a:ln>
        </p:spPr>
      </p:sp>
      <p:sp>
        <p:nvSpPr>
          <p:cNvPr id="13" name="Text 10"/>
          <p:cNvSpPr/>
          <p:nvPr/>
        </p:nvSpPr>
        <p:spPr>
          <a:xfrm>
            <a:off x="640080" y="1889760"/>
            <a:ext cx="1645920" cy="41148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判定阶段</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Shape 11"/>
          <p:cNvSpPr/>
          <p:nvPr/>
        </p:nvSpPr>
        <p:spPr>
          <a:xfrm>
            <a:off x="2377440" y="1889760"/>
            <a:ext cx="5486400" cy="411480"/>
          </a:xfrm>
          <a:prstGeom prst="rect">
            <a:avLst/>
          </a:prstGeom>
          <a:solidFill>
            <a:srgbClr val="14326C"/>
          </a:solidFill>
          <a:ln w="12700">
            <a:solidFill>
              <a:srgbClr val="FFFFFF"/>
            </a:solidFill>
            <a:prstDash val="solid"/>
          </a:ln>
        </p:spPr>
      </p:sp>
      <p:sp>
        <p:nvSpPr>
          <p:cNvPr id="15" name="Text 12"/>
          <p:cNvSpPr/>
          <p:nvPr/>
        </p:nvSpPr>
        <p:spPr>
          <a:xfrm>
            <a:off x="2468880" y="1889760"/>
            <a:ext cx="5303520" cy="41148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算法动作</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3"/>
          <p:cNvSpPr/>
          <p:nvPr/>
        </p:nvSpPr>
        <p:spPr>
          <a:xfrm>
            <a:off x="7863840" y="1889760"/>
            <a:ext cx="3776472" cy="411480"/>
          </a:xfrm>
          <a:prstGeom prst="rect">
            <a:avLst/>
          </a:prstGeom>
          <a:solidFill>
            <a:srgbClr val="14326C"/>
          </a:solidFill>
          <a:ln w="12700">
            <a:solidFill>
              <a:srgbClr val="FFFFFF"/>
            </a:solidFill>
            <a:prstDash val="solid"/>
          </a:ln>
        </p:spPr>
      </p:sp>
      <p:sp>
        <p:nvSpPr>
          <p:cNvPr id="17" name="Text 14"/>
          <p:cNvSpPr/>
          <p:nvPr/>
        </p:nvSpPr>
        <p:spPr>
          <a:xfrm>
            <a:off x="7955280" y="1889760"/>
            <a:ext cx="3593592" cy="411480"/>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输出意义</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5"/>
          <p:cNvSpPr/>
          <p:nvPr>
            <p:custDataLst>
              <p:tags r:id="rId2"/>
            </p:custDataLst>
          </p:nvPr>
        </p:nvSpPr>
        <p:spPr>
          <a:xfrm>
            <a:off x="548640" y="2301240"/>
            <a:ext cx="1828800" cy="640080"/>
          </a:xfrm>
          <a:prstGeom prst="rect">
            <a:avLst/>
          </a:prstGeom>
          <a:solidFill>
            <a:srgbClr val="F3F5F9"/>
          </a:solidFill>
          <a:ln w="12700">
            <a:solidFill>
              <a:srgbClr val="CFD5EA"/>
            </a:solidFill>
            <a:prstDash val="solid"/>
          </a:ln>
        </p:spPr>
      </p:sp>
      <p:sp>
        <p:nvSpPr>
          <p:cNvPr id="19" name="Text 16"/>
          <p:cNvSpPr/>
          <p:nvPr>
            <p:custDataLst>
              <p:tags r:id="rId3"/>
            </p:custDataLst>
          </p:nvPr>
        </p:nvSpPr>
        <p:spPr>
          <a:xfrm>
            <a:off x="658368" y="2301240"/>
            <a:ext cx="1609344" cy="640080"/>
          </a:xfrm>
          <a:prstGeom prst="rect">
            <a:avLst/>
          </a:prstGeom>
          <a:noFill/>
        </p:spPr>
        <p:txBody>
          <a:bodyPr wrap="square" lIns="0" tIns="0" rIns="0" bIns="0" rtlCol="0" anchor="ctr"/>
          <a:lstStyle/>
          <a:p>
            <a:pPr marL="0" indent="0">
              <a:lnSpc>
                <a:spcPct val="100000"/>
              </a:lnSpc>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完整同构</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Shape 17"/>
          <p:cNvSpPr/>
          <p:nvPr>
            <p:custDataLst>
              <p:tags r:id="rId4"/>
            </p:custDataLst>
          </p:nvPr>
        </p:nvSpPr>
        <p:spPr>
          <a:xfrm>
            <a:off x="2377440" y="2301240"/>
            <a:ext cx="5486400" cy="640080"/>
          </a:xfrm>
          <a:prstGeom prst="rect">
            <a:avLst/>
          </a:prstGeom>
          <a:solidFill>
            <a:srgbClr val="F3F5F9"/>
          </a:solidFill>
          <a:ln w="12700">
            <a:solidFill>
              <a:srgbClr val="CFD5EA"/>
            </a:solidFill>
            <a:prstDash val="solid"/>
          </a:ln>
        </p:spPr>
      </p:sp>
      <p:sp>
        <p:nvSpPr>
          <p:cNvPr id="21" name="Text 18"/>
          <p:cNvSpPr/>
          <p:nvPr>
            <p:custDataLst>
              <p:tags r:id="rId5"/>
            </p:custDataLst>
          </p:nvPr>
        </p:nvSpPr>
        <p:spPr>
          <a:xfrm>
            <a:off x="2487168" y="2301240"/>
            <a:ext cx="5266944"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参考图与当前图在元件类型、网络角色、功能引脚约束下匹配（VF2）</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Shape 19"/>
          <p:cNvSpPr/>
          <p:nvPr>
            <p:custDataLst>
              <p:tags r:id="rId6"/>
            </p:custDataLst>
          </p:nvPr>
        </p:nvSpPr>
        <p:spPr>
          <a:xfrm>
            <a:off x="7863840" y="2301240"/>
            <a:ext cx="3776472" cy="640080"/>
          </a:xfrm>
          <a:prstGeom prst="rect">
            <a:avLst/>
          </a:prstGeom>
          <a:solidFill>
            <a:srgbClr val="F3F5F9"/>
          </a:solidFill>
          <a:ln w="12700">
            <a:solidFill>
              <a:srgbClr val="CFD5EA"/>
            </a:solidFill>
            <a:prstDash val="solid"/>
          </a:ln>
        </p:spPr>
      </p:sp>
      <p:sp>
        <p:nvSpPr>
          <p:cNvPr id="23" name="Text 20"/>
          <p:cNvSpPr/>
          <p:nvPr>
            <p:custDataLst>
              <p:tags r:id="rId7"/>
            </p:custDataLst>
          </p:nvPr>
        </p:nvSpPr>
        <p:spPr>
          <a:xfrm>
            <a:off x="7973568" y="2301240"/>
            <a:ext cx="3557016"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判定逻辑等价，输出正确结论</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Shape 21"/>
          <p:cNvSpPr/>
          <p:nvPr>
            <p:custDataLst>
              <p:tags r:id="rId8"/>
            </p:custDataLst>
          </p:nvPr>
        </p:nvSpPr>
        <p:spPr>
          <a:xfrm>
            <a:off x="548640" y="2941320"/>
            <a:ext cx="1828800" cy="640080"/>
          </a:xfrm>
          <a:prstGeom prst="rect">
            <a:avLst/>
          </a:prstGeom>
          <a:solidFill>
            <a:srgbClr val="FFFFFF"/>
          </a:solidFill>
          <a:ln w="12700">
            <a:solidFill>
              <a:srgbClr val="CFD5EA"/>
            </a:solidFill>
            <a:prstDash val="solid"/>
          </a:ln>
        </p:spPr>
      </p:sp>
      <p:sp>
        <p:nvSpPr>
          <p:cNvPr id="25" name="Text 22"/>
          <p:cNvSpPr/>
          <p:nvPr>
            <p:custDataLst>
              <p:tags r:id="rId9"/>
            </p:custDataLst>
          </p:nvPr>
        </p:nvSpPr>
        <p:spPr>
          <a:xfrm>
            <a:off x="658368" y="2941320"/>
            <a:ext cx="1609344" cy="640080"/>
          </a:xfrm>
          <a:prstGeom prst="rect">
            <a:avLst/>
          </a:prstGeom>
          <a:noFill/>
        </p:spPr>
        <p:txBody>
          <a:bodyPr wrap="square" lIns="0" tIns="0" rIns="0" bIns="0" rtlCol="0" anchor="ctr"/>
          <a:lstStyle/>
          <a:p>
            <a:pPr marL="0" indent="0">
              <a:lnSpc>
                <a:spcPct val="100000"/>
              </a:lnSpc>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角色推断</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3"/>
          <p:cNvSpPr/>
          <p:nvPr>
            <p:custDataLst>
              <p:tags r:id="rId10"/>
            </p:custDataLst>
          </p:nvPr>
        </p:nvSpPr>
        <p:spPr>
          <a:xfrm>
            <a:off x="2377440" y="2941320"/>
            <a:ext cx="5486400" cy="640080"/>
          </a:xfrm>
          <a:prstGeom prst="rect">
            <a:avLst/>
          </a:prstGeom>
          <a:solidFill>
            <a:srgbClr val="FFFFFF"/>
          </a:solidFill>
          <a:ln w="12700">
            <a:solidFill>
              <a:srgbClr val="CFD5EA"/>
            </a:solidFill>
            <a:prstDash val="solid"/>
          </a:ln>
        </p:spPr>
      </p:sp>
      <p:sp>
        <p:nvSpPr>
          <p:cNvPr id="27" name="Text 24"/>
          <p:cNvSpPr/>
          <p:nvPr>
            <p:custDataLst>
              <p:tags r:id="rId11"/>
            </p:custDataLst>
          </p:nvPr>
        </p:nvSpPr>
        <p:spPr>
          <a:xfrm>
            <a:off x="2487168" y="2941320"/>
            <a:ext cx="5266944"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在不覆盖人工标注的前提下，从参考图向匿名网络传播角色</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Shape 25"/>
          <p:cNvSpPr/>
          <p:nvPr>
            <p:custDataLst>
              <p:tags r:id="rId12"/>
            </p:custDataLst>
          </p:nvPr>
        </p:nvSpPr>
        <p:spPr>
          <a:xfrm>
            <a:off x="7863840" y="2941320"/>
            <a:ext cx="3776472" cy="640080"/>
          </a:xfrm>
          <a:prstGeom prst="rect">
            <a:avLst/>
          </a:prstGeom>
          <a:solidFill>
            <a:srgbClr val="FFFFFF"/>
          </a:solidFill>
          <a:ln w="12700">
            <a:solidFill>
              <a:srgbClr val="CFD5EA"/>
            </a:solidFill>
            <a:prstDash val="solid"/>
          </a:ln>
        </p:spPr>
      </p:sp>
      <p:sp>
        <p:nvSpPr>
          <p:cNvPr id="29" name="Text 26"/>
          <p:cNvSpPr/>
          <p:nvPr>
            <p:custDataLst>
              <p:tags r:id="rId13"/>
            </p:custDataLst>
          </p:nvPr>
        </p:nvSpPr>
        <p:spPr>
          <a:xfrm>
            <a:off x="7973568" y="2941320"/>
            <a:ext cx="3557016"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降低学生未标内部信号造成的误报</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7"/>
          <p:cNvSpPr/>
          <p:nvPr>
            <p:custDataLst>
              <p:tags r:id="rId14"/>
            </p:custDataLst>
          </p:nvPr>
        </p:nvSpPr>
        <p:spPr>
          <a:xfrm>
            <a:off x="548640" y="3581400"/>
            <a:ext cx="1828800" cy="640080"/>
          </a:xfrm>
          <a:prstGeom prst="rect">
            <a:avLst/>
          </a:prstGeom>
          <a:solidFill>
            <a:srgbClr val="F3F5F9"/>
          </a:solidFill>
          <a:ln w="12700">
            <a:solidFill>
              <a:srgbClr val="CFD5EA"/>
            </a:solidFill>
            <a:prstDash val="solid"/>
          </a:ln>
        </p:spPr>
      </p:sp>
      <p:sp>
        <p:nvSpPr>
          <p:cNvPr id="31" name="Text 28"/>
          <p:cNvSpPr/>
          <p:nvPr>
            <p:custDataLst>
              <p:tags r:id="rId15"/>
            </p:custDataLst>
          </p:nvPr>
        </p:nvSpPr>
        <p:spPr>
          <a:xfrm>
            <a:off x="658368" y="3581400"/>
            <a:ext cx="1609344" cy="640080"/>
          </a:xfrm>
          <a:prstGeom prst="rect">
            <a:avLst/>
          </a:prstGeom>
          <a:noFill/>
        </p:spPr>
        <p:txBody>
          <a:bodyPr wrap="square" lIns="0" tIns="0" rIns="0" bIns="0" rtlCol="0" anchor="ctr"/>
          <a:lstStyle/>
          <a:p>
            <a:pPr marL="0" indent="0">
              <a:lnSpc>
                <a:spcPct val="100000"/>
              </a:lnSpc>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包含 / 子图</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9"/>
          <p:cNvSpPr/>
          <p:nvPr>
            <p:custDataLst>
              <p:tags r:id="rId16"/>
            </p:custDataLst>
          </p:nvPr>
        </p:nvSpPr>
        <p:spPr>
          <a:xfrm>
            <a:off x="2377440" y="3581400"/>
            <a:ext cx="5486400" cy="640080"/>
          </a:xfrm>
          <a:prstGeom prst="rect">
            <a:avLst/>
          </a:prstGeom>
          <a:solidFill>
            <a:srgbClr val="F3F5F9"/>
          </a:solidFill>
          <a:ln w="12700">
            <a:solidFill>
              <a:srgbClr val="CFD5EA"/>
            </a:solidFill>
            <a:prstDash val="solid"/>
          </a:ln>
        </p:spPr>
      </p:sp>
      <p:sp>
        <p:nvSpPr>
          <p:cNvPr id="33" name="Text 30"/>
          <p:cNvSpPr/>
          <p:nvPr>
            <p:custDataLst>
              <p:tags r:id="rId17"/>
            </p:custDataLst>
          </p:nvPr>
        </p:nvSpPr>
        <p:spPr>
          <a:xfrm>
            <a:off x="2487168" y="3581400"/>
            <a:ext cx="5266944"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判断当前图是否包含参考结构，或仅完成参考结构的一部分</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Shape 31"/>
          <p:cNvSpPr/>
          <p:nvPr>
            <p:custDataLst>
              <p:tags r:id="rId18"/>
            </p:custDataLst>
          </p:nvPr>
        </p:nvSpPr>
        <p:spPr>
          <a:xfrm>
            <a:off x="7863840" y="3581400"/>
            <a:ext cx="3776472" cy="640080"/>
          </a:xfrm>
          <a:prstGeom prst="rect">
            <a:avLst/>
          </a:prstGeom>
          <a:solidFill>
            <a:srgbClr val="F3F5F9"/>
          </a:solidFill>
          <a:ln w="12700">
            <a:solidFill>
              <a:srgbClr val="CFD5EA"/>
            </a:solidFill>
            <a:prstDash val="solid"/>
          </a:ln>
        </p:spPr>
      </p:sp>
      <p:sp>
        <p:nvSpPr>
          <p:cNvPr id="35" name="Text 32"/>
          <p:cNvSpPr/>
          <p:nvPr>
            <p:custDataLst>
              <p:tags r:id="rId19"/>
            </p:custDataLst>
          </p:nvPr>
        </p:nvSpPr>
        <p:spPr>
          <a:xfrm>
            <a:off x="7973568" y="3581400"/>
            <a:ext cx="3557016"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区分“多余连接”与“未完成电路”</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Shape 33"/>
          <p:cNvSpPr/>
          <p:nvPr>
            <p:custDataLst>
              <p:tags r:id="rId20"/>
            </p:custDataLst>
          </p:nvPr>
        </p:nvSpPr>
        <p:spPr>
          <a:xfrm>
            <a:off x="548640" y="4221480"/>
            <a:ext cx="1828800" cy="640080"/>
          </a:xfrm>
          <a:prstGeom prst="rect">
            <a:avLst/>
          </a:prstGeom>
          <a:solidFill>
            <a:srgbClr val="FFFFFF"/>
          </a:solidFill>
          <a:ln w="12700">
            <a:solidFill>
              <a:srgbClr val="CFD5EA"/>
            </a:solidFill>
            <a:prstDash val="solid"/>
          </a:ln>
        </p:spPr>
      </p:sp>
      <p:sp>
        <p:nvSpPr>
          <p:cNvPr id="37" name="Text 34"/>
          <p:cNvSpPr/>
          <p:nvPr>
            <p:custDataLst>
              <p:tags r:id="rId21"/>
            </p:custDataLst>
          </p:nvPr>
        </p:nvSpPr>
        <p:spPr>
          <a:xfrm>
            <a:off x="658368" y="4221480"/>
            <a:ext cx="1609344" cy="640080"/>
          </a:xfrm>
          <a:prstGeom prst="rect">
            <a:avLst/>
          </a:prstGeom>
          <a:noFill/>
        </p:spPr>
        <p:txBody>
          <a:bodyPr wrap="square" lIns="0" tIns="0" rIns="0" bIns="0" rtlCol="0" anchor="ctr"/>
          <a:lstStyle/>
          <a:p>
            <a:pPr marL="0" indent="0">
              <a:lnSpc>
                <a:spcPct val="100000"/>
              </a:lnSpc>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差异报告</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Shape 35"/>
          <p:cNvSpPr/>
          <p:nvPr>
            <p:custDataLst>
              <p:tags r:id="rId22"/>
            </p:custDataLst>
          </p:nvPr>
        </p:nvSpPr>
        <p:spPr>
          <a:xfrm>
            <a:off x="2377440" y="4221480"/>
            <a:ext cx="5486400" cy="640080"/>
          </a:xfrm>
          <a:prstGeom prst="rect">
            <a:avLst/>
          </a:prstGeom>
          <a:solidFill>
            <a:srgbClr val="FFFFFF"/>
          </a:solidFill>
          <a:ln w="12700">
            <a:solidFill>
              <a:srgbClr val="CFD5EA"/>
            </a:solidFill>
            <a:prstDash val="solid"/>
          </a:ln>
        </p:spPr>
      </p:sp>
      <p:sp>
        <p:nvSpPr>
          <p:cNvPr id="39" name="Text 36"/>
          <p:cNvSpPr/>
          <p:nvPr>
            <p:custDataLst>
              <p:tags r:id="rId23"/>
            </p:custDataLst>
          </p:nvPr>
        </p:nvSpPr>
        <p:spPr>
          <a:xfrm>
            <a:off x="2487168" y="4221480"/>
            <a:ext cx="5266944"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生成 missing / extra / wrong / short / role mismatch 等 item</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Shape 37"/>
          <p:cNvSpPr/>
          <p:nvPr>
            <p:custDataLst>
              <p:tags r:id="rId24"/>
            </p:custDataLst>
          </p:nvPr>
        </p:nvSpPr>
        <p:spPr>
          <a:xfrm>
            <a:off x="7863840" y="4221480"/>
            <a:ext cx="3776472" cy="640080"/>
          </a:xfrm>
          <a:prstGeom prst="rect">
            <a:avLst/>
          </a:prstGeom>
          <a:solidFill>
            <a:srgbClr val="FFFFFF"/>
          </a:solidFill>
          <a:ln w="12700">
            <a:solidFill>
              <a:srgbClr val="CFD5EA"/>
            </a:solidFill>
            <a:prstDash val="solid"/>
          </a:ln>
        </p:spPr>
      </p:sp>
      <p:sp>
        <p:nvSpPr>
          <p:cNvPr id="41" name="Text 38"/>
          <p:cNvSpPr/>
          <p:nvPr>
            <p:custDataLst>
              <p:tags r:id="rId25"/>
            </p:custDataLst>
          </p:nvPr>
        </p:nvSpPr>
        <p:spPr>
          <a:xfrm>
            <a:off x="7973568" y="4221480"/>
            <a:ext cx="3557016" cy="640080"/>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形成前端与 Agent 共享的错误事实</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Shape 39"/>
          <p:cNvSpPr/>
          <p:nvPr/>
        </p:nvSpPr>
        <p:spPr>
          <a:xfrm>
            <a:off x="545465" y="5253355"/>
            <a:ext cx="11094720" cy="1148715"/>
          </a:xfrm>
          <a:prstGeom prst="rect">
            <a:avLst/>
          </a:prstGeom>
          <a:solidFill>
            <a:srgbClr val="E9EBF5"/>
          </a:solidFill>
          <a:ln w="12700">
            <a:solidFill>
              <a:srgbClr val="CFD5EA"/>
            </a:solidFill>
            <a:prstDash val="solid"/>
          </a:ln>
          <a:effectLst>
            <a:outerShdw blurRad="76200" dist="25400" dir="5400000" algn="bl" rotWithShape="0">
              <a:srgbClr val="9AAFD0">
                <a:alpha val="7000"/>
              </a:srgbClr>
            </a:outerShdw>
          </a:effectLst>
        </p:spPr>
      </p:sp>
      <p:sp>
        <p:nvSpPr>
          <p:cNvPr id="43" name="Shape 40"/>
          <p:cNvSpPr/>
          <p:nvPr/>
        </p:nvSpPr>
        <p:spPr>
          <a:xfrm>
            <a:off x="545465" y="5253355"/>
            <a:ext cx="76200" cy="1148715"/>
          </a:xfrm>
          <a:prstGeom prst="rect">
            <a:avLst/>
          </a:prstGeom>
          <a:solidFill>
            <a:srgbClr val="5B9BD5"/>
          </a:solidFill>
        </p:spPr>
      </p:sp>
      <p:sp>
        <p:nvSpPr>
          <p:cNvPr id="44" name="Text 41"/>
          <p:cNvSpPr/>
          <p:nvPr/>
        </p:nvSpPr>
        <p:spPr>
          <a:xfrm>
            <a:off x="865505" y="5273040"/>
            <a:ext cx="10454640" cy="1129030"/>
          </a:xfrm>
          <a:prstGeom prst="rect">
            <a:avLst/>
          </a:prstGeom>
          <a:noFill/>
        </p:spPr>
        <p:txBody>
          <a:bodyPr wrap="square" lIns="0" tIns="0" rIns="0" bIns="0" rtlCol="0" anchor="ctr"/>
          <a:lstStyle/>
          <a:p>
            <a:pPr marL="0" indent="0">
              <a:lnSpc>
                <a:spcPct val="125000"/>
              </a:lnSpc>
              <a:buNone/>
            </a:pPr>
            <a:r>
              <a:rPr 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分级降级 + 严格/宽松匹配：</a:t>
            </a:r>
            <a:endParaRPr 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25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电源/地与功能引脚（运放输入、三极管 BCE、二极管极性、电位器中心抽头）严格匹配；无极性两脚器件忽略顺序、允许合理额外导线——相比逐孔位规则显著降低误报，相比纯文本规则保持刚性约束。</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5" name="Text 42"/>
          <p:cNvSpPr/>
          <p:nvPr/>
        </p:nvSpPr>
        <p:spPr>
          <a:xfrm>
            <a:off x="548640" y="6492240"/>
            <a:ext cx="7315200" cy="274320"/>
          </a:xfrm>
          <a:prstGeom prst="rect">
            <a:avLst/>
          </a:prstGeom>
          <a:noFill/>
        </p:spPr>
        <p:txBody>
          <a:bodyPr wrap="square" lIns="0" tIns="0" rIns="0" bIns="0" rtlCol="0" anchor="ctr"/>
          <a:lstStyle/>
          <a:p>
            <a:pPr marL="0" indent="0" algn="l">
              <a:buNone/>
            </a:pPr>
            <a:r>
              <a:rPr lang="en-US" sz="8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LabGuardian · 2026 英特尔杯嵌入式系统设计邀请赛</a:t>
            </a:r>
            <a:endParaRPr lang="en-US" sz="850" dirty="0"/>
          </a:p>
        </p:txBody>
      </p:sp>
      <p:sp>
        <p:nvSpPr>
          <p:cNvPr id="46" name="Text 43"/>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第四章 · 电气重构与符号诊断引擎</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拓扑模板与三层语义匹配</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216025"/>
            <a:ext cx="10972800" cy="79248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同一教学拓扑常有多种合法实现，以“偏规范（partial specification）”表达每类规范拓扑，避免合法变体被误报</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2209800"/>
            <a:ext cx="3456305" cy="251904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nvSpPr>
        <p:spPr>
          <a:xfrm>
            <a:off x="548640" y="2209800"/>
            <a:ext cx="76200" cy="2519045"/>
          </a:xfrm>
          <a:prstGeom prst="rect">
            <a:avLst/>
          </a:prstGeom>
          <a:solidFill>
            <a:srgbClr val="14326C"/>
          </a:solidFill>
        </p:spPr>
      </p:sp>
      <p:sp>
        <p:nvSpPr>
          <p:cNvPr id="14" name="Shape 11"/>
          <p:cNvSpPr/>
          <p:nvPr/>
        </p:nvSpPr>
        <p:spPr>
          <a:xfrm>
            <a:off x="804672" y="2465832"/>
            <a:ext cx="2944368" cy="502920"/>
          </a:xfrm>
          <a:prstGeom prst="roundRect">
            <a:avLst>
              <a:gd name="adj" fmla="val 14545"/>
            </a:avLst>
          </a:prstGeom>
          <a:solidFill>
            <a:srgbClr val="14326C"/>
          </a:solidFill>
        </p:spPr>
      </p:sp>
      <p:sp>
        <p:nvSpPr>
          <p:cNvPr id="15" name="Text 12"/>
          <p:cNvSpPr/>
          <p:nvPr/>
        </p:nvSpPr>
        <p:spPr>
          <a:xfrm>
            <a:off x="804672" y="2465832"/>
            <a:ext cx="2944368" cy="502920"/>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required（必需）</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4"/>
          <p:cNvSpPr/>
          <p:nvPr/>
        </p:nvSpPr>
        <p:spPr>
          <a:xfrm>
            <a:off x="822960" y="3203448"/>
            <a:ext cx="2907792" cy="320040"/>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缺失则不匹配</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5"/>
          <p:cNvSpPr/>
          <p:nvPr/>
        </p:nvSpPr>
        <p:spPr>
          <a:xfrm>
            <a:off x="822960" y="3576828"/>
            <a:ext cx="2907792" cy="0"/>
          </a:xfrm>
          <a:prstGeom prst="line">
            <a:avLst/>
          </a:prstGeom>
          <a:noFill/>
          <a:ln w="12700">
            <a:solidFill>
              <a:srgbClr val="CFD5EA"/>
            </a:solidFill>
            <a:prstDash val="solid"/>
          </a:ln>
        </p:spPr>
      </p:sp>
      <p:sp>
        <p:nvSpPr>
          <p:cNvPr id="19" name="Text 16"/>
          <p:cNvSpPr/>
          <p:nvPr/>
        </p:nvSpPr>
        <p:spPr>
          <a:xfrm>
            <a:off x="822960" y="3649980"/>
            <a:ext cx="2907792" cy="256032"/>
          </a:xfrm>
          <a:prstGeom prst="rect">
            <a:avLst/>
          </a:prstGeom>
          <a:noFill/>
        </p:spPr>
        <p:txBody>
          <a:bodyPr wrap="square" lIns="0" tIns="0" rIns="0" bIns="0" rtlCol="0" anchor="ctr"/>
          <a:lstStyle/>
          <a:p>
            <a:pPr marL="0" indent="0">
              <a:buNone/>
            </a:pPr>
            <a:r>
              <a:rPr lang="en-US" sz="1200" kern="0" spc="1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示例</a:t>
            </a:r>
            <a:endParaRPr lang="en-US" sz="1200" kern="0" spc="1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Text 17"/>
          <p:cNvSpPr/>
          <p:nvPr/>
        </p:nvSpPr>
        <p:spPr>
          <a:xfrm>
            <a:off x="822960" y="3915156"/>
            <a:ext cx="2907792" cy="411480"/>
          </a:xfrm>
          <a:prstGeom prst="rect">
            <a:avLst/>
          </a:prstGeom>
          <a:noFill/>
        </p:spPr>
        <p:txBody>
          <a:bodyPr wrap="square" lIns="0" tIns="0" rIns="0" bIns="0" rtlCol="0" anchor="t"/>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共射的三极管、集电极电阻、输入/输出耦合电容</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Shape 18"/>
          <p:cNvSpPr/>
          <p:nvPr/>
        </p:nvSpPr>
        <p:spPr>
          <a:xfrm>
            <a:off x="4297680" y="2209800"/>
            <a:ext cx="3456305" cy="251904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2" name="Shape 19"/>
          <p:cNvSpPr/>
          <p:nvPr/>
        </p:nvSpPr>
        <p:spPr>
          <a:xfrm>
            <a:off x="4297680" y="2209800"/>
            <a:ext cx="76200" cy="2519045"/>
          </a:xfrm>
          <a:prstGeom prst="rect">
            <a:avLst/>
          </a:prstGeom>
          <a:solidFill>
            <a:srgbClr val="4472C4"/>
          </a:solidFill>
        </p:spPr>
      </p:sp>
      <p:sp>
        <p:nvSpPr>
          <p:cNvPr id="23" name="Shape 20"/>
          <p:cNvSpPr/>
          <p:nvPr/>
        </p:nvSpPr>
        <p:spPr>
          <a:xfrm>
            <a:off x="4553712" y="2465832"/>
            <a:ext cx="2944368" cy="502920"/>
          </a:xfrm>
          <a:prstGeom prst="roundRect">
            <a:avLst>
              <a:gd name="adj" fmla="val 14545"/>
            </a:avLst>
          </a:prstGeom>
          <a:solidFill>
            <a:srgbClr val="4472C4"/>
          </a:solidFill>
        </p:spPr>
      </p:sp>
      <p:sp>
        <p:nvSpPr>
          <p:cNvPr id="24" name="Text 21"/>
          <p:cNvSpPr/>
          <p:nvPr/>
        </p:nvSpPr>
        <p:spPr>
          <a:xfrm>
            <a:off x="4553712" y="2465832"/>
            <a:ext cx="2944368" cy="502920"/>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optional（可选）</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3"/>
          <p:cNvSpPr/>
          <p:nvPr/>
        </p:nvSpPr>
        <p:spPr>
          <a:xfrm>
            <a:off x="4572000" y="3203448"/>
            <a:ext cx="2907792" cy="320040"/>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可缺，不扣分</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4"/>
          <p:cNvSpPr/>
          <p:nvPr/>
        </p:nvSpPr>
        <p:spPr>
          <a:xfrm>
            <a:off x="4572000" y="3576828"/>
            <a:ext cx="2907792" cy="0"/>
          </a:xfrm>
          <a:prstGeom prst="line">
            <a:avLst/>
          </a:prstGeom>
          <a:noFill/>
          <a:ln w="12700">
            <a:solidFill>
              <a:srgbClr val="CFD5EA"/>
            </a:solidFill>
            <a:prstDash val="solid"/>
          </a:ln>
        </p:spPr>
      </p:sp>
      <p:sp>
        <p:nvSpPr>
          <p:cNvPr id="28" name="Text 25"/>
          <p:cNvSpPr/>
          <p:nvPr/>
        </p:nvSpPr>
        <p:spPr>
          <a:xfrm>
            <a:off x="4572000" y="3649980"/>
            <a:ext cx="2907792" cy="256032"/>
          </a:xfrm>
          <a:prstGeom prst="rect">
            <a:avLst/>
          </a:prstGeom>
          <a:noFill/>
        </p:spPr>
        <p:txBody>
          <a:bodyPr wrap="square" lIns="0" tIns="0" rIns="0" bIns="0" rtlCol="0" anchor="ctr"/>
          <a:lstStyle/>
          <a:p>
            <a:pPr marL="0" indent="0">
              <a:buNone/>
            </a:pPr>
            <a:r>
              <a:rPr lang="en-US" sz="1200" kern="0" spc="1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示例</a:t>
            </a:r>
            <a:endParaRPr lang="en-US" sz="1200" kern="0" spc="1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6"/>
          <p:cNvSpPr/>
          <p:nvPr/>
        </p:nvSpPr>
        <p:spPr>
          <a:xfrm>
            <a:off x="4572000" y="3915156"/>
            <a:ext cx="2907792" cy="411480"/>
          </a:xfrm>
          <a:prstGeom prst="rect">
            <a:avLst/>
          </a:prstGeom>
          <a:noFill/>
        </p:spPr>
        <p:txBody>
          <a:bodyPr wrap="square" lIns="0" tIns="0" rIns="0" bIns="0" rtlCol="0" anchor="t"/>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共射发射极旁路电容 CE、偏置补偿电阻 Rp</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7"/>
          <p:cNvSpPr/>
          <p:nvPr/>
        </p:nvSpPr>
        <p:spPr>
          <a:xfrm>
            <a:off x="8046720" y="2209800"/>
            <a:ext cx="3456305" cy="251904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1" name="Shape 28"/>
          <p:cNvSpPr/>
          <p:nvPr/>
        </p:nvSpPr>
        <p:spPr>
          <a:xfrm>
            <a:off x="8046720" y="2209800"/>
            <a:ext cx="76200" cy="2519045"/>
          </a:xfrm>
          <a:prstGeom prst="rect">
            <a:avLst/>
          </a:prstGeom>
          <a:solidFill>
            <a:srgbClr val="C00000"/>
          </a:solidFill>
        </p:spPr>
      </p:sp>
      <p:sp>
        <p:nvSpPr>
          <p:cNvPr id="32" name="Shape 29"/>
          <p:cNvSpPr/>
          <p:nvPr/>
        </p:nvSpPr>
        <p:spPr>
          <a:xfrm>
            <a:off x="8302752" y="2465832"/>
            <a:ext cx="2944368" cy="502920"/>
          </a:xfrm>
          <a:prstGeom prst="roundRect">
            <a:avLst>
              <a:gd name="adj" fmla="val 14545"/>
            </a:avLst>
          </a:prstGeom>
          <a:solidFill>
            <a:srgbClr val="C00000"/>
          </a:solidFill>
        </p:spPr>
      </p:sp>
      <p:sp>
        <p:nvSpPr>
          <p:cNvPr id="33" name="Text 30"/>
          <p:cNvSpPr/>
          <p:nvPr/>
        </p:nvSpPr>
        <p:spPr>
          <a:xfrm>
            <a:off x="8302752" y="2465832"/>
            <a:ext cx="2944368" cy="502920"/>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forbidden（禁止）</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Text 32"/>
          <p:cNvSpPr/>
          <p:nvPr/>
        </p:nvSpPr>
        <p:spPr>
          <a:xfrm>
            <a:off x="8321040" y="3203448"/>
            <a:ext cx="2907792" cy="320040"/>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出现则降级 / 否决</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Shape 33"/>
          <p:cNvSpPr/>
          <p:nvPr/>
        </p:nvSpPr>
        <p:spPr>
          <a:xfrm>
            <a:off x="8321040" y="3576828"/>
            <a:ext cx="2907792" cy="0"/>
          </a:xfrm>
          <a:prstGeom prst="line">
            <a:avLst/>
          </a:prstGeom>
          <a:noFill/>
          <a:ln w="12700">
            <a:solidFill>
              <a:srgbClr val="CFD5EA"/>
            </a:solidFill>
            <a:prstDash val="solid"/>
          </a:ln>
        </p:spPr>
      </p:sp>
      <p:sp>
        <p:nvSpPr>
          <p:cNvPr id="37" name="Text 34"/>
          <p:cNvSpPr/>
          <p:nvPr/>
        </p:nvSpPr>
        <p:spPr>
          <a:xfrm>
            <a:off x="8321040" y="3649980"/>
            <a:ext cx="2907792" cy="256032"/>
          </a:xfrm>
          <a:prstGeom prst="rect">
            <a:avLst/>
          </a:prstGeom>
          <a:noFill/>
        </p:spPr>
        <p:txBody>
          <a:bodyPr wrap="square" lIns="0" tIns="0" rIns="0" bIns="0" rtlCol="0" anchor="ctr"/>
          <a:lstStyle/>
          <a:p>
            <a:pPr marL="0" indent="0">
              <a:buNone/>
            </a:pPr>
            <a:r>
              <a:rPr lang="en-US" sz="1200" kern="0" spc="1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示例</a:t>
            </a:r>
            <a:endParaRPr lang="en-US" sz="1200" kern="0" spc="1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Text 35"/>
          <p:cNvSpPr/>
          <p:nvPr/>
        </p:nvSpPr>
        <p:spPr>
          <a:xfrm>
            <a:off x="8321040" y="3915156"/>
            <a:ext cx="2907792" cy="411480"/>
          </a:xfrm>
          <a:prstGeom prst="rect">
            <a:avLst/>
          </a:prstGeom>
          <a:noFill/>
        </p:spPr>
        <p:txBody>
          <a:bodyPr wrap="square" lIns="0" tIns="0" rIns="0" bIns="0" rtlCol="0" anchor="t"/>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反相放大器中出现反馈电容（实为积分器）</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Shape 36"/>
          <p:cNvSpPr/>
          <p:nvPr/>
        </p:nvSpPr>
        <p:spPr>
          <a:xfrm>
            <a:off x="548640" y="5005070"/>
            <a:ext cx="11094720" cy="1311275"/>
          </a:xfrm>
          <a:prstGeom prst="rect">
            <a:avLst/>
          </a:prstGeom>
          <a:solidFill>
            <a:srgbClr val="E9EBF5"/>
          </a:solidFill>
          <a:ln w="12700">
            <a:solidFill>
              <a:srgbClr val="CFD5EA"/>
            </a:solidFill>
            <a:prstDash val="solid"/>
          </a:ln>
          <a:effectLst>
            <a:outerShdw blurRad="76200" dist="25400" dir="5400000" algn="bl" rotWithShape="0">
              <a:srgbClr val="9AAFD0">
                <a:alpha val="7000"/>
              </a:srgbClr>
            </a:outerShdw>
          </a:effectLst>
        </p:spPr>
      </p:sp>
      <p:sp>
        <p:nvSpPr>
          <p:cNvPr id="40" name="Shape 37"/>
          <p:cNvSpPr/>
          <p:nvPr/>
        </p:nvSpPr>
        <p:spPr>
          <a:xfrm>
            <a:off x="548640" y="5005070"/>
            <a:ext cx="76200" cy="1311275"/>
          </a:xfrm>
          <a:prstGeom prst="rect">
            <a:avLst/>
          </a:prstGeom>
          <a:solidFill>
            <a:srgbClr val="5B9BD5"/>
          </a:solidFill>
        </p:spPr>
      </p:sp>
      <p:sp>
        <p:nvSpPr>
          <p:cNvPr id="41" name="Text 38"/>
          <p:cNvSpPr/>
          <p:nvPr/>
        </p:nvSpPr>
        <p:spPr>
          <a:xfrm>
            <a:off x="868680" y="4705985"/>
            <a:ext cx="10454640" cy="1605915"/>
          </a:xfrm>
          <a:prstGeom prst="rect">
            <a:avLst/>
          </a:prstGeom>
          <a:noFill/>
        </p:spPr>
        <p:txBody>
          <a:bodyPr wrap="square" lIns="0" tIns="0" rIns="0" bIns="0" rtlCol="0" anchor="ctr"/>
          <a:lstStyle/>
          <a:p>
            <a:pPr marL="0" indent="0">
              <a:lnSpc>
                <a:spcPct val="12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以子图同构（而非完整同构）搜索模板在学生电路图中的嵌入，按必需边占比计分、forbidden 命中扣分；该模板层与图比对并行、对管线只读，把“纯规则需不断打补丁”的边界情形系统化地容纳进来。</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3" name="Text 40"/>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第四章 · 电气重构与符号诊断引擎</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诊断报告与错误码</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285875"/>
            <a:ext cx="6400800" cy="582295"/>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稳定的确定性错误码词表（</a:t>
            </a:r>
            <a:r>
              <a:rPr lang="zh-CN" alt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部分</a:t>
            </a: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2102612"/>
            <a:ext cx="6949440" cy="548640"/>
          </a:xfrm>
          <a:prstGeom prst="rect">
            <a:avLst/>
          </a:prstGeom>
          <a:solidFill>
            <a:srgbClr val="F3F5F9"/>
          </a:solidFill>
          <a:ln w="12700">
            <a:solidFill>
              <a:srgbClr val="CFD5EA"/>
            </a:solidFill>
            <a:prstDash val="solid"/>
          </a:ln>
        </p:spPr>
      </p:sp>
      <p:sp>
        <p:nvSpPr>
          <p:cNvPr id="13" name="Text 10"/>
          <p:cNvSpPr/>
          <p:nvPr/>
        </p:nvSpPr>
        <p:spPr>
          <a:xfrm>
            <a:off x="658368" y="2102612"/>
            <a:ext cx="3017520" cy="548640"/>
          </a:xfrm>
          <a:prstGeom prst="rect">
            <a:avLst/>
          </a:prstGeom>
          <a:noFill/>
        </p:spPr>
        <p:txBody>
          <a:bodyPr wrap="square" lIns="0" tIns="0" rIns="0" bIns="0" rtlCol="0" anchor="ctr"/>
          <a:lstStyle/>
          <a:p>
            <a:pPr marL="0" indent="0">
              <a:buNone/>
            </a:pPr>
            <a:r>
              <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rPr>
              <a:t>COMPONENT_MISSING</a:t>
            </a:r>
            <a:endPar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14" name="Shape 11"/>
          <p:cNvSpPr/>
          <p:nvPr/>
        </p:nvSpPr>
        <p:spPr>
          <a:xfrm>
            <a:off x="3576320" y="2221484"/>
            <a:ext cx="777240" cy="310896"/>
          </a:xfrm>
          <a:prstGeom prst="roundRect">
            <a:avLst>
              <a:gd name="adj" fmla="val 50000"/>
            </a:avLst>
          </a:prstGeom>
          <a:solidFill>
            <a:srgbClr val="14326C"/>
          </a:solidFill>
        </p:spPr>
      </p:sp>
      <p:sp>
        <p:nvSpPr>
          <p:cNvPr id="15" name="Text 12"/>
          <p:cNvSpPr/>
          <p:nvPr/>
        </p:nvSpPr>
        <p:spPr>
          <a:xfrm>
            <a:off x="3576320" y="2221484"/>
            <a:ext cx="777240" cy="310896"/>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缺件</a:t>
            </a:r>
            <a:endPar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3"/>
          <p:cNvSpPr/>
          <p:nvPr/>
        </p:nvSpPr>
        <p:spPr>
          <a:xfrm>
            <a:off x="4617720" y="2102612"/>
            <a:ext cx="2834640" cy="548640"/>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参考所需元件在当前电路中缺失</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4"/>
          <p:cNvSpPr/>
          <p:nvPr/>
        </p:nvSpPr>
        <p:spPr>
          <a:xfrm>
            <a:off x="548640" y="2701290"/>
            <a:ext cx="6949440" cy="548640"/>
          </a:xfrm>
          <a:prstGeom prst="rect">
            <a:avLst/>
          </a:prstGeom>
          <a:solidFill>
            <a:srgbClr val="FFFFFF"/>
          </a:solidFill>
          <a:ln w="12700">
            <a:solidFill>
              <a:srgbClr val="CFD5EA"/>
            </a:solidFill>
            <a:prstDash val="solid"/>
          </a:ln>
        </p:spPr>
      </p:sp>
      <p:sp>
        <p:nvSpPr>
          <p:cNvPr id="18" name="Text 15"/>
          <p:cNvSpPr/>
          <p:nvPr/>
        </p:nvSpPr>
        <p:spPr>
          <a:xfrm>
            <a:off x="658368" y="2701290"/>
            <a:ext cx="3017520" cy="548640"/>
          </a:xfrm>
          <a:prstGeom prst="rect">
            <a:avLst/>
          </a:prstGeom>
          <a:noFill/>
        </p:spPr>
        <p:txBody>
          <a:bodyPr wrap="square" lIns="0" tIns="0" rIns="0" bIns="0" rtlCol="0" anchor="ctr"/>
          <a:lstStyle/>
          <a:p>
            <a:pPr marL="0" indent="0">
              <a:buNone/>
            </a:pPr>
            <a:r>
              <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rPr>
              <a:t>WRONG_CONNECTION</a:t>
            </a:r>
            <a:endPar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19" name="Shape 16"/>
          <p:cNvSpPr/>
          <p:nvPr/>
        </p:nvSpPr>
        <p:spPr>
          <a:xfrm>
            <a:off x="3576320" y="2820162"/>
            <a:ext cx="777240" cy="310896"/>
          </a:xfrm>
          <a:prstGeom prst="roundRect">
            <a:avLst>
              <a:gd name="adj" fmla="val 50000"/>
            </a:avLst>
          </a:prstGeom>
          <a:solidFill>
            <a:srgbClr val="14326C"/>
          </a:solidFill>
        </p:spPr>
      </p:sp>
      <p:sp>
        <p:nvSpPr>
          <p:cNvPr id="20" name="Text 17"/>
          <p:cNvSpPr/>
          <p:nvPr/>
        </p:nvSpPr>
        <p:spPr>
          <a:xfrm>
            <a:off x="3576320" y="2820162"/>
            <a:ext cx="777240" cy="310896"/>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接线</a:t>
            </a:r>
            <a:endPar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8"/>
          <p:cNvSpPr/>
          <p:nvPr/>
        </p:nvSpPr>
        <p:spPr>
          <a:xfrm>
            <a:off x="4617720" y="2701290"/>
            <a:ext cx="2834640" cy="548640"/>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引脚连接到与参考不一致的网络</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Shape 19"/>
          <p:cNvSpPr/>
          <p:nvPr/>
        </p:nvSpPr>
        <p:spPr>
          <a:xfrm>
            <a:off x="548640" y="3299968"/>
            <a:ext cx="6949440" cy="548640"/>
          </a:xfrm>
          <a:prstGeom prst="rect">
            <a:avLst/>
          </a:prstGeom>
          <a:solidFill>
            <a:srgbClr val="F3F5F9"/>
          </a:solidFill>
          <a:ln w="12700">
            <a:solidFill>
              <a:srgbClr val="CFD5EA"/>
            </a:solidFill>
            <a:prstDash val="solid"/>
          </a:ln>
        </p:spPr>
      </p:sp>
      <p:sp>
        <p:nvSpPr>
          <p:cNvPr id="23" name="Text 20"/>
          <p:cNvSpPr/>
          <p:nvPr/>
        </p:nvSpPr>
        <p:spPr>
          <a:xfrm>
            <a:off x="658368" y="3299968"/>
            <a:ext cx="3017520" cy="548640"/>
          </a:xfrm>
          <a:prstGeom prst="rect">
            <a:avLst/>
          </a:prstGeom>
          <a:noFill/>
        </p:spPr>
        <p:txBody>
          <a:bodyPr wrap="square" lIns="0" tIns="0" rIns="0" bIns="0" rtlCol="0" anchor="ctr"/>
          <a:lstStyle/>
          <a:p>
            <a:pPr marL="0" indent="0">
              <a:buNone/>
            </a:pPr>
            <a:r>
              <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rPr>
              <a:t>SHORT_CIRCUIT</a:t>
            </a:r>
            <a:endPar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24" name="Shape 21"/>
          <p:cNvSpPr/>
          <p:nvPr/>
        </p:nvSpPr>
        <p:spPr>
          <a:xfrm>
            <a:off x="3576320" y="3418840"/>
            <a:ext cx="777240" cy="310896"/>
          </a:xfrm>
          <a:prstGeom prst="roundRect">
            <a:avLst>
              <a:gd name="adj" fmla="val 50000"/>
            </a:avLst>
          </a:prstGeom>
          <a:solidFill>
            <a:srgbClr val="14326C"/>
          </a:solidFill>
        </p:spPr>
      </p:sp>
      <p:sp>
        <p:nvSpPr>
          <p:cNvPr id="25" name="Text 22"/>
          <p:cNvSpPr/>
          <p:nvPr/>
        </p:nvSpPr>
        <p:spPr>
          <a:xfrm>
            <a:off x="3576320" y="3418840"/>
            <a:ext cx="777240" cy="310896"/>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短路</a:t>
            </a:r>
            <a:endPar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3"/>
          <p:cNvSpPr/>
          <p:nvPr/>
        </p:nvSpPr>
        <p:spPr>
          <a:xfrm>
            <a:off x="4617720" y="3299968"/>
            <a:ext cx="2834640" cy="548640"/>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本应分离的关键网络被合并</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4"/>
          <p:cNvSpPr/>
          <p:nvPr/>
        </p:nvSpPr>
        <p:spPr>
          <a:xfrm>
            <a:off x="548640" y="3898646"/>
            <a:ext cx="6949440" cy="548640"/>
          </a:xfrm>
          <a:prstGeom prst="rect">
            <a:avLst/>
          </a:prstGeom>
          <a:solidFill>
            <a:srgbClr val="FFFFFF"/>
          </a:solidFill>
          <a:ln w="12700">
            <a:solidFill>
              <a:srgbClr val="CFD5EA"/>
            </a:solidFill>
            <a:prstDash val="solid"/>
          </a:ln>
        </p:spPr>
      </p:sp>
      <p:sp>
        <p:nvSpPr>
          <p:cNvPr id="28" name="Text 25"/>
          <p:cNvSpPr/>
          <p:nvPr/>
        </p:nvSpPr>
        <p:spPr>
          <a:xfrm>
            <a:off x="658368" y="3898646"/>
            <a:ext cx="3017520" cy="548640"/>
          </a:xfrm>
          <a:prstGeom prst="rect">
            <a:avLst/>
          </a:prstGeom>
          <a:noFill/>
        </p:spPr>
        <p:txBody>
          <a:bodyPr wrap="square" lIns="0" tIns="0" rIns="0" bIns="0" rtlCol="0" anchor="ctr"/>
          <a:lstStyle/>
          <a:p>
            <a:pPr marL="0" indent="0">
              <a:buNone/>
            </a:pPr>
            <a:r>
              <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rPr>
              <a:t>OPEN_CIRCUIT</a:t>
            </a:r>
            <a:endPar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29" name="Shape 26"/>
          <p:cNvSpPr/>
          <p:nvPr/>
        </p:nvSpPr>
        <p:spPr>
          <a:xfrm>
            <a:off x="3576320" y="4017518"/>
            <a:ext cx="777240" cy="310896"/>
          </a:xfrm>
          <a:prstGeom prst="roundRect">
            <a:avLst>
              <a:gd name="adj" fmla="val 50000"/>
            </a:avLst>
          </a:prstGeom>
          <a:solidFill>
            <a:srgbClr val="14326C"/>
          </a:solidFill>
        </p:spPr>
      </p:sp>
      <p:sp>
        <p:nvSpPr>
          <p:cNvPr id="30" name="Text 27"/>
          <p:cNvSpPr/>
          <p:nvPr/>
        </p:nvSpPr>
        <p:spPr>
          <a:xfrm>
            <a:off x="3576320" y="4017518"/>
            <a:ext cx="777240" cy="310896"/>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开路</a:t>
            </a:r>
            <a:endPar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8"/>
          <p:cNvSpPr/>
          <p:nvPr/>
        </p:nvSpPr>
        <p:spPr>
          <a:xfrm>
            <a:off x="4617720" y="3898646"/>
            <a:ext cx="2834640" cy="548640"/>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本应共网的引脚被分到不同网络</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9"/>
          <p:cNvSpPr/>
          <p:nvPr/>
        </p:nvSpPr>
        <p:spPr>
          <a:xfrm>
            <a:off x="548640" y="4497324"/>
            <a:ext cx="6949440" cy="548640"/>
          </a:xfrm>
          <a:prstGeom prst="rect">
            <a:avLst/>
          </a:prstGeom>
          <a:solidFill>
            <a:srgbClr val="F3F5F9"/>
          </a:solidFill>
          <a:ln w="12700">
            <a:solidFill>
              <a:srgbClr val="CFD5EA"/>
            </a:solidFill>
            <a:prstDash val="solid"/>
          </a:ln>
        </p:spPr>
      </p:sp>
      <p:sp>
        <p:nvSpPr>
          <p:cNvPr id="33" name="Text 30"/>
          <p:cNvSpPr/>
          <p:nvPr/>
        </p:nvSpPr>
        <p:spPr>
          <a:xfrm>
            <a:off x="658368" y="4497324"/>
            <a:ext cx="3017520" cy="548640"/>
          </a:xfrm>
          <a:prstGeom prst="rect">
            <a:avLst/>
          </a:prstGeom>
          <a:noFill/>
        </p:spPr>
        <p:txBody>
          <a:bodyPr wrap="square" lIns="0" tIns="0" rIns="0" bIns="0" rtlCol="0" anchor="ctr"/>
          <a:lstStyle/>
          <a:p>
            <a:pPr marL="0" indent="0">
              <a:buNone/>
            </a:pPr>
            <a:r>
              <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rPr>
              <a:t>OUTPUT_NODE_MISMATCH</a:t>
            </a:r>
            <a:endPar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34" name="Shape 31"/>
          <p:cNvSpPr/>
          <p:nvPr/>
        </p:nvSpPr>
        <p:spPr>
          <a:xfrm>
            <a:off x="3576320" y="4616196"/>
            <a:ext cx="777240" cy="310896"/>
          </a:xfrm>
          <a:prstGeom prst="roundRect">
            <a:avLst>
              <a:gd name="adj" fmla="val 50000"/>
            </a:avLst>
          </a:prstGeom>
          <a:solidFill>
            <a:srgbClr val="14326C"/>
          </a:solidFill>
        </p:spPr>
      </p:sp>
      <p:sp>
        <p:nvSpPr>
          <p:cNvPr id="35" name="Text 32"/>
          <p:cNvSpPr/>
          <p:nvPr/>
        </p:nvSpPr>
        <p:spPr>
          <a:xfrm>
            <a:off x="3576320" y="4616196"/>
            <a:ext cx="777240" cy="310896"/>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节点</a:t>
            </a:r>
            <a:endPar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3"/>
          <p:cNvSpPr/>
          <p:nvPr/>
        </p:nvSpPr>
        <p:spPr>
          <a:xfrm>
            <a:off x="4617720" y="4497324"/>
            <a:ext cx="2834640" cy="548640"/>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输出节点角色与参考不符</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Shape 34"/>
          <p:cNvSpPr/>
          <p:nvPr/>
        </p:nvSpPr>
        <p:spPr>
          <a:xfrm>
            <a:off x="548640" y="5102352"/>
            <a:ext cx="6949440" cy="548640"/>
          </a:xfrm>
          <a:prstGeom prst="rect">
            <a:avLst/>
          </a:prstGeom>
          <a:solidFill>
            <a:srgbClr val="FFFFFF"/>
          </a:solidFill>
          <a:ln w="12700">
            <a:solidFill>
              <a:srgbClr val="CFD5EA"/>
            </a:solidFill>
            <a:prstDash val="solid"/>
          </a:ln>
        </p:spPr>
      </p:sp>
      <p:sp>
        <p:nvSpPr>
          <p:cNvPr id="38" name="Text 35"/>
          <p:cNvSpPr/>
          <p:nvPr/>
        </p:nvSpPr>
        <p:spPr>
          <a:xfrm>
            <a:off x="658368" y="5102352"/>
            <a:ext cx="3017520" cy="548640"/>
          </a:xfrm>
          <a:prstGeom prst="rect">
            <a:avLst/>
          </a:prstGeom>
          <a:noFill/>
        </p:spPr>
        <p:txBody>
          <a:bodyPr wrap="square" lIns="0" tIns="0" rIns="0" bIns="0" rtlCol="0" anchor="ctr"/>
          <a:lstStyle/>
          <a:p>
            <a:pPr marL="0" indent="0">
              <a:buNone/>
            </a:pPr>
            <a:r>
              <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rPr>
              <a:t>INCOMPLETE_CIRCUIT</a:t>
            </a:r>
            <a:endParaRPr lang="en-US" sz="1400" b="1" dirty="0">
              <a:solidFill>
                <a:srgbClr val="4472C4"/>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39" name="Shape 36"/>
          <p:cNvSpPr/>
          <p:nvPr/>
        </p:nvSpPr>
        <p:spPr>
          <a:xfrm>
            <a:off x="3576320" y="5221224"/>
            <a:ext cx="777240" cy="310896"/>
          </a:xfrm>
          <a:prstGeom prst="roundRect">
            <a:avLst>
              <a:gd name="adj" fmla="val 50000"/>
            </a:avLst>
          </a:prstGeom>
          <a:solidFill>
            <a:srgbClr val="14326C"/>
          </a:solidFill>
        </p:spPr>
      </p:sp>
      <p:sp>
        <p:nvSpPr>
          <p:cNvPr id="40" name="Text 37"/>
          <p:cNvSpPr/>
          <p:nvPr/>
        </p:nvSpPr>
        <p:spPr>
          <a:xfrm>
            <a:off x="3576320" y="5221224"/>
            <a:ext cx="777240" cy="310896"/>
          </a:xfrm>
          <a:prstGeom prst="rect">
            <a:avLst/>
          </a:prstGeom>
          <a:noFill/>
        </p:spPr>
        <p:txBody>
          <a:bodyPr wrap="square" lIns="0" tIns="0" rIns="0" bIns="0" rtlCol="0" anchor="ct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未完成</a:t>
            </a:r>
            <a:endPar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8"/>
          <p:cNvSpPr/>
          <p:nvPr/>
        </p:nvSpPr>
        <p:spPr>
          <a:xfrm>
            <a:off x="4617720" y="5102352"/>
            <a:ext cx="2834640" cy="548640"/>
          </a:xfrm>
          <a:prstGeom prst="rect">
            <a:avLst/>
          </a:prstGeom>
          <a:noFill/>
        </p:spPr>
        <p:txBody>
          <a:bodyPr wrap="square" lIns="0" tIns="0" rIns="0" bIns="0" rtlCol="0" anchor="ctr"/>
          <a:lstStyle/>
          <a:p>
            <a:pPr marL="0" indent="0">
              <a:lnSpc>
                <a:spcPct val="100000"/>
              </a:lnSpc>
              <a:buNone/>
            </a:pPr>
            <a:r>
              <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当前电路仅匹配参考的一部分</a:t>
            </a:r>
            <a:endParaRPr lang="en-US" sz="14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Shape 39"/>
          <p:cNvSpPr/>
          <p:nvPr/>
        </p:nvSpPr>
        <p:spPr>
          <a:xfrm>
            <a:off x="7726680" y="1810385"/>
            <a:ext cx="3931920" cy="4690745"/>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43" name="Shape 40"/>
          <p:cNvSpPr/>
          <p:nvPr/>
        </p:nvSpPr>
        <p:spPr>
          <a:xfrm>
            <a:off x="8001000" y="2048256"/>
            <a:ext cx="512064" cy="512064"/>
          </a:xfrm>
          <a:prstGeom prst="roundRect">
            <a:avLst>
              <a:gd name="adj" fmla="val 22000"/>
            </a:avLst>
          </a:prstGeom>
          <a:solidFill>
            <a:srgbClr val="5B9BD5"/>
          </a:solidFill>
        </p:spPr>
      </p:sp>
      <p:pic>
        <p:nvPicPr>
          <p:cNvPr id="44" name="Image 1" descr="preencoded.png"/>
          <p:cNvPicPr>
            <a:picLocks noChangeAspect="1"/>
          </p:cNvPicPr>
          <p:nvPr/>
        </p:nvPicPr>
        <p:blipFill>
          <a:blip r:embed="rId2"/>
          <a:stretch>
            <a:fillRect/>
          </a:stretch>
        </p:blipFill>
        <p:spPr>
          <a:xfrm>
            <a:off x="8134137" y="2181393"/>
            <a:ext cx="245791" cy="245791"/>
          </a:xfrm>
          <a:prstGeom prst="rect">
            <a:avLst/>
          </a:prstGeom>
        </p:spPr>
      </p:pic>
      <p:sp>
        <p:nvSpPr>
          <p:cNvPr id="45" name="Text 41"/>
          <p:cNvSpPr/>
          <p:nvPr/>
        </p:nvSpPr>
        <p:spPr>
          <a:xfrm>
            <a:off x="8641080" y="2029968"/>
            <a:ext cx="2834640" cy="512064"/>
          </a:xfrm>
          <a:prstGeom prst="rect">
            <a:avLst/>
          </a:prstGeom>
          <a:noFill/>
        </p:spPr>
        <p:txBody>
          <a:bodyPr wrap="square" lIns="0" tIns="0" rIns="0" bIns="0" rtlCol="0" anchor="ctr"/>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高亮协议</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6" name="Text 42"/>
          <p:cNvSpPr/>
          <p:nvPr/>
        </p:nvSpPr>
        <p:spPr>
          <a:xfrm>
            <a:off x="8001000" y="2651760"/>
            <a:ext cx="3383280" cy="457200"/>
          </a:xfrm>
          <a:prstGeom prst="rect">
            <a:avLst/>
          </a:prstGeom>
          <a:noFill/>
        </p:spPr>
        <p:txBody>
          <a:bodyPr wrap="square" lIns="0" tIns="0" rIns="0" bIns="0" rtlCol="0" anchor="t"/>
          <a:lstStyle/>
          <a:p>
            <a:pPr marL="0" indent="0">
              <a:lnSpc>
                <a:spcPct val="105000"/>
              </a:lnSpc>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将每条诊断项的证据引用转换为可直接绘制的高亮目标：</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nvGrpSpPr>
          <p:cNvPr id="57" name="组合 56"/>
          <p:cNvGrpSpPr/>
          <p:nvPr/>
        </p:nvGrpSpPr>
        <p:grpSpPr>
          <a:xfrm>
            <a:off x="8019415" y="3429000"/>
            <a:ext cx="3401695" cy="365760"/>
            <a:chOff x="12629" y="4982"/>
            <a:chExt cx="5357" cy="576"/>
          </a:xfrm>
        </p:grpSpPr>
        <p:sp>
          <p:nvSpPr>
            <p:cNvPr id="47" name="Shape 43"/>
            <p:cNvSpPr/>
            <p:nvPr/>
          </p:nvSpPr>
          <p:spPr>
            <a:xfrm>
              <a:off x="12629" y="5141"/>
              <a:ext cx="144" cy="144"/>
            </a:xfrm>
            <a:prstGeom prst="ellipse">
              <a:avLst/>
            </a:prstGeom>
            <a:solidFill>
              <a:srgbClr val="5B9BD5"/>
            </a:solidFill>
          </p:spPr>
        </p:sp>
        <p:sp>
          <p:nvSpPr>
            <p:cNvPr id="48" name="Text 44"/>
            <p:cNvSpPr/>
            <p:nvPr/>
          </p:nvSpPr>
          <p:spPr>
            <a:xfrm>
              <a:off x="12946" y="4982"/>
              <a:ext cx="5040" cy="576"/>
            </a:xfrm>
            <a:prstGeom prst="rect">
              <a:avLst/>
            </a:prstGeom>
            <a:noFill/>
          </p:spPr>
          <p:txBody>
            <a:bodyPr wrap="square" lIns="0" tIns="0" rIns="0" bIns="0" rtlCol="0" anchor="t"/>
            <a:lstStyle/>
            <a:p>
              <a:pPr marL="0" indent="0">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元件框引用 → 渲染为元件框</a:t>
              </a:r>
              <a:endPar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58" name="组合 57"/>
          <p:cNvGrpSpPr/>
          <p:nvPr/>
        </p:nvGrpSpPr>
        <p:grpSpPr>
          <a:xfrm>
            <a:off x="8019415" y="3940810"/>
            <a:ext cx="3401695" cy="365760"/>
            <a:chOff x="12629" y="5645"/>
            <a:chExt cx="5357" cy="576"/>
          </a:xfrm>
        </p:grpSpPr>
        <p:sp>
          <p:nvSpPr>
            <p:cNvPr id="49" name="Shape 45"/>
            <p:cNvSpPr/>
            <p:nvPr/>
          </p:nvSpPr>
          <p:spPr>
            <a:xfrm>
              <a:off x="12629" y="5803"/>
              <a:ext cx="144" cy="144"/>
            </a:xfrm>
            <a:prstGeom prst="ellipse">
              <a:avLst/>
            </a:prstGeom>
            <a:solidFill>
              <a:srgbClr val="5B9BD5"/>
            </a:solidFill>
          </p:spPr>
        </p:sp>
        <p:sp>
          <p:nvSpPr>
            <p:cNvPr id="50" name="Text 46"/>
            <p:cNvSpPr/>
            <p:nvPr/>
          </p:nvSpPr>
          <p:spPr>
            <a:xfrm>
              <a:off x="12946" y="5645"/>
              <a:ext cx="5040" cy="576"/>
            </a:xfrm>
            <a:prstGeom prst="rect">
              <a:avLst/>
            </a:prstGeom>
            <a:noFill/>
          </p:spPr>
          <p:txBody>
            <a:bodyPr wrap="square" lIns="0" tIns="0" rIns="0" bIns="0" rtlCol="0" anchor="t"/>
            <a:lstStyle/>
            <a:p>
              <a:pPr marL="0" indent="0">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引脚关键点引用 → 渲染为引脚点</a:t>
              </a:r>
              <a:endPar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grpSp>
        <p:nvGrpSpPr>
          <p:cNvPr id="59" name="组合 58"/>
          <p:cNvGrpSpPr/>
          <p:nvPr/>
        </p:nvGrpSpPr>
        <p:grpSpPr>
          <a:xfrm>
            <a:off x="8019415" y="4445000"/>
            <a:ext cx="3401695" cy="365760"/>
            <a:chOff x="12629" y="6307"/>
            <a:chExt cx="5357" cy="576"/>
          </a:xfrm>
        </p:grpSpPr>
        <p:sp>
          <p:nvSpPr>
            <p:cNvPr id="51" name="Shape 47"/>
            <p:cNvSpPr/>
            <p:nvPr/>
          </p:nvSpPr>
          <p:spPr>
            <a:xfrm>
              <a:off x="12629" y="6466"/>
              <a:ext cx="144" cy="144"/>
            </a:xfrm>
            <a:prstGeom prst="ellipse">
              <a:avLst/>
            </a:prstGeom>
            <a:solidFill>
              <a:srgbClr val="5B9BD5"/>
            </a:solidFill>
          </p:spPr>
        </p:sp>
        <p:sp>
          <p:nvSpPr>
            <p:cNvPr id="52" name="Text 48"/>
            <p:cNvSpPr/>
            <p:nvPr/>
          </p:nvSpPr>
          <p:spPr>
            <a:xfrm>
              <a:off x="12946" y="6307"/>
              <a:ext cx="5040" cy="576"/>
            </a:xfrm>
            <a:prstGeom prst="rect">
              <a:avLst/>
            </a:prstGeom>
            <a:noFill/>
          </p:spPr>
          <p:txBody>
            <a:bodyPr wrap="square" lIns="0" tIns="0" rIns="0" bIns="0" rtlCol="0" anchor="t"/>
            <a:lstStyle/>
            <a:p>
              <a:pPr marL="0" indent="0">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孔位候选引用 → 当前/目标/候选孔位</a:t>
              </a:r>
              <a:endPar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sp>
        <p:nvSpPr>
          <p:cNvPr id="53" name="Shape 49"/>
          <p:cNvSpPr/>
          <p:nvPr/>
        </p:nvSpPr>
        <p:spPr>
          <a:xfrm>
            <a:off x="8001000" y="5074920"/>
            <a:ext cx="3383280" cy="0"/>
          </a:xfrm>
          <a:prstGeom prst="line">
            <a:avLst/>
          </a:prstGeom>
          <a:noFill/>
          <a:ln w="12700">
            <a:solidFill>
              <a:srgbClr val="2C5586"/>
            </a:solidFill>
            <a:prstDash val="solid"/>
          </a:ln>
        </p:spPr>
      </p:sp>
      <p:sp>
        <p:nvSpPr>
          <p:cNvPr id="54" name="Text 50"/>
          <p:cNvSpPr/>
          <p:nvPr/>
        </p:nvSpPr>
        <p:spPr>
          <a:xfrm>
            <a:off x="8001000" y="5274945"/>
            <a:ext cx="3383280" cy="943610"/>
          </a:xfrm>
          <a:prstGeom prst="rect">
            <a:avLst/>
          </a:prstGeom>
          <a:noFill/>
        </p:spPr>
        <p:txBody>
          <a:bodyPr wrap="square" lIns="0" tIns="0" rIns="0" bIns="0" rtlCol="0" anchor="t"/>
          <a:lstStyle/>
          <a:p>
            <a:pPr marL="0" indent="0">
              <a:lnSpc>
                <a:spcPct val="105000"/>
              </a:lnSpc>
              <a:buNone/>
            </a:pPr>
            <a:r>
              <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智能体复用同一份高亮协议，使自然语言说明与界面可视化定位指向同一份事实。</a:t>
            </a:r>
            <a:endPar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6" name="Text 52"/>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第五章 · 智能解释与人机协同</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诊断智能体与推送式上下文管理</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nvSpPr>
        <p:spPr>
          <a:xfrm>
            <a:off x="548640" y="1508760"/>
            <a:ext cx="5349240" cy="2231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2" name="Shape 9"/>
          <p:cNvSpPr/>
          <p:nvPr/>
        </p:nvSpPr>
        <p:spPr>
          <a:xfrm>
            <a:off x="548640" y="1508760"/>
            <a:ext cx="76200" cy="2231390"/>
          </a:xfrm>
          <a:prstGeom prst="rect">
            <a:avLst/>
          </a:prstGeom>
          <a:solidFill>
            <a:srgbClr val="4472C4"/>
          </a:solidFill>
        </p:spPr>
      </p:sp>
      <p:sp>
        <p:nvSpPr>
          <p:cNvPr id="13" name="Shape 10"/>
          <p:cNvSpPr/>
          <p:nvPr/>
        </p:nvSpPr>
        <p:spPr>
          <a:xfrm>
            <a:off x="804672" y="1737360"/>
            <a:ext cx="502920" cy="502920"/>
          </a:xfrm>
          <a:prstGeom prst="roundRect">
            <a:avLst>
              <a:gd name="adj" fmla="val 22000"/>
            </a:avLst>
          </a:prstGeom>
          <a:solidFill>
            <a:schemeClr val="accent1">
              <a:lumMod val="40000"/>
              <a:lumOff val="60000"/>
            </a:schemeClr>
          </a:solidFill>
        </p:spPr>
      </p:sp>
      <p:pic>
        <p:nvPicPr>
          <p:cNvPr id="14" name="Image 1" descr="preencoded.png"/>
          <p:cNvPicPr>
            <a:picLocks noChangeAspect="1"/>
          </p:cNvPicPr>
          <p:nvPr/>
        </p:nvPicPr>
        <p:blipFill>
          <a:blip r:embed="rId2"/>
          <a:stretch>
            <a:fillRect/>
          </a:stretch>
        </p:blipFill>
        <p:spPr>
          <a:xfrm>
            <a:off x="935431" y="1868119"/>
            <a:ext cx="241402" cy="241402"/>
          </a:xfrm>
          <a:prstGeom prst="rect">
            <a:avLst/>
          </a:prstGeom>
        </p:spPr>
      </p:pic>
      <p:sp>
        <p:nvSpPr>
          <p:cNvPr id="15" name="Text 11"/>
          <p:cNvSpPr/>
          <p:nvPr/>
        </p:nvSpPr>
        <p:spPr>
          <a:xfrm>
            <a:off x="1444752" y="1737360"/>
            <a:ext cx="4297680" cy="50292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推送式上下文管理 (PCM)</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2"/>
          <p:cNvSpPr/>
          <p:nvPr/>
        </p:nvSpPr>
        <p:spPr>
          <a:xfrm>
            <a:off x="822960" y="2396490"/>
            <a:ext cx="4846320" cy="1215390"/>
          </a:xfrm>
          <a:prstGeom prst="rect">
            <a:avLst/>
          </a:prstGeom>
          <a:noFill/>
        </p:spPr>
        <p:txBody>
          <a:bodyPr wrap="square" lIns="0" tIns="0" rIns="0" bIns="0" rtlCol="0" anchor="t"/>
          <a:lstStyle/>
          <a:p>
            <a:pPr marL="0" indent="0">
              <a:lnSpc>
                <a:spcPct val="10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按错误类型、风险等级、场景与用户问题，从课堂状态编译出仅含被推送事实、被允许工具与证据引用的最小上下文包，并估算 token 控制规模。智能体只能看到被推送内容，不会越过验证模块猜测孔位或网络。</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3"/>
          <p:cNvSpPr/>
          <p:nvPr/>
        </p:nvSpPr>
        <p:spPr>
          <a:xfrm>
            <a:off x="548640" y="3863340"/>
            <a:ext cx="5349240" cy="2450465"/>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18" name="Shape 14"/>
          <p:cNvSpPr/>
          <p:nvPr/>
        </p:nvSpPr>
        <p:spPr>
          <a:xfrm>
            <a:off x="804672" y="4091940"/>
            <a:ext cx="502920" cy="502920"/>
          </a:xfrm>
          <a:prstGeom prst="roundRect">
            <a:avLst>
              <a:gd name="adj" fmla="val 22000"/>
            </a:avLst>
          </a:prstGeom>
          <a:solidFill>
            <a:srgbClr val="5B9BD5"/>
          </a:solidFill>
        </p:spPr>
      </p:sp>
      <p:pic>
        <p:nvPicPr>
          <p:cNvPr id="19" name="Image 2" descr="preencoded.png"/>
          <p:cNvPicPr>
            <a:picLocks noChangeAspect="1"/>
          </p:cNvPicPr>
          <p:nvPr/>
        </p:nvPicPr>
        <p:blipFill>
          <a:blip r:embed="rId3"/>
          <a:stretch>
            <a:fillRect/>
          </a:stretch>
        </p:blipFill>
        <p:spPr>
          <a:xfrm>
            <a:off x="935431" y="4222699"/>
            <a:ext cx="241402" cy="241402"/>
          </a:xfrm>
          <a:prstGeom prst="rect">
            <a:avLst/>
          </a:prstGeom>
        </p:spPr>
      </p:pic>
      <p:sp>
        <p:nvSpPr>
          <p:cNvPr id="20" name="Text 15"/>
          <p:cNvSpPr/>
          <p:nvPr/>
        </p:nvSpPr>
        <p:spPr>
          <a:xfrm>
            <a:off x="1444752" y="4091940"/>
            <a:ext cx="4297680" cy="502920"/>
          </a:xfrm>
          <a:prstGeom prst="rect">
            <a:avLst/>
          </a:prstGeom>
          <a:noFill/>
        </p:spPr>
        <p:txBody>
          <a:bodyPr wrap="square" lIns="0" tIns="0" rIns="0" bIns="0" rtlCol="0" anchor="ctr"/>
          <a:lstStyle/>
          <a:p>
            <a:pPr marL="0" indent="0">
              <a:buNone/>
            </a:pPr>
            <a:r>
              <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不可绕过的确定性校验器</a:t>
            </a:r>
            <a:endPar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6"/>
          <p:cNvSpPr/>
          <p:nvPr/>
        </p:nvSpPr>
        <p:spPr>
          <a:xfrm>
            <a:off x="822960" y="4756785"/>
            <a:ext cx="4846320" cy="1307465"/>
          </a:xfrm>
          <a:prstGeom prst="rect">
            <a:avLst/>
          </a:prstGeom>
          <a:noFill/>
        </p:spPr>
        <p:txBody>
          <a:bodyPr wrap="square" lIns="0" tIns="0" rIns="0" bIns="0" rtlCol="0" anchor="t"/>
          <a:lstStyle/>
          <a:p>
            <a:pPr marL="0" indent="0">
              <a:lnSpc>
                <a:spcPct val="108000"/>
              </a:lnSpc>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反思环节的校验器构成模型无法绕过的强制约束——回答若缺少必需的错误码、证据引用或危险场景断电提示，无论文本如何均判失败并触发修复。十亿级解释模型一旦偏离既定事实即被结构化拦截。</a:t>
            </a:r>
            <a:endPar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Text 17"/>
          <p:cNvSpPr/>
          <p:nvPr/>
        </p:nvSpPr>
        <p:spPr>
          <a:xfrm>
            <a:off x="6309360" y="1508760"/>
            <a:ext cx="534924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一图四意图：共用状态图，按意图切换</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Shape 18"/>
          <p:cNvSpPr/>
          <p:nvPr/>
        </p:nvSpPr>
        <p:spPr>
          <a:xfrm>
            <a:off x="6309360" y="1920240"/>
            <a:ext cx="1234440" cy="502920"/>
          </a:xfrm>
          <a:prstGeom prst="roundRect">
            <a:avLst>
              <a:gd name="adj" fmla="val 14545"/>
            </a:avLst>
          </a:prstGeom>
          <a:solidFill>
            <a:srgbClr val="4472C4"/>
          </a:solidFill>
        </p:spPr>
      </p:sp>
      <p:sp>
        <p:nvSpPr>
          <p:cNvPr id="24" name="Text 19"/>
          <p:cNvSpPr/>
          <p:nvPr/>
        </p:nvSpPr>
        <p:spPr>
          <a:xfrm>
            <a:off x="6309360" y="1920240"/>
            <a:ext cx="1234440" cy="502920"/>
          </a:xfrm>
          <a:prstGeom prst="rect">
            <a:avLst/>
          </a:prstGeom>
          <a:noFill/>
        </p:spPr>
        <p:txBody>
          <a:bodyPr wrap="square" lIns="0" tIns="0" rIns="0" bIns="0" rtlCol="0" anchor="ct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诊断</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0"/>
          <p:cNvSpPr/>
          <p:nvPr/>
        </p:nvSpPr>
        <p:spPr>
          <a:xfrm>
            <a:off x="7680960" y="1920240"/>
            <a:ext cx="1234440" cy="502920"/>
          </a:xfrm>
          <a:prstGeom prst="roundRect">
            <a:avLst>
              <a:gd name="adj" fmla="val 14545"/>
            </a:avLst>
          </a:prstGeom>
          <a:solidFill>
            <a:srgbClr val="4472C4"/>
          </a:solidFill>
        </p:spPr>
      </p:sp>
      <p:sp>
        <p:nvSpPr>
          <p:cNvPr id="26" name="Text 21"/>
          <p:cNvSpPr/>
          <p:nvPr/>
        </p:nvSpPr>
        <p:spPr>
          <a:xfrm>
            <a:off x="7680960" y="1920240"/>
            <a:ext cx="1234440" cy="502920"/>
          </a:xfrm>
          <a:prstGeom prst="rect">
            <a:avLst/>
          </a:prstGeom>
          <a:noFill/>
        </p:spPr>
        <p:txBody>
          <a:bodyPr wrap="square" lIns="0" tIns="0" rIns="0" bIns="0" rtlCol="0" anchor="ct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概念讲解</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Shape 22"/>
          <p:cNvSpPr/>
          <p:nvPr/>
        </p:nvSpPr>
        <p:spPr>
          <a:xfrm>
            <a:off x="9052560" y="1920240"/>
            <a:ext cx="1234440" cy="502920"/>
          </a:xfrm>
          <a:prstGeom prst="roundRect">
            <a:avLst>
              <a:gd name="adj" fmla="val 14545"/>
            </a:avLst>
          </a:prstGeom>
          <a:solidFill>
            <a:srgbClr val="4472C4"/>
          </a:solidFill>
        </p:spPr>
      </p:sp>
      <p:sp>
        <p:nvSpPr>
          <p:cNvPr id="28" name="Text 23"/>
          <p:cNvSpPr/>
          <p:nvPr/>
        </p:nvSpPr>
        <p:spPr>
          <a:xfrm>
            <a:off x="9052560" y="1920240"/>
            <a:ext cx="1234440" cy="502920"/>
          </a:xfrm>
          <a:prstGeom prst="rect">
            <a:avLst/>
          </a:prstGeom>
          <a:noFill/>
        </p:spPr>
        <p:txBody>
          <a:bodyPr wrap="square" lIns="0" tIns="0" rIns="0" bIns="0" rtlCol="0" anchor="ct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操作指导</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Shape 24"/>
          <p:cNvSpPr/>
          <p:nvPr/>
        </p:nvSpPr>
        <p:spPr>
          <a:xfrm>
            <a:off x="10424160" y="1920240"/>
            <a:ext cx="1234440" cy="502920"/>
          </a:xfrm>
          <a:prstGeom prst="roundRect">
            <a:avLst>
              <a:gd name="adj" fmla="val 14545"/>
            </a:avLst>
          </a:prstGeom>
          <a:solidFill>
            <a:srgbClr val="4472C4"/>
          </a:solidFill>
        </p:spPr>
      </p:sp>
      <p:sp>
        <p:nvSpPr>
          <p:cNvPr id="30" name="Text 25"/>
          <p:cNvSpPr/>
          <p:nvPr/>
        </p:nvSpPr>
        <p:spPr>
          <a:xfrm>
            <a:off x="10424160" y="1920240"/>
            <a:ext cx="1234440" cy="502920"/>
          </a:xfrm>
          <a:prstGeom prst="rect">
            <a:avLst/>
          </a:prstGeom>
          <a:noFill/>
        </p:spPr>
        <p:txBody>
          <a:bodyPr wrap="square" lIns="0" tIns="0" rIns="0" bIns="0" rtlCol="0" anchor="ctr"/>
          <a:lstStyle/>
          <a:p>
            <a:pPr marL="0" indent="0" algn="ctr">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混合问答</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6"/>
          <p:cNvSpPr/>
          <p:nvPr/>
        </p:nvSpPr>
        <p:spPr>
          <a:xfrm>
            <a:off x="6309360" y="2514600"/>
            <a:ext cx="5349240" cy="274320"/>
          </a:xfrm>
          <a:prstGeom prst="rect">
            <a:avLst/>
          </a:prstGeom>
          <a:noFill/>
        </p:spPr>
        <p:txBody>
          <a:bodyPr wrap="square" lIns="0" tIns="0" rIns="0" bIns="0" rtlCol="0" anchor="ctr"/>
          <a:lstStyle/>
          <a:p>
            <a:pPr marL="0" indent="0" algn="ctr">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  统一状态图</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7"/>
          <p:cNvSpPr/>
          <p:nvPr/>
        </p:nvSpPr>
        <p:spPr>
          <a:xfrm>
            <a:off x="6309360" y="2834640"/>
            <a:ext cx="1691640" cy="502920"/>
          </a:xfrm>
          <a:prstGeom prst="roundRect">
            <a:avLst>
              <a:gd name="adj" fmla="val 14545"/>
            </a:avLst>
          </a:prstGeom>
          <a:solidFill>
            <a:srgbClr val="FFFFFF"/>
          </a:solidFill>
          <a:ln w="16510">
            <a:solidFill>
              <a:srgbClr val="14326C"/>
            </a:solidFill>
            <a:prstDash val="solid"/>
          </a:ln>
        </p:spPr>
      </p:sp>
      <p:sp>
        <p:nvSpPr>
          <p:cNvPr id="33" name="Text 28"/>
          <p:cNvSpPr/>
          <p:nvPr/>
        </p:nvSpPr>
        <p:spPr>
          <a:xfrm>
            <a:off x="6309360" y="2834640"/>
            <a:ext cx="1691640" cy="502920"/>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工具白名单</a:t>
            </a:r>
            <a:endPar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Shape 29"/>
          <p:cNvSpPr/>
          <p:nvPr/>
        </p:nvSpPr>
        <p:spPr>
          <a:xfrm>
            <a:off x="8138160" y="2834640"/>
            <a:ext cx="1691640" cy="502920"/>
          </a:xfrm>
          <a:prstGeom prst="roundRect">
            <a:avLst>
              <a:gd name="adj" fmla="val 14545"/>
            </a:avLst>
          </a:prstGeom>
          <a:solidFill>
            <a:srgbClr val="FFFFFF"/>
          </a:solidFill>
          <a:ln w="16510">
            <a:solidFill>
              <a:srgbClr val="14326C"/>
            </a:solidFill>
            <a:prstDash val="solid"/>
          </a:ln>
        </p:spPr>
      </p:sp>
      <p:sp>
        <p:nvSpPr>
          <p:cNvPr id="35" name="Text 30"/>
          <p:cNvSpPr/>
          <p:nvPr/>
        </p:nvSpPr>
        <p:spPr>
          <a:xfrm>
            <a:off x="8138160" y="2834640"/>
            <a:ext cx="1691640" cy="502920"/>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校验规则</a:t>
            </a:r>
            <a:endPar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Shape 31"/>
          <p:cNvSpPr/>
          <p:nvPr/>
        </p:nvSpPr>
        <p:spPr>
          <a:xfrm>
            <a:off x="9966960" y="2834640"/>
            <a:ext cx="1691640" cy="502920"/>
          </a:xfrm>
          <a:prstGeom prst="roundRect">
            <a:avLst>
              <a:gd name="adj" fmla="val 14545"/>
            </a:avLst>
          </a:prstGeom>
          <a:solidFill>
            <a:srgbClr val="FFFFFF"/>
          </a:solidFill>
          <a:ln w="16510">
            <a:solidFill>
              <a:srgbClr val="14326C"/>
            </a:solidFill>
            <a:prstDash val="solid"/>
          </a:ln>
        </p:spPr>
      </p:sp>
      <p:sp>
        <p:nvSpPr>
          <p:cNvPr id="37" name="Text 32"/>
          <p:cNvSpPr/>
          <p:nvPr/>
        </p:nvSpPr>
        <p:spPr>
          <a:xfrm>
            <a:off x="9966960" y="2834640"/>
            <a:ext cx="1691640" cy="502920"/>
          </a:xfrm>
          <a:prstGeom prst="rect">
            <a:avLst/>
          </a:prstGeom>
          <a:noFill/>
        </p:spPr>
        <p:txBody>
          <a:bodyPr wrap="square" lIns="0" tIns="0" rIns="0" bIns="0" rtlCol="0" anchor="ctr"/>
          <a:lstStyle/>
          <a:p>
            <a:pPr marL="0" indent="0" algn="ctr">
              <a:buNone/>
            </a:pPr>
            <a:r>
              <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回答模板</a:t>
            </a:r>
            <a:endParaRPr lang="en-US" sz="1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Shape 33"/>
          <p:cNvSpPr/>
          <p:nvPr/>
        </p:nvSpPr>
        <p:spPr>
          <a:xfrm>
            <a:off x="6309360" y="3611880"/>
            <a:ext cx="5349240" cy="2697480"/>
          </a:xfrm>
          <a:prstGeom prst="rect">
            <a:avLst/>
          </a:prstGeom>
          <a:solidFill>
            <a:srgbClr val="E9EBF5"/>
          </a:solidFill>
          <a:ln w="12700">
            <a:solidFill>
              <a:srgbClr val="CFD5EA"/>
            </a:solidFill>
            <a:prstDash val="solid"/>
          </a:ln>
          <a:effectLst>
            <a:outerShdw blurRad="76200" dist="25400" dir="5400000" algn="bl" rotWithShape="0">
              <a:srgbClr val="9AAFD0">
                <a:alpha val="7000"/>
              </a:srgbClr>
            </a:outerShdw>
          </a:effectLst>
        </p:spPr>
      </p:sp>
      <p:sp>
        <p:nvSpPr>
          <p:cNvPr id="39" name="Shape 34"/>
          <p:cNvSpPr/>
          <p:nvPr/>
        </p:nvSpPr>
        <p:spPr>
          <a:xfrm>
            <a:off x="6309360" y="3611880"/>
            <a:ext cx="76200" cy="2697480"/>
          </a:xfrm>
          <a:prstGeom prst="rect">
            <a:avLst/>
          </a:prstGeom>
          <a:solidFill>
            <a:srgbClr val="5B9BD5"/>
          </a:solidFill>
        </p:spPr>
      </p:sp>
      <p:sp>
        <p:nvSpPr>
          <p:cNvPr id="40" name="Text 35"/>
          <p:cNvSpPr/>
          <p:nvPr/>
        </p:nvSpPr>
        <p:spPr>
          <a:xfrm>
            <a:off x="6565392" y="3749040"/>
            <a:ext cx="489204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意图路由：确定性关键词分类</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6"/>
          <p:cNvSpPr/>
          <p:nvPr/>
        </p:nvSpPr>
        <p:spPr>
          <a:xfrm>
            <a:off x="6565265" y="4251960"/>
            <a:ext cx="4892040" cy="2007870"/>
          </a:xfrm>
          <a:prstGeom prst="rect">
            <a:avLst/>
          </a:prstGeom>
          <a:noFill/>
        </p:spPr>
        <p:txBody>
          <a:bodyPr wrap="square" lIns="0" tIns="0" rIns="0" bIns="0" rtlCol="0" anchor="t"/>
          <a:lstStyle/>
          <a:p>
            <a:pPr marL="0" indent="0">
              <a:lnSpc>
                <a:spcPct val="13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端侧十亿级小模型直接做四类意图分类，准确率与延迟均不及确定性关键词路由。系统以零延迟、可解释的关键词分类承担路由，小模型只负责生成。状态图以 LangGraph 编排，并提供行为等价的确定性顺序回退路径。</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3" name="Text 38"/>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第五章 · 智能解释与人机协同</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知识检索契约与安全降级</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417320"/>
            <a:ext cx="109728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合法知识源仅有四个通道 + 结构化事实；早期通用向量库被禁止进入主链路</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custDataLst>
              <p:tags r:id="rId2"/>
            </p:custDataLst>
          </p:nvPr>
        </p:nvSpPr>
        <p:spPr>
          <a:xfrm>
            <a:off x="548640" y="1874520"/>
            <a:ext cx="5349240" cy="138239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custDataLst>
              <p:tags r:id="rId3"/>
            </p:custDataLst>
          </p:nvPr>
        </p:nvSpPr>
        <p:spPr>
          <a:xfrm>
            <a:off x="548640" y="1874520"/>
            <a:ext cx="76200" cy="1382395"/>
          </a:xfrm>
          <a:prstGeom prst="rect">
            <a:avLst/>
          </a:prstGeom>
          <a:solidFill>
            <a:srgbClr val="5B9BD5"/>
          </a:solidFill>
        </p:spPr>
      </p:sp>
      <p:sp>
        <p:nvSpPr>
          <p:cNvPr id="14" name="Shape 11"/>
          <p:cNvSpPr/>
          <p:nvPr>
            <p:custDataLst>
              <p:tags r:id="rId4"/>
            </p:custDataLst>
          </p:nvPr>
        </p:nvSpPr>
        <p:spPr>
          <a:xfrm>
            <a:off x="749808" y="2167128"/>
            <a:ext cx="493776" cy="493776"/>
          </a:xfrm>
          <a:prstGeom prst="roundRect">
            <a:avLst>
              <a:gd name="adj" fmla="val 22000"/>
            </a:avLst>
          </a:prstGeom>
          <a:solidFill>
            <a:schemeClr val="accent1">
              <a:lumMod val="40000"/>
              <a:lumOff val="60000"/>
            </a:schemeClr>
          </a:solidFill>
        </p:spPr>
      </p:sp>
      <p:pic>
        <p:nvPicPr>
          <p:cNvPr id="15" name="Image 1" descr="preencoded.png"/>
          <p:cNvPicPr>
            <a:picLocks noChangeAspect="1"/>
          </p:cNvPicPr>
          <p:nvPr>
            <p:custDataLst>
              <p:tags r:id="rId5"/>
            </p:custDataLst>
          </p:nvPr>
        </p:nvPicPr>
        <p:blipFill>
          <a:blip r:embed="rId6"/>
          <a:stretch>
            <a:fillRect/>
          </a:stretch>
        </p:blipFill>
        <p:spPr>
          <a:xfrm>
            <a:off x="878190" y="2295510"/>
            <a:ext cx="237012" cy="237012"/>
          </a:xfrm>
          <a:prstGeom prst="rect">
            <a:avLst/>
          </a:prstGeom>
        </p:spPr>
      </p:pic>
      <p:sp>
        <p:nvSpPr>
          <p:cNvPr id="16" name="Text 12"/>
          <p:cNvSpPr/>
          <p:nvPr>
            <p:custDataLst>
              <p:tags r:id="rId7"/>
            </p:custDataLst>
          </p:nvPr>
        </p:nvSpPr>
        <p:spPr>
          <a:xfrm>
            <a:off x="1371600" y="2020824"/>
            <a:ext cx="4343400" cy="29260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教学场景库</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3"/>
          <p:cNvSpPr/>
          <p:nvPr>
            <p:custDataLst>
              <p:tags r:id="rId8"/>
            </p:custDataLst>
          </p:nvPr>
        </p:nvSpPr>
        <p:spPr>
          <a:xfrm>
            <a:off x="1371600" y="2420112"/>
            <a:ext cx="4343400" cy="29260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六类 demo 场景的目标、步骤、测量点与安全提示</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Text 14"/>
          <p:cNvSpPr/>
          <p:nvPr>
            <p:custDataLst>
              <p:tags r:id="rId9"/>
            </p:custDataLst>
          </p:nvPr>
        </p:nvSpPr>
        <p:spPr>
          <a:xfrm>
            <a:off x="1371600" y="2781300"/>
            <a:ext cx="4343400" cy="292608"/>
          </a:xfrm>
          <a:prstGeom prst="rect">
            <a:avLst/>
          </a:prstGeom>
          <a:noFill/>
        </p:spPr>
        <p:txBody>
          <a:bodyPr wrap="square" lIns="0" tIns="0" rIns="0" bIns="0" rtlCol="0" anchor="t"/>
          <a:lstStyle/>
          <a:p>
            <a:pPr marL="0" indent="0">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约束：</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回答先锚定当前拓扑，避免跨实验串场</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5"/>
          <p:cNvSpPr/>
          <p:nvPr>
            <p:custDataLst>
              <p:tags r:id="rId10"/>
            </p:custDataLst>
          </p:nvPr>
        </p:nvSpPr>
        <p:spPr>
          <a:xfrm>
            <a:off x="6217920" y="1874520"/>
            <a:ext cx="5349240" cy="138239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0" name="Shape 16"/>
          <p:cNvSpPr/>
          <p:nvPr>
            <p:custDataLst>
              <p:tags r:id="rId11"/>
            </p:custDataLst>
          </p:nvPr>
        </p:nvSpPr>
        <p:spPr>
          <a:xfrm>
            <a:off x="6217920" y="1874520"/>
            <a:ext cx="76200" cy="1382395"/>
          </a:xfrm>
          <a:prstGeom prst="rect">
            <a:avLst/>
          </a:prstGeom>
          <a:solidFill>
            <a:srgbClr val="5B9BD5"/>
          </a:solidFill>
        </p:spPr>
      </p:sp>
      <p:sp>
        <p:nvSpPr>
          <p:cNvPr id="21" name="Shape 17"/>
          <p:cNvSpPr/>
          <p:nvPr>
            <p:custDataLst>
              <p:tags r:id="rId12"/>
            </p:custDataLst>
          </p:nvPr>
        </p:nvSpPr>
        <p:spPr>
          <a:xfrm>
            <a:off x="6419088" y="2167128"/>
            <a:ext cx="493776" cy="493776"/>
          </a:xfrm>
          <a:prstGeom prst="roundRect">
            <a:avLst>
              <a:gd name="adj" fmla="val 22000"/>
            </a:avLst>
          </a:prstGeom>
          <a:solidFill>
            <a:schemeClr val="accent1">
              <a:lumMod val="40000"/>
              <a:lumOff val="60000"/>
            </a:schemeClr>
          </a:solidFill>
        </p:spPr>
      </p:sp>
      <p:pic>
        <p:nvPicPr>
          <p:cNvPr id="22" name="Image 2" descr="preencoded.png"/>
          <p:cNvPicPr>
            <a:picLocks noChangeAspect="1"/>
          </p:cNvPicPr>
          <p:nvPr>
            <p:custDataLst>
              <p:tags r:id="rId13"/>
            </p:custDataLst>
          </p:nvPr>
        </p:nvPicPr>
        <p:blipFill>
          <a:blip r:embed="rId14"/>
          <a:stretch>
            <a:fillRect/>
          </a:stretch>
        </p:blipFill>
        <p:spPr>
          <a:xfrm>
            <a:off x="6547470" y="2295510"/>
            <a:ext cx="237012" cy="237012"/>
          </a:xfrm>
          <a:prstGeom prst="rect">
            <a:avLst/>
          </a:prstGeom>
        </p:spPr>
      </p:pic>
      <p:sp>
        <p:nvSpPr>
          <p:cNvPr id="23" name="Text 18"/>
          <p:cNvSpPr/>
          <p:nvPr>
            <p:custDataLst>
              <p:tags r:id="rId15"/>
            </p:custDataLst>
          </p:nvPr>
        </p:nvSpPr>
        <p:spPr>
          <a:xfrm>
            <a:off x="7040880" y="2020824"/>
            <a:ext cx="4343400" cy="29260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故障案例库</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19"/>
          <p:cNvSpPr/>
          <p:nvPr>
            <p:custDataLst>
              <p:tags r:id="rId16"/>
            </p:custDataLst>
          </p:nvPr>
        </p:nvSpPr>
        <p:spPr>
          <a:xfrm>
            <a:off x="7040880" y="2420112"/>
            <a:ext cx="4343400" cy="29260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按场景、错误标签、错误码组织的典型故障与修复步骤</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0"/>
          <p:cNvSpPr/>
          <p:nvPr>
            <p:custDataLst>
              <p:tags r:id="rId17"/>
            </p:custDataLst>
          </p:nvPr>
        </p:nvSpPr>
        <p:spPr>
          <a:xfrm>
            <a:off x="7040880" y="2781300"/>
            <a:ext cx="4479925" cy="292735"/>
          </a:xfrm>
          <a:prstGeom prst="rect">
            <a:avLst/>
          </a:prstGeom>
          <a:noFill/>
        </p:spPr>
        <p:txBody>
          <a:bodyPr wrap="square" lIns="0" tIns="0" rIns="0" bIns="0" rtlCol="0" anchor="t"/>
          <a:lstStyle/>
          <a:p>
            <a:pPr marL="0" indent="0">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约束：</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只有命中当前错误码才返回，防止凭空举例</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1"/>
          <p:cNvSpPr/>
          <p:nvPr>
            <p:custDataLst>
              <p:tags r:id="rId18"/>
            </p:custDataLst>
          </p:nvPr>
        </p:nvSpPr>
        <p:spPr>
          <a:xfrm>
            <a:off x="548640" y="3342005"/>
            <a:ext cx="5349240" cy="147383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7" name="Shape 22"/>
          <p:cNvSpPr/>
          <p:nvPr>
            <p:custDataLst>
              <p:tags r:id="rId19"/>
            </p:custDataLst>
          </p:nvPr>
        </p:nvSpPr>
        <p:spPr>
          <a:xfrm>
            <a:off x="548640" y="3342005"/>
            <a:ext cx="76200" cy="1473835"/>
          </a:xfrm>
          <a:prstGeom prst="rect">
            <a:avLst/>
          </a:prstGeom>
          <a:solidFill>
            <a:srgbClr val="5B9BD5"/>
          </a:solidFill>
        </p:spPr>
      </p:sp>
      <p:sp>
        <p:nvSpPr>
          <p:cNvPr id="28" name="Shape 23"/>
          <p:cNvSpPr/>
          <p:nvPr>
            <p:custDataLst>
              <p:tags r:id="rId20"/>
            </p:custDataLst>
          </p:nvPr>
        </p:nvSpPr>
        <p:spPr>
          <a:xfrm>
            <a:off x="749808" y="3634740"/>
            <a:ext cx="493776" cy="493776"/>
          </a:xfrm>
          <a:prstGeom prst="roundRect">
            <a:avLst>
              <a:gd name="adj" fmla="val 22000"/>
            </a:avLst>
          </a:prstGeom>
          <a:solidFill>
            <a:schemeClr val="accent1">
              <a:lumMod val="40000"/>
              <a:lumOff val="60000"/>
            </a:schemeClr>
          </a:solidFill>
        </p:spPr>
      </p:sp>
      <p:pic>
        <p:nvPicPr>
          <p:cNvPr id="29" name="Image 3" descr="preencoded.png"/>
          <p:cNvPicPr>
            <a:picLocks noChangeAspect="1"/>
          </p:cNvPicPr>
          <p:nvPr>
            <p:custDataLst>
              <p:tags r:id="rId21"/>
            </p:custDataLst>
          </p:nvPr>
        </p:nvPicPr>
        <p:blipFill>
          <a:blip r:embed="rId22"/>
          <a:stretch>
            <a:fillRect/>
          </a:stretch>
        </p:blipFill>
        <p:spPr>
          <a:xfrm>
            <a:off x="878190" y="3763122"/>
            <a:ext cx="237012" cy="237012"/>
          </a:xfrm>
          <a:prstGeom prst="rect">
            <a:avLst/>
          </a:prstGeom>
        </p:spPr>
      </p:pic>
      <p:sp>
        <p:nvSpPr>
          <p:cNvPr id="30" name="Text 24"/>
          <p:cNvSpPr/>
          <p:nvPr>
            <p:custDataLst>
              <p:tags r:id="rId23"/>
            </p:custDataLst>
          </p:nvPr>
        </p:nvSpPr>
        <p:spPr>
          <a:xfrm>
            <a:off x="1371600" y="3488436"/>
            <a:ext cx="4343400" cy="29260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器件手册库</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5"/>
          <p:cNvSpPr/>
          <p:nvPr>
            <p:custDataLst>
              <p:tags r:id="rId24"/>
            </p:custDataLst>
          </p:nvPr>
        </p:nvSpPr>
        <p:spPr>
          <a:xfrm>
            <a:off x="1371600" y="3887724"/>
            <a:ext cx="4343400" cy="29260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UA741、LM324、NE555、BJT 等结构化 datasheet</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Text 26"/>
          <p:cNvSpPr/>
          <p:nvPr>
            <p:custDataLst>
              <p:tags r:id="rId25"/>
            </p:custDataLst>
          </p:nvPr>
        </p:nvSpPr>
        <p:spPr>
          <a:xfrm>
            <a:off x="1371600" y="4248785"/>
            <a:ext cx="4526280" cy="292735"/>
          </a:xfrm>
          <a:prstGeom prst="rect">
            <a:avLst/>
          </a:prstGeom>
          <a:noFill/>
        </p:spPr>
        <p:txBody>
          <a:bodyPr wrap="square" lIns="0" tIns="0" rIns="0" bIns="0" rtlCol="0" anchor="t"/>
          <a:lstStyle/>
          <a:p>
            <a:pPr marL="0" indent="0">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约束：</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场景白名单过滤无关芯片，端侧无外网依赖</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Shape 27"/>
          <p:cNvSpPr/>
          <p:nvPr>
            <p:custDataLst>
              <p:tags r:id="rId26"/>
            </p:custDataLst>
          </p:nvPr>
        </p:nvSpPr>
        <p:spPr>
          <a:xfrm>
            <a:off x="6217920" y="3342005"/>
            <a:ext cx="5349240" cy="147383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4" name="Shape 28"/>
          <p:cNvSpPr/>
          <p:nvPr>
            <p:custDataLst>
              <p:tags r:id="rId27"/>
            </p:custDataLst>
          </p:nvPr>
        </p:nvSpPr>
        <p:spPr>
          <a:xfrm>
            <a:off x="6217920" y="3342005"/>
            <a:ext cx="76200" cy="1473835"/>
          </a:xfrm>
          <a:prstGeom prst="rect">
            <a:avLst/>
          </a:prstGeom>
          <a:solidFill>
            <a:srgbClr val="5B9BD5"/>
          </a:solidFill>
        </p:spPr>
      </p:sp>
      <p:sp>
        <p:nvSpPr>
          <p:cNvPr id="35" name="Shape 29"/>
          <p:cNvSpPr/>
          <p:nvPr>
            <p:custDataLst>
              <p:tags r:id="rId28"/>
            </p:custDataLst>
          </p:nvPr>
        </p:nvSpPr>
        <p:spPr>
          <a:xfrm>
            <a:off x="6419088" y="3634740"/>
            <a:ext cx="493776" cy="493776"/>
          </a:xfrm>
          <a:prstGeom prst="roundRect">
            <a:avLst>
              <a:gd name="adj" fmla="val 22000"/>
            </a:avLst>
          </a:prstGeom>
          <a:solidFill>
            <a:schemeClr val="accent1">
              <a:lumMod val="40000"/>
              <a:lumOff val="60000"/>
            </a:schemeClr>
          </a:solidFill>
        </p:spPr>
      </p:sp>
      <p:pic>
        <p:nvPicPr>
          <p:cNvPr id="36" name="Image 4" descr="preencoded.png"/>
          <p:cNvPicPr>
            <a:picLocks noChangeAspect="1"/>
          </p:cNvPicPr>
          <p:nvPr>
            <p:custDataLst>
              <p:tags r:id="rId29"/>
            </p:custDataLst>
          </p:nvPr>
        </p:nvPicPr>
        <p:blipFill>
          <a:blip r:embed="rId30"/>
          <a:stretch>
            <a:fillRect/>
          </a:stretch>
        </p:blipFill>
        <p:spPr>
          <a:xfrm>
            <a:off x="6547470" y="3763122"/>
            <a:ext cx="237012" cy="237012"/>
          </a:xfrm>
          <a:prstGeom prst="rect">
            <a:avLst/>
          </a:prstGeom>
        </p:spPr>
      </p:pic>
      <p:sp>
        <p:nvSpPr>
          <p:cNvPr id="37" name="Text 30"/>
          <p:cNvSpPr/>
          <p:nvPr>
            <p:custDataLst>
              <p:tags r:id="rId31"/>
            </p:custDataLst>
          </p:nvPr>
        </p:nvSpPr>
        <p:spPr>
          <a:xfrm>
            <a:off x="7040880" y="3488436"/>
            <a:ext cx="4343400" cy="29260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电路知识库</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Text 31"/>
          <p:cNvSpPr/>
          <p:nvPr>
            <p:custDataLst>
              <p:tags r:id="rId32"/>
            </p:custDataLst>
          </p:nvPr>
        </p:nvSpPr>
        <p:spPr>
          <a:xfrm>
            <a:off x="7040880" y="3887724"/>
            <a:ext cx="4343400" cy="292608"/>
          </a:xfrm>
          <a:prstGeom prst="rect">
            <a:avLst/>
          </a:prstGeom>
          <a:noFill/>
        </p:spPr>
        <p:txBody>
          <a:bodyPr wrap="square" lIns="0" tIns="0" rIns="0" bIns="0" rtlCol="0" anchor="t"/>
          <a:lstStyle/>
          <a:p>
            <a:pPr marL="0" indent="0">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放大器、积分器、比较器等原理知识</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Text 32"/>
          <p:cNvSpPr/>
          <p:nvPr>
            <p:custDataLst>
              <p:tags r:id="rId33"/>
            </p:custDataLst>
          </p:nvPr>
        </p:nvSpPr>
        <p:spPr>
          <a:xfrm>
            <a:off x="7040880" y="4248912"/>
            <a:ext cx="4343400" cy="292608"/>
          </a:xfrm>
          <a:prstGeom prst="rect">
            <a:avLst/>
          </a:prstGeom>
          <a:noFill/>
        </p:spPr>
        <p:txBody>
          <a:bodyPr wrap="square" lIns="0" tIns="0" rIns="0" bIns="0" rtlCol="0" anchor="t"/>
          <a:lstStyle/>
          <a:p>
            <a:pPr marL="0" indent="0">
              <a:buNone/>
            </a:pPr>
            <a:r>
              <a:rPr lang="en-US" sz="1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约束：</a:t>
            </a: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只补充教学解释，不改写诊断事实</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Shape 33"/>
          <p:cNvSpPr/>
          <p:nvPr/>
        </p:nvSpPr>
        <p:spPr>
          <a:xfrm>
            <a:off x="548640" y="5074920"/>
            <a:ext cx="11094720" cy="1417320"/>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41" name="Text 34"/>
          <p:cNvSpPr/>
          <p:nvPr/>
        </p:nvSpPr>
        <p:spPr>
          <a:xfrm>
            <a:off x="878205" y="5074920"/>
            <a:ext cx="10454640" cy="1323975"/>
          </a:xfrm>
          <a:prstGeom prst="rect">
            <a:avLst/>
          </a:prstGeom>
          <a:noFill/>
        </p:spPr>
        <p:txBody>
          <a:bodyPr wrap="square" lIns="0" tIns="0" rIns="0" bIns="0" rtlCol="0" anchor="ctr"/>
          <a:lstStyle/>
          <a:p>
            <a:pPr marL="0" indent="0">
              <a:lnSpc>
                <a:spcPct val="105000"/>
              </a:lnSpc>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“训练即部署”不变量：</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05000"/>
              </a:lnSpc>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蒸馏数据生成与板端部署使用同一套代码、知识与场景白名单，并由起飞前自检校验两端等价。</a:t>
            </a: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  </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05000"/>
              </a:lnSpc>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fail-closed：</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05000"/>
              </a:lnSpc>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检索缺失时拒答——蒸馏样本拒绝生成、部署端回退确定性模板，宁可少答也不让错误默认值污染结论。</a:t>
            </a:r>
            <a:endPar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3" name="Text 36"/>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第五章 · 智能解释与人机协同</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交互端设计与人工修正闭环</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Shape 8"/>
          <p:cNvSpPr/>
          <p:nvPr/>
        </p:nvSpPr>
        <p:spPr>
          <a:xfrm>
            <a:off x="548640" y="1554480"/>
            <a:ext cx="5349240" cy="489585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2" name="Shape 9"/>
          <p:cNvSpPr/>
          <p:nvPr/>
        </p:nvSpPr>
        <p:spPr>
          <a:xfrm>
            <a:off x="548640" y="1554480"/>
            <a:ext cx="76200" cy="4895850"/>
          </a:xfrm>
          <a:prstGeom prst="rect">
            <a:avLst/>
          </a:prstGeom>
          <a:solidFill>
            <a:srgbClr val="4472C4"/>
          </a:solidFill>
        </p:spPr>
      </p:sp>
      <p:grpSp>
        <p:nvGrpSpPr>
          <p:cNvPr id="38" name="组合 37"/>
          <p:cNvGrpSpPr/>
          <p:nvPr/>
        </p:nvGrpSpPr>
        <p:grpSpPr>
          <a:xfrm>
            <a:off x="822960" y="1791970"/>
            <a:ext cx="511810" cy="511810"/>
            <a:chOff x="1296" y="2822"/>
            <a:chExt cx="806" cy="806"/>
          </a:xfrm>
        </p:grpSpPr>
        <p:sp>
          <p:nvSpPr>
            <p:cNvPr id="13" name="Shape 10"/>
            <p:cNvSpPr/>
            <p:nvPr/>
          </p:nvSpPr>
          <p:spPr>
            <a:xfrm>
              <a:off x="1296" y="2822"/>
              <a:ext cx="806" cy="806"/>
            </a:xfrm>
            <a:prstGeom prst="roundRect">
              <a:avLst>
                <a:gd name="adj" fmla="val 22000"/>
              </a:avLst>
            </a:prstGeom>
            <a:solidFill>
              <a:schemeClr val="accent1">
                <a:lumMod val="40000"/>
                <a:lumOff val="60000"/>
              </a:schemeClr>
            </a:solidFill>
          </p:spPr>
        </p:sp>
        <p:pic>
          <p:nvPicPr>
            <p:cNvPr id="14" name="Image 1" descr="preencoded.png"/>
            <p:cNvPicPr>
              <a:picLocks noChangeAspect="1"/>
            </p:cNvPicPr>
            <p:nvPr/>
          </p:nvPicPr>
          <p:blipFill>
            <a:blip r:embed="rId2"/>
            <a:stretch>
              <a:fillRect/>
            </a:stretch>
          </p:blipFill>
          <p:spPr>
            <a:xfrm>
              <a:off x="1506" y="3032"/>
              <a:ext cx="387" cy="387"/>
            </a:xfrm>
            <a:prstGeom prst="rect">
              <a:avLst/>
            </a:prstGeom>
          </p:spPr>
        </p:pic>
      </p:grpSp>
      <p:sp>
        <p:nvSpPr>
          <p:cNvPr id="15" name="Text 11"/>
          <p:cNvSpPr/>
          <p:nvPr/>
        </p:nvSpPr>
        <p:spPr>
          <a:xfrm>
            <a:off x="1463040" y="1792224"/>
            <a:ext cx="4297680" cy="512064"/>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交互端：React + Vite + TypeScript</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2"/>
          <p:cNvSpPr/>
          <p:nvPr/>
        </p:nvSpPr>
        <p:spPr>
          <a:xfrm>
            <a:off x="822960" y="2550160"/>
            <a:ext cx="4846320" cy="748665"/>
          </a:xfrm>
          <a:prstGeom prst="rect">
            <a:avLst/>
          </a:prstGeom>
          <a:noFill/>
        </p:spPr>
        <p:txBody>
          <a:bodyPr wrap="square" lIns="0" tIns="0" rIns="0" bIns="0" rtlCol="0" anchor="t"/>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职责不是承担业务规则，而是把服务端的结构化事实清晰呈现给师生。</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Shape 13"/>
          <p:cNvSpPr/>
          <p:nvPr/>
        </p:nvSpPr>
        <p:spPr>
          <a:xfrm>
            <a:off x="822960" y="3345180"/>
            <a:ext cx="4800600" cy="658368"/>
          </a:xfrm>
          <a:prstGeom prst="rect">
            <a:avLst/>
          </a:prstGeom>
          <a:solidFill>
            <a:srgbClr val="F3F5F9"/>
          </a:solidFill>
          <a:ln w="12700">
            <a:solidFill>
              <a:srgbClr val="CFD5EA"/>
            </a:solidFill>
            <a:prstDash val="solid"/>
          </a:ln>
        </p:spPr>
      </p:sp>
      <p:sp>
        <p:nvSpPr>
          <p:cNvPr id="18" name="Text 14"/>
          <p:cNvSpPr/>
          <p:nvPr/>
        </p:nvSpPr>
        <p:spPr>
          <a:xfrm>
            <a:off x="960120" y="3345180"/>
            <a:ext cx="1371600" cy="658368"/>
          </a:xfrm>
          <a:prstGeom prst="rect">
            <a:avLst/>
          </a:prstGeom>
          <a:noFill/>
        </p:spPr>
        <p:txBody>
          <a:bodyPr wrap="square" lIns="0" tIns="0" rIns="0" bIns="0" rtlCol="0" anchor="ctr"/>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网表视图</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Text 15"/>
          <p:cNvSpPr/>
          <p:nvPr/>
        </p:nvSpPr>
        <p:spPr>
          <a:xfrm>
            <a:off x="2240280" y="3345180"/>
            <a:ext cx="3246120" cy="658368"/>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支持孔位、端口、网络角色与引脚极性的人工修正</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Shape 16"/>
          <p:cNvSpPr/>
          <p:nvPr/>
        </p:nvSpPr>
        <p:spPr>
          <a:xfrm>
            <a:off x="822960" y="4421505"/>
            <a:ext cx="4800600" cy="658368"/>
          </a:xfrm>
          <a:prstGeom prst="rect">
            <a:avLst/>
          </a:prstGeom>
          <a:solidFill>
            <a:srgbClr val="F3F5F9"/>
          </a:solidFill>
          <a:ln w="12700">
            <a:solidFill>
              <a:srgbClr val="CFD5EA"/>
            </a:solidFill>
            <a:prstDash val="solid"/>
          </a:ln>
        </p:spPr>
      </p:sp>
      <p:sp>
        <p:nvSpPr>
          <p:cNvPr id="21" name="Text 17"/>
          <p:cNvSpPr/>
          <p:nvPr/>
        </p:nvSpPr>
        <p:spPr>
          <a:xfrm>
            <a:off x="960120" y="4421505"/>
            <a:ext cx="1371600" cy="658368"/>
          </a:xfrm>
          <a:prstGeom prst="rect">
            <a:avLst/>
          </a:prstGeom>
          <a:noFill/>
        </p:spPr>
        <p:txBody>
          <a:bodyPr wrap="square" lIns="0" tIns="0" rIns="0" bIns="0" rtlCol="0" anchor="ctr"/>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图像视图</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Text 18"/>
          <p:cNvSpPr/>
          <p:nvPr/>
        </p:nvSpPr>
        <p:spPr>
          <a:xfrm>
            <a:off x="2240280" y="4421505"/>
            <a:ext cx="3246120" cy="658368"/>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在原图上渲染识别框与高亮目标</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Shape 19"/>
          <p:cNvSpPr/>
          <p:nvPr/>
        </p:nvSpPr>
        <p:spPr>
          <a:xfrm>
            <a:off x="822960" y="5490845"/>
            <a:ext cx="4800600" cy="658368"/>
          </a:xfrm>
          <a:prstGeom prst="rect">
            <a:avLst/>
          </a:prstGeom>
          <a:solidFill>
            <a:srgbClr val="F3F5F9"/>
          </a:solidFill>
          <a:ln w="12700">
            <a:solidFill>
              <a:srgbClr val="CFD5EA"/>
            </a:solidFill>
            <a:prstDash val="solid"/>
          </a:ln>
        </p:spPr>
      </p:sp>
      <p:sp>
        <p:nvSpPr>
          <p:cNvPr id="24" name="Text 20"/>
          <p:cNvSpPr/>
          <p:nvPr/>
        </p:nvSpPr>
        <p:spPr>
          <a:xfrm>
            <a:off x="960120" y="5490845"/>
            <a:ext cx="1371600" cy="658368"/>
          </a:xfrm>
          <a:prstGeom prst="rect">
            <a:avLst/>
          </a:prstGeom>
          <a:noFill/>
        </p:spPr>
        <p:txBody>
          <a:bodyPr wrap="square" lIns="0" tIns="0" rIns="0" bIns="0" rtlCol="0" anchor="ctr"/>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证据定位</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1"/>
          <p:cNvSpPr/>
          <p:nvPr/>
        </p:nvSpPr>
        <p:spPr>
          <a:xfrm>
            <a:off x="2240280" y="5490845"/>
            <a:ext cx="3246120" cy="658368"/>
          </a:xfrm>
          <a:prstGeom prst="rect">
            <a:avLst/>
          </a:prstGeom>
          <a:noFill/>
        </p:spPr>
        <p:txBody>
          <a:bodyPr wrap="square" lIns="0" tIns="0" rIns="0" bIns="0" rtlCol="0" anchor="ctr"/>
          <a:lstStyle/>
          <a:p>
            <a:pPr marL="0" indent="0">
              <a:lnSpc>
                <a:spcPct val="10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点选某条诊断后，据证据引用定位到元件、引脚与孔位</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2"/>
          <p:cNvSpPr/>
          <p:nvPr/>
        </p:nvSpPr>
        <p:spPr>
          <a:xfrm>
            <a:off x="6309360" y="1554480"/>
            <a:ext cx="5349240" cy="2048510"/>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27" name="Shape 23"/>
          <p:cNvSpPr/>
          <p:nvPr/>
        </p:nvSpPr>
        <p:spPr>
          <a:xfrm>
            <a:off x="6309360" y="1554480"/>
            <a:ext cx="76200" cy="2048510"/>
          </a:xfrm>
          <a:prstGeom prst="rect">
            <a:avLst/>
          </a:prstGeom>
          <a:solidFill>
            <a:srgbClr val="5B9BD5"/>
          </a:solidFill>
        </p:spPr>
      </p:sp>
      <p:sp>
        <p:nvSpPr>
          <p:cNvPr id="28" name="Text 24"/>
          <p:cNvSpPr/>
          <p:nvPr/>
        </p:nvSpPr>
        <p:spPr>
          <a:xfrm>
            <a:off x="6583680" y="1719072"/>
            <a:ext cx="48006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人工修正闭环</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5"/>
          <p:cNvSpPr/>
          <p:nvPr/>
        </p:nvSpPr>
        <p:spPr>
          <a:xfrm>
            <a:off x="6602095" y="2137664"/>
            <a:ext cx="4800600" cy="1188720"/>
          </a:xfrm>
          <a:prstGeom prst="rect">
            <a:avLst/>
          </a:prstGeom>
          <a:noFill/>
        </p:spPr>
        <p:txBody>
          <a:bodyPr wrap="square" lIns="0" tIns="0" rIns="0" bIns="0" rtlCol="0" anchor="t"/>
          <a:lstStyle/>
          <a:p>
            <a:pPr marL="0" indent="0">
              <a:lnSpc>
                <a:spcPct val="13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从映射结果取出元件，结合用户对端口、网络角色、引脚极性的修改生成补丁，调用重算接口在服务端重新执行拓扑重构与比较——其间不重跑视觉检测，以极小代价纠正视觉阶段偶发偏差。</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6"/>
          <p:cNvSpPr/>
          <p:nvPr/>
        </p:nvSpPr>
        <p:spPr>
          <a:xfrm>
            <a:off x="6309360" y="3662680"/>
            <a:ext cx="5349240" cy="2804795"/>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grpSp>
        <p:nvGrpSpPr>
          <p:cNvPr id="37" name="组合 36"/>
          <p:cNvGrpSpPr/>
          <p:nvPr/>
        </p:nvGrpSpPr>
        <p:grpSpPr>
          <a:xfrm>
            <a:off x="6583680" y="4011295"/>
            <a:ext cx="511810" cy="511810"/>
            <a:chOff x="10368" y="6317"/>
            <a:chExt cx="806" cy="806"/>
          </a:xfrm>
        </p:grpSpPr>
        <p:sp>
          <p:nvSpPr>
            <p:cNvPr id="31" name="Shape 27"/>
            <p:cNvSpPr/>
            <p:nvPr/>
          </p:nvSpPr>
          <p:spPr>
            <a:xfrm>
              <a:off x="10368" y="6317"/>
              <a:ext cx="806" cy="806"/>
            </a:xfrm>
            <a:prstGeom prst="roundRect">
              <a:avLst>
                <a:gd name="adj" fmla="val 22000"/>
              </a:avLst>
            </a:prstGeom>
            <a:solidFill>
              <a:srgbClr val="5B9BD5"/>
            </a:solidFill>
          </p:spPr>
        </p:sp>
        <p:pic>
          <p:nvPicPr>
            <p:cNvPr id="32" name="Image 2" descr="preencoded.png"/>
            <p:cNvPicPr>
              <a:picLocks noChangeAspect="1"/>
            </p:cNvPicPr>
            <p:nvPr/>
          </p:nvPicPr>
          <p:blipFill>
            <a:blip r:embed="rId3"/>
            <a:stretch>
              <a:fillRect/>
            </a:stretch>
          </p:blipFill>
          <p:spPr>
            <a:xfrm>
              <a:off x="10578" y="6526"/>
              <a:ext cx="387" cy="387"/>
            </a:xfrm>
            <a:prstGeom prst="rect">
              <a:avLst/>
            </a:prstGeom>
          </p:spPr>
        </p:pic>
      </p:grpSp>
      <p:sp>
        <p:nvSpPr>
          <p:cNvPr id="33" name="Text 28"/>
          <p:cNvSpPr/>
          <p:nvPr/>
        </p:nvSpPr>
        <p:spPr>
          <a:xfrm>
            <a:off x="7223760" y="3992880"/>
            <a:ext cx="4251960" cy="512064"/>
          </a:xfrm>
          <a:prstGeom prst="rect">
            <a:avLst/>
          </a:prstGeom>
          <a:noFill/>
        </p:spPr>
        <p:txBody>
          <a:bodyPr wrap="square" lIns="0" tIns="0" rIns="0" bIns="0" rtlCol="0" anchor="ctr"/>
          <a:lstStyle/>
          <a:p>
            <a:pPr marL="0" indent="0">
              <a:buNone/>
            </a:pPr>
            <a:r>
              <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把 AI 定位为助教而非裁判</a:t>
            </a:r>
            <a:endPar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Text 29"/>
          <p:cNvSpPr/>
          <p:nvPr/>
        </p:nvSpPr>
        <p:spPr>
          <a:xfrm>
            <a:off x="6583680" y="4620260"/>
            <a:ext cx="4800600" cy="1496695"/>
          </a:xfrm>
          <a:prstGeom prst="rect">
            <a:avLst/>
          </a:prstGeom>
          <a:noFill/>
        </p:spPr>
        <p:txBody>
          <a:bodyPr wrap="square" lIns="0" tIns="0" rIns="0" bIns="0" rtlCol="0" anchor="t"/>
          <a:lstStyle/>
          <a:p>
            <a:pPr marL="0" indent="0">
              <a:lnSpc>
                <a:spcPct val="126000"/>
              </a:lnSpc>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视觉模型难免漏检、误检或孔位吸附偏差。系统保留视觉阶段识别到的大部分事实，只对有争议的引脚或端口做局部修改再重新判断——“显式保留不确定性 + 低成本纠正回路”，是面对必然带噪的真实感知输入时仍能可靠服务教学的工程基础。</a:t>
            </a:r>
            <a:endPar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1"/>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第六章 · Intel DK-2500 边缘部署</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NPU / iGPU / CPU 异构分工</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177290"/>
            <a:ext cx="10972800" cy="822325"/>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DK-2500 搭载 Intel Core Ultra 5 225U，把异构计算能力纳入系统架构而非仅作演示载体</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custDataLst>
              <p:tags r:id="rId2"/>
            </p:custDataLst>
          </p:nvPr>
        </p:nvSpPr>
        <p:spPr>
          <a:xfrm>
            <a:off x="548640" y="2095500"/>
            <a:ext cx="3456432" cy="28346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custDataLst>
              <p:tags r:id="rId3"/>
            </p:custDataLst>
          </p:nvPr>
        </p:nvSpPr>
        <p:spPr>
          <a:xfrm>
            <a:off x="548640" y="2095500"/>
            <a:ext cx="73152" cy="2834640"/>
          </a:xfrm>
          <a:prstGeom prst="rect">
            <a:avLst/>
          </a:prstGeom>
          <a:solidFill>
            <a:srgbClr val="14326C"/>
          </a:solidFill>
        </p:spPr>
      </p:sp>
      <p:sp>
        <p:nvSpPr>
          <p:cNvPr id="14" name="Shape 11"/>
          <p:cNvSpPr/>
          <p:nvPr>
            <p:custDataLst>
              <p:tags r:id="rId4"/>
            </p:custDataLst>
          </p:nvPr>
        </p:nvSpPr>
        <p:spPr>
          <a:xfrm>
            <a:off x="822960" y="2388108"/>
            <a:ext cx="640080" cy="640080"/>
          </a:xfrm>
          <a:prstGeom prst="roundRect">
            <a:avLst>
              <a:gd name="adj" fmla="val 22000"/>
            </a:avLst>
          </a:prstGeom>
          <a:solidFill>
            <a:srgbClr val="14326C"/>
          </a:solidFill>
        </p:spPr>
      </p:sp>
      <p:pic>
        <p:nvPicPr>
          <p:cNvPr id="15" name="Image 1" descr="preencoded.png"/>
          <p:cNvPicPr>
            <a:picLocks noChangeAspect="1"/>
          </p:cNvPicPr>
          <p:nvPr>
            <p:custDataLst>
              <p:tags r:id="rId5"/>
            </p:custDataLst>
          </p:nvPr>
        </p:nvPicPr>
        <p:blipFill>
          <a:blip r:embed="rId6"/>
          <a:stretch>
            <a:fillRect/>
          </a:stretch>
        </p:blipFill>
        <p:spPr>
          <a:xfrm>
            <a:off x="989381" y="2554529"/>
            <a:ext cx="307238" cy="307238"/>
          </a:xfrm>
          <a:prstGeom prst="rect">
            <a:avLst/>
          </a:prstGeom>
        </p:spPr>
      </p:pic>
      <p:sp>
        <p:nvSpPr>
          <p:cNvPr id="16" name="Text 12"/>
          <p:cNvSpPr/>
          <p:nvPr>
            <p:custDataLst>
              <p:tags r:id="rId7"/>
            </p:custDataLst>
          </p:nvPr>
        </p:nvSpPr>
        <p:spPr>
          <a:xfrm>
            <a:off x="1600200" y="2369820"/>
            <a:ext cx="2267712" cy="38404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NPU</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3"/>
          <p:cNvSpPr/>
          <p:nvPr>
            <p:custDataLst>
              <p:tags r:id="rId8"/>
            </p:custDataLst>
          </p:nvPr>
        </p:nvSpPr>
        <p:spPr>
          <a:xfrm>
            <a:off x="1600200" y="2808732"/>
            <a:ext cx="2267712" cy="274320"/>
          </a:xfrm>
          <a:prstGeom prst="rect">
            <a:avLst/>
          </a:prstGeom>
          <a:noFill/>
        </p:spPr>
        <p:txBody>
          <a:bodyPr wrap="square" lIns="0" tIns="0" rIns="0" bIns="0" rtlCol="0" anchor="ctr"/>
          <a:lstStyle/>
          <a:p>
            <a:pPr marL="0" indent="0">
              <a:buNone/>
            </a:pPr>
            <a:r>
              <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视觉关键点检测</a:t>
            </a:r>
            <a:endParaRPr lang="en-US"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4"/>
          <p:cNvSpPr/>
          <p:nvPr>
            <p:custDataLst>
              <p:tags r:id="rId9"/>
            </p:custDataLst>
          </p:nvPr>
        </p:nvSpPr>
        <p:spPr>
          <a:xfrm>
            <a:off x="822960" y="3302508"/>
            <a:ext cx="2907792" cy="0"/>
          </a:xfrm>
          <a:prstGeom prst="line">
            <a:avLst/>
          </a:prstGeom>
          <a:noFill/>
          <a:ln w="12700">
            <a:solidFill>
              <a:srgbClr val="CFD5EA"/>
            </a:solidFill>
            <a:prstDash val="solid"/>
          </a:ln>
        </p:spPr>
      </p:sp>
      <p:sp>
        <p:nvSpPr>
          <p:cNvPr id="19" name="Text 15"/>
          <p:cNvSpPr/>
          <p:nvPr>
            <p:custDataLst>
              <p:tags r:id="rId10"/>
            </p:custDataLst>
          </p:nvPr>
        </p:nvSpPr>
        <p:spPr>
          <a:xfrm>
            <a:off x="822960" y="3421380"/>
            <a:ext cx="2907792" cy="1371600"/>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YOLOv8s-pose INT8 常驻；张量计算规则、可常驻；约 75 img/s，几乎不占用其他单元</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Shape 16"/>
          <p:cNvSpPr/>
          <p:nvPr>
            <p:custDataLst>
              <p:tags r:id="rId11"/>
            </p:custDataLst>
          </p:nvPr>
        </p:nvSpPr>
        <p:spPr>
          <a:xfrm>
            <a:off x="4297680" y="2095500"/>
            <a:ext cx="3456432" cy="28346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1" name="Shape 17"/>
          <p:cNvSpPr/>
          <p:nvPr>
            <p:custDataLst>
              <p:tags r:id="rId12"/>
            </p:custDataLst>
          </p:nvPr>
        </p:nvSpPr>
        <p:spPr>
          <a:xfrm>
            <a:off x="4297680" y="2095500"/>
            <a:ext cx="73152" cy="2834640"/>
          </a:xfrm>
          <a:prstGeom prst="rect">
            <a:avLst/>
          </a:prstGeom>
          <a:solidFill>
            <a:srgbClr val="4472C4"/>
          </a:solidFill>
        </p:spPr>
      </p:sp>
      <p:sp>
        <p:nvSpPr>
          <p:cNvPr id="22" name="Shape 18"/>
          <p:cNvSpPr/>
          <p:nvPr>
            <p:custDataLst>
              <p:tags r:id="rId13"/>
            </p:custDataLst>
          </p:nvPr>
        </p:nvSpPr>
        <p:spPr>
          <a:xfrm>
            <a:off x="4572000" y="2388108"/>
            <a:ext cx="640080" cy="640080"/>
          </a:xfrm>
          <a:prstGeom prst="roundRect">
            <a:avLst>
              <a:gd name="adj" fmla="val 22000"/>
            </a:avLst>
          </a:prstGeom>
          <a:solidFill>
            <a:srgbClr val="4472C4"/>
          </a:solidFill>
        </p:spPr>
      </p:sp>
      <p:pic>
        <p:nvPicPr>
          <p:cNvPr id="23" name="Image 2" descr="preencoded.png"/>
          <p:cNvPicPr>
            <a:picLocks noChangeAspect="1"/>
          </p:cNvPicPr>
          <p:nvPr>
            <p:custDataLst>
              <p:tags r:id="rId14"/>
            </p:custDataLst>
          </p:nvPr>
        </p:nvPicPr>
        <p:blipFill>
          <a:blip r:embed="rId15"/>
          <a:stretch>
            <a:fillRect/>
          </a:stretch>
        </p:blipFill>
        <p:spPr>
          <a:xfrm>
            <a:off x="4738421" y="2554529"/>
            <a:ext cx="307238" cy="307238"/>
          </a:xfrm>
          <a:prstGeom prst="rect">
            <a:avLst/>
          </a:prstGeom>
        </p:spPr>
      </p:pic>
      <p:sp>
        <p:nvSpPr>
          <p:cNvPr id="24" name="Text 19"/>
          <p:cNvSpPr/>
          <p:nvPr>
            <p:custDataLst>
              <p:tags r:id="rId16"/>
            </p:custDataLst>
          </p:nvPr>
        </p:nvSpPr>
        <p:spPr>
          <a:xfrm>
            <a:off x="5349240" y="2369820"/>
            <a:ext cx="2267712" cy="38404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iGPU</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0"/>
          <p:cNvSpPr/>
          <p:nvPr>
            <p:custDataLst>
              <p:tags r:id="rId17"/>
            </p:custDataLst>
          </p:nvPr>
        </p:nvSpPr>
        <p:spPr>
          <a:xfrm>
            <a:off x="5349240" y="2808732"/>
            <a:ext cx="2267712" cy="274320"/>
          </a:xfrm>
          <a:prstGeom prst="rect">
            <a:avLst/>
          </a:prstGeom>
          <a:noFill/>
        </p:spPr>
        <p:txBody>
          <a:bodyPr wrap="square" lIns="0" tIns="0" rIns="0" bIns="0" rtlCol="0" anchor="ctr"/>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自回归解释生成</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1"/>
          <p:cNvSpPr/>
          <p:nvPr>
            <p:custDataLst>
              <p:tags r:id="rId18"/>
            </p:custDataLst>
          </p:nvPr>
        </p:nvSpPr>
        <p:spPr>
          <a:xfrm>
            <a:off x="4572000" y="3302508"/>
            <a:ext cx="2907792" cy="0"/>
          </a:xfrm>
          <a:prstGeom prst="line">
            <a:avLst/>
          </a:prstGeom>
          <a:noFill/>
          <a:ln w="12700">
            <a:solidFill>
              <a:srgbClr val="CFD5EA"/>
            </a:solidFill>
            <a:prstDash val="solid"/>
          </a:ln>
        </p:spPr>
      </p:sp>
      <p:sp>
        <p:nvSpPr>
          <p:cNvPr id="27" name="Text 22"/>
          <p:cNvSpPr/>
          <p:nvPr>
            <p:custDataLst>
              <p:tags r:id="rId19"/>
            </p:custDataLst>
          </p:nvPr>
        </p:nvSpPr>
        <p:spPr>
          <a:xfrm>
            <a:off x="4572000" y="3421380"/>
            <a:ext cx="2907792" cy="1371600"/>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OpenVINO GenAI INT4 文本生成与热力图；并行度高，约 23 tok/s</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Shape 23"/>
          <p:cNvSpPr/>
          <p:nvPr>
            <p:custDataLst>
              <p:tags r:id="rId20"/>
            </p:custDataLst>
          </p:nvPr>
        </p:nvSpPr>
        <p:spPr>
          <a:xfrm>
            <a:off x="8046720" y="2095500"/>
            <a:ext cx="3456432" cy="283464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9" name="Shape 24"/>
          <p:cNvSpPr/>
          <p:nvPr>
            <p:custDataLst>
              <p:tags r:id="rId21"/>
            </p:custDataLst>
          </p:nvPr>
        </p:nvSpPr>
        <p:spPr>
          <a:xfrm>
            <a:off x="8046720" y="2095500"/>
            <a:ext cx="73152" cy="2834640"/>
          </a:xfrm>
          <a:prstGeom prst="rect">
            <a:avLst/>
          </a:prstGeom>
          <a:solidFill>
            <a:srgbClr val="5B9BD5"/>
          </a:solidFill>
        </p:spPr>
      </p:sp>
      <p:sp>
        <p:nvSpPr>
          <p:cNvPr id="30" name="Shape 25"/>
          <p:cNvSpPr/>
          <p:nvPr>
            <p:custDataLst>
              <p:tags r:id="rId22"/>
            </p:custDataLst>
          </p:nvPr>
        </p:nvSpPr>
        <p:spPr>
          <a:xfrm>
            <a:off x="8321040" y="2388108"/>
            <a:ext cx="640080" cy="640080"/>
          </a:xfrm>
          <a:prstGeom prst="roundRect">
            <a:avLst>
              <a:gd name="adj" fmla="val 22000"/>
            </a:avLst>
          </a:prstGeom>
          <a:solidFill>
            <a:srgbClr val="5B9BD5"/>
          </a:solidFill>
        </p:spPr>
      </p:sp>
      <p:pic>
        <p:nvPicPr>
          <p:cNvPr id="31" name="Image 3" descr="preencoded.png"/>
          <p:cNvPicPr>
            <a:picLocks noChangeAspect="1"/>
          </p:cNvPicPr>
          <p:nvPr>
            <p:custDataLst>
              <p:tags r:id="rId23"/>
            </p:custDataLst>
          </p:nvPr>
        </p:nvPicPr>
        <p:blipFill>
          <a:blip r:embed="rId24"/>
          <a:stretch>
            <a:fillRect/>
          </a:stretch>
        </p:blipFill>
        <p:spPr>
          <a:xfrm>
            <a:off x="8487461" y="2554529"/>
            <a:ext cx="307238" cy="307238"/>
          </a:xfrm>
          <a:prstGeom prst="rect">
            <a:avLst/>
          </a:prstGeom>
        </p:spPr>
      </p:pic>
      <p:sp>
        <p:nvSpPr>
          <p:cNvPr id="32" name="Text 26"/>
          <p:cNvSpPr/>
          <p:nvPr>
            <p:custDataLst>
              <p:tags r:id="rId25"/>
            </p:custDataLst>
          </p:nvPr>
        </p:nvSpPr>
        <p:spPr>
          <a:xfrm>
            <a:off x="9098280" y="2369820"/>
            <a:ext cx="2267712" cy="38404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CPU</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27"/>
          <p:cNvSpPr/>
          <p:nvPr>
            <p:custDataLst>
              <p:tags r:id="rId26"/>
            </p:custDataLst>
          </p:nvPr>
        </p:nvSpPr>
        <p:spPr>
          <a:xfrm>
            <a:off x="9098280" y="2808732"/>
            <a:ext cx="2267712" cy="274320"/>
          </a:xfrm>
          <a:prstGeom prst="rect">
            <a:avLst/>
          </a:prstGeom>
          <a:noFill/>
        </p:spPr>
        <p:txBody>
          <a:bodyPr wrap="square" lIns="0" tIns="0" rIns="0" bIns="0" rtlCol="0" anchor="ctr"/>
          <a:lstStyle/>
          <a:p>
            <a:pPr marL="0" indent="0">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图算法与控制面</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Shape 28"/>
          <p:cNvSpPr/>
          <p:nvPr>
            <p:custDataLst>
              <p:tags r:id="rId27"/>
            </p:custDataLst>
          </p:nvPr>
        </p:nvSpPr>
        <p:spPr>
          <a:xfrm>
            <a:off x="8321040" y="3302508"/>
            <a:ext cx="2907792" cy="0"/>
          </a:xfrm>
          <a:prstGeom prst="line">
            <a:avLst/>
          </a:prstGeom>
          <a:noFill/>
          <a:ln w="12700">
            <a:solidFill>
              <a:srgbClr val="CFD5EA"/>
            </a:solidFill>
            <a:prstDash val="solid"/>
          </a:ln>
        </p:spPr>
      </p:sp>
      <p:sp>
        <p:nvSpPr>
          <p:cNvPr id="35" name="Text 29"/>
          <p:cNvSpPr/>
          <p:nvPr>
            <p:custDataLst>
              <p:tags r:id="rId28"/>
            </p:custDataLst>
          </p:nvPr>
        </p:nvSpPr>
        <p:spPr>
          <a:xfrm>
            <a:off x="8321040" y="3421380"/>
            <a:ext cx="2907792" cy="1371600"/>
          </a:xfrm>
          <a:prstGeom prst="rect">
            <a:avLst/>
          </a:prstGeom>
          <a:noFill/>
        </p:spPr>
        <p:txBody>
          <a:bodyPr wrap="square" lIns="0" tIns="0" rIns="0" bIns="0" rtlCol="0" anchor="t"/>
          <a:lstStyle/>
          <a:p>
            <a:pPr marL="0" indent="0">
              <a:lnSpc>
                <a:spcPct val="110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图同构、子图匹配、检索、服务编排与遥测等不规则逻辑，更适合通用核心</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Shape 30"/>
          <p:cNvSpPr/>
          <p:nvPr/>
        </p:nvSpPr>
        <p:spPr>
          <a:xfrm>
            <a:off x="548640" y="5212080"/>
            <a:ext cx="11094720" cy="1127125"/>
          </a:xfrm>
          <a:prstGeom prst="rect">
            <a:avLst/>
          </a:prstGeom>
          <a:solidFill>
            <a:srgbClr val="E9EBF5"/>
          </a:solidFill>
          <a:ln w="12700">
            <a:solidFill>
              <a:srgbClr val="CFD5EA"/>
            </a:solidFill>
            <a:prstDash val="solid"/>
          </a:ln>
          <a:effectLst>
            <a:outerShdw blurRad="76200" dist="25400" dir="5400000" algn="bl" rotWithShape="0">
              <a:srgbClr val="9AAFD0">
                <a:alpha val="7000"/>
              </a:srgbClr>
            </a:outerShdw>
          </a:effectLst>
        </p:spPr>
      </p:sp>
      <p:sp>
        <p:nvSpPr>
          <p:cNvPr id="37" name="Shape 31"/>
          <p:cNvSpPr/>
          <p:nvPr/>
        </p:nvSpPr>
        <p:spPr>
          <a:xfrm>
            <a:off x="548640" y="5212080"/>
            <a:ext cx="76200" cy="1127125"/>
          </a:xfrm>
          <a:prstGeom prst="rect">
            <a:avLst/>
          </a:prstGeom>
          <a:solidFill>
            <a:srgbClr val="5B9BD5"/>
          </a:solidFill>
        </p:spPr>
      </p:sp>
      <p:sp>
        <p:nvSpPr>
          <p:cNvPr id="38" name="Text 32"/>
          <p:cNvSpPr/>
          <p:nvPr/>
        </p:nvSpPr>
        <p:spPr>
          <a:xfrm>
            <a:off x="868680" y="5212080"/>
            <a:ext cx="10454640" cy="1108710"/>
          </a:xfrm>
          <a:prstGeom prst="rect">
            <a:avLst/>
          </a:prstGeom>
          <a:noFill/>
        </p:spPr>
        <p:txBody>
          <a:bodyPr wrap="square" lIns="0" tIns="0" rIns="0" bIns="0" rtlCol="0" anchor="ctr"/>
          <a:lstStyle/>
          <a:p>
            <a:pPr marL="0" indent="0">
              <a:lnSpc>
                <a:spcPct val="105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该分工避免单个计算单元被视觉、语言与控制逻辑争抢，使项目能以真实板端功耗与延迟数据证明“可在课堂边缘部署”，而非仅在开发机上完成算法验证。</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Text 34"/>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第六章 · Intel DK-2500 边缘部署</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异构性能实测与能效</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3"/>
          <a:stretch>
            <a:fillRect/>
          </a:stretch>
        </p:blipFill>
        <p:spPr>
          <a:xfrm>
            <a:off x="11231575" y="411480"/>
            <a:ext cx="237744" cy="237744"/>
          </a:xfrm>
          <a:prstGeom prst="rect">
            <a:avLst/>
          </a:prstGeom>
        </p:spPr>
      </p:pic>
      <p:sp>
        <p:nvSpPr>
          <p:cNvPr id="11" name="Text 8"/>
          <p:cNvSpPr/>
          <p:nvPr/>
        </p:nvSpPr>
        <p:spPr>
          <a:xfrm>
            <a:off x="548640" y="1371600"/>
            <a:ext cx="8229600" cy="29260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YOLOv8s-pose 六种设备—精度配置实测（输入分辨率 960）</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12" name="Chart 0"/>
          <p:cNvGraphicFramePr/>
          <p:nvPr/>
        </p:nvGraphicFramePr>
        <p:xfrm>
          <a:off x="548640" y="1783080"/>
          <a:ext cx="6766560" cy="228219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3" name="Chart 1"/>
          <p:cNvGraphicFramePr/>
          <p:nvPr/>
        </p:nvGraphicFramePr>
        <p:xfrm>
          <a:off x="548640" y="4290060"/>
          <a:ext cx="6766560" cy="2446020"/>
        </p:xfrm>
        <a:graphic>
          <a:graphicData uri="http://schemas.openxmlformats.org/drawingml/2006/chart">
            <c:chart xmlns:c="http://schemas.openxmlformats.org/drawingml/2006/chart" xmlns:r="http://schemas.openxmlformats.org/officeDocument/2006/relationships" r:id="rId2"/>
          </a:graphicData>
        </a:graphic>
      </p:graphicFrame>
      <p:sp>
        <p:nvSpPr>
          <p:cNvPr id="14" name="Shape 9"/>
          <p:cNvSpPr/>
          <p:nvPr/>
        </p:nvSpPr>
        <p:spPr>
          <a:xfrm>
            <a:off x="7635240" y="1783080"/>
            <a:ext cx="4023360" cy="4702175"/>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15" name="Text 10"/>
          <p:cNvSpPr/>
          <p:nvPr/>
        </p:nvSpPr>
        <p:spPr>
          <a:xfrm>
            <a:off x="7909560" y="1965960"/>
            <a:ext cx="3474720" cy="365760"/>
          </a:xfrm>
          <a:prstGeom prst="rect">
            <a:avLst/>
          </a:prstGeom>
          <a:noFill/>
        </p:spPr>
        <p:txBody>
          <a:bodyPr wrap="square" lIns="0" tIns="0" rIns="0" bIns="0" rtlCol="0" anchor="ctr"/>
          <a:lstStyle/>
          <a:p>
            <a:pPr marL="0" indent="0">
              <a:buNone/>
            </a:pP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NPU INT8 — 所有维度最优</a:t>
            </a:r>
            <a:endPar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1"/>
          <p:cNvSpPr/>
          <p:nvPr/>
        </p:nvSpPr>
        <p:spPr>
          <a:xfrm>
            <a:off x="7909560" y="2377440"/>
            <a:ext cx="3474720" cy="0"/>
          </a:xfrm>
          <a:prstGeom prst="line">
            <a:avLst/>
          </a:prstGeom>
          <a:noFill/>
          <a:ln w="12700">
            <a:solidFill>
              <a:srgbClr val="2C5586"/>
            </a:solidFill>
            <a:prstDash val="solid"/>
          </a:ln>
        </p:spPr>
      </p:sp>
      <p:sp>
        <p:nvSpPr>
          <p:cNvPr id="17" name="Text 12"/>
          <p:cNvSpPr/>
          <p:nvPr/>
        </p:nvSpPr>
        <p:spPr>
          <a:xfrm>
            <a:off x="7909560" y="2505456"/>
            <a:ext cx="3474720" cy="365760"/>
          </a:xfrm>
          <a:prstGeom prst="rect">
            <a:avLst/>
          </a:prstGeom>
          <a:noFill/>
        </p:spPr>
        <p:txBody>
          <a:bodyPr wrap="square" lIns="0" tIns="0" rIns="0" bIns="0" rtlCol="0" anchor="ctr"/>
          <a:lstStyle/>
          <a:p>
            <a:pPr marL="0" indent="0">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13.37 ms</a:t>
            </a:r>
            <a:endParaRPr lang="en-US" sz="2300" dirty="0"/>
          </a:p>
        </p:txBody>
      </p:sp>
      <p:sp>
        <p:nvSpPr>
          <p:cNvPr id="18" name="Text 13"/>
          <p:cNvSpPr/>
          <p:nvPr/>
        </p:nvSpPr>
        <p:spPr>
          <a:xfrm>
            <a:off x="7909560" y="2871216"/>
            <a:ext cx="3474720" cy="256032"/>
          </a:xfrm>
          <a:prstGeom prst="rect">
            <a:avLst/>
          </a:prstGeom>
          <a:noFill/>
        </p:spPr>
        <p:txBody>
          <a:bodyPr wrap="square" lIns="0" tIns="0" rIns="0" bIns="0" rtlCol="0" anchor="ctr"/>
          <a:lstStyle/>
          <a:p>
            <a:pPr marL="0" indent="0">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推理延迟均值</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Text 14"/>
          <p:cNvSpPr/>
          <p:nvPr/>
        </p:nvSpPr>
        <p:spPr>
          <a:xfrm>
            <a:off x="7909560" y="3237103"/>
            <a:ext cx="3474720" cy="365760"/>
          </a:xfrm>
          <a:prstGeom prst="rect">
            <a:avLst/>
          </a:prstGeom>
          <a:noFill/>
        </p:spPr>
        <p:txBody>
          <a:bodyPr wrap="square" lIns="0" tIns="0" rIns="0" bIns="0" rtlCol="0" anchor="ctr"/>
          <a:lstStyle/>
          <a:p>
            <a:pPr marL="0" indent="0">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74.7 img/s</a:t>
            </a:r>
            <a:endParaRPr lang="en-US" sz="2300" dirty="0"/>
          </a:p>
        </p:txBody>
      </p:sp>
      <p:sp>
        <p:nvSpPr>
          <p:cNvPr id="20" name="Text 15"/>
          <p:cNvSpPr/>
          <p:nvPr/>
        </p:nvSpPr>
        <p:spPr>
          <a:xfrm>
            <a:off x="7909560" y="3608578"/>
            <a:ext cx="3474720" cy="256032"/>
          </a:xfrm>
          <a:prstGeom prst="rect">
            <a:avLst/>
          </a:prstGeom>
          <a:noFill/>
        </p:spPr>
        <p:txBody>
          <a:bodyPr wrap="square" lIns="0" tIns="0" rIns="0" bIns="0" rtlCol="0" anchor="ctr"/>
          <a:lstStyle/>
          <a:p>
            <a:pPr marL="0" indent="0">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吞吐 · P99 抖动仅 15.61 ms</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6"/>
          <p:cNvSpPr/>
          <p:nvPr/>
        </p:nvSpPr>
        <p:spPr>
          <a:xfrm>
            <a:off x="7909560" y="3933825"/>
            <a:ext cx="3474720" cy="365760"/>
          </a:xfrm>
          <a:prstGeom prst="rect">
            <a:avLst/>
          </a:prstGeom>
          <a:noFill/>
        </p:spPr>
        <p:txBody>
          <a:bodyPr wrap="square" lIns="0" tIns="0" rIns="0" bIns="0" rtlCol="0" anchor="ctr"/>
          <a:lstStyle/>
          <a:p>
            <a:pPr marL="0" indent="0">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4.12 W</a:t>
            </a:r>
            <a:endParaRPr lang="en-US" sz="2300" dirty="0"/>
          </a:p>
        </p:txBody>
      </p:sp>
      <p:sp>
        <p:nvSpPr>
          <p:cNvPr id="22" name="Text 17"/>
          <p:cNvSpPr/>
          <p:nvPr/>
        </p:nvSpPr>
        <p:spPr>
          <a:xfrm>
            <a:off x="7909560" y="4306570"/>
            <a:ext cx="3474720" cy="256032"/>
          </a:xfrm>
          <a:prstGeom prst="rect">
            <a:avLst/>
          </a:prstGeom>
          <a:noFill/>
        </p:spPr>
        <p:txBody>
          <a:bodyPr wrap="square" lIns="0" tIns="0" rIns="0" bIns="0" rtlCol="0" anchor="ctr"/>
          <a:lstStyle/>
          <a:p>
            <a:pPr marL="0" indent="0">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增量功耗 · 单次能耗 114.2 mJ</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18"/>
          <p:cNvSpPr/>
          <p:nvPr/>
        </p:nvSpPr>
        <p:spPr>
          <a:xfrm>
            <a:off x="7909560" y="4694047"/>
            <a:ext cx="3474720" cy="365760"/>
          </a:xfrm>
          <a:prstGeom prst="rect">
            <a:avLst/>
          </a:prstGeom>
          <a:noFill/>
        </p:spPr>
        <p:txBody>
          <a:bodyPr wrap="square" lIns="0" tIns="0" rIns="0" bIns="0" rtlCol="0" anchor="ctr"/>
          <a:lstStyle/>
          <a:p>
            <a:pPr marL="0" indent="0">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18.1 ips/W</a:t>
            </a:r>
            <a:endParaRPr lang="en-US" sz="2300" dirty="0"/>
          </a:p>
        </p:txBody>
      </p:sp>
      <p:sp>
        <p:nvSpPr>
          <p:cNvPr id="24" name="Text 19"/>
          <p:cNvSpPr/>
          <p:nvPr/>
        </p:nvSpPr>
        <p:spPr>
          <a:xfrm>
            <a:off x="7909560" y="5047615"/>
            <a:ext cx="3474720" cy="564515"/>
          </a:xfrm>
          <a:prstGeom prst="rect">
            <a:avLst/>
          </a:prstGeom>
          <a:noFill/>
        </p:spPr>
        <p:txBody>
          <a:bodyPr wrap="square" lIns="0" tIns="0" rIns="0" bIns="0" rtlCol="0" anchor="ctr"/>
          <a:lstStyle/>
          <a:p>
            <a:pPr marL="0" indent="0">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性能功耗比 · 较 CPU INT8 节能约 7.1 倍</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0"/>
          <p:cNvSpPr/>
          <p:nvPr/>
        </p:nvSpPr>
        <p:spPr>
          <a:xfrm>
            <a:off x="7909560" y="5651500"/>
            <a:ext cx="3474720" cy="805180"/>
          </a:xfrm>
          <a:prstGeom prst="rect">
            <a:avLst/>
          </a:prstGeom>
          <a:noFill/>
        </p:spPr>
        <p:txBody>
          <a:bodyPr wrap="square" lIns="0" tIns="0" rIns="0" bIns="0" rtlCol="0" anchor="t"/>
          <a:lstStyle/>
          <a:p>
            <a:pPr marL="0" indent="0">
              <a:lnSpc>
                <a:spcPct val="100000"/>
              </a:lnSpc>
              <a:buNone/>
            </a:pPr>
            <a:r>
              <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INT8 由 144 张校准图后量化，模型 22 → 11 MB，NPU 吞吐由 60.4 不降反升至 74.7 img/s。</a:t>
            </a:r>
            <a:endPar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Text 22"/>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第六章 · Intel DK-2500 边缘部署</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端侧教学解释小模型的蒸馏（RAD）</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417320"/>
            <a:ext cx="7315200" cy="29260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双教师检索增强蒸馏闭环</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1828800"/>
            <a:ext cx="2567940" cy="2231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nvSpPr>
        <p:spPr>
          <a:xfrm>
            <a:off x="548640" y="1828800"/>
            <a:ext cx="76200" cy="2231390"/>
          </a:xfrm>
          <a:prstGeom prst="rect">
            <a:avLst/>
          </a:prstGeom>
          <a:solidFill>
            <a:srgbClr val="4472C4"/>
          </a:solidFill>
        </p:spPr>
      </p:sp>
      <p:sp>
        <p:nvSpPr>
          <p:cNvPr id="14" name="Shape 11"/>
          <p:cNvSpPr/>
          <p:nvPr/>
        </p:nvSpPr>
        <p:spPr>
          <a:xfrm>
            <a:off x="1594828" y="2011680"/>
            <a:ext cx="475488" cy="475488"/>
          </a:xfrm>
          <a:prstGeom prst="ellipse">
            <a:avLst/>
          </a:prstGeom>
          <a:solidFill>
            <a:srgbClr val="14326C"/>
          </a:solidFill>
        </p:spPr>
      </p:sp>
      <p:sp>
        <p:nvSpPr>
          <p:cNvPr id="15" name="Text 12"/>
          <p:cNvSpPr/>
          <p:nvPr/>
        </p:nvSpPr>
        <p:spPr>
          <a:xfrm>
            <a:off x="1594828" y="2011680"/>
            <a:ext cx="475488" cy="475488"/>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2000" dirty="0"/>
          </a:p>
        </p:txBody>
      </p:sp>
      <p:sp>
        <p:nvSpPr>
          <p:cNvPr id="16" name="Text 13"/>
          <p:cNvSpPr/>
          <p:nvPr/>
        </p:nvSpPr>
        <p:spPr>
          <a:xfrm>
            <a:off x="640080" y="2542032"/>
            <a:ext cx="2384984" cy="274320"/>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证据冻结</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4"/>
          <p:cNvSpPr/>
          <p:nvPr/>
        </p:nvSpPr>
        <p:spPr>
          <a:xfrm>
            <a:off x="685800" y="2898648"/>
            <a:ext cx="2293544" cy="502920"/>
          </a:xfrm>
          <a:prstGeom prst="rect">
            <a:avLst/>
          </a:prstGeom>
          <a:noFill/>
        </p:spPr>
        <p:txBody>
          <a:bodyPr wrap="square" lIns="0" tIns="0" rIns="0" bIns="0" rtlCol="0" anchor="t"/>
          <a:lstStyle/>
          <a:p>
            <a:pPr marL="0" indent="0" algn="ctr">
              <a:lnSpc>
                <a:spcPct val="100000"/>
              </a:lnSpc>
              <a:buNone/>
            </a:pPr>
            <a:r>
              <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scene · error codes · fault cases · datasheet · snapshot</a:t>
            </a:r>
            <a:endPar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Text 15"/>
          <p:cNvSpPr/>
          <p:nvPr/>
        </p:nvSpPr>
        <p:spPr>
          <a:xfrm>
            <a:off x="685800" y="3525012"/>
            <a:ext cx="2293544" cy="256032"/>
          </a:xfrm>
          <a:prstGeom prst="rect">
            <a:avLst/>
          </a:prstGeom>
          <a:noFill/>
        </p:spPr>
        <p:txBody>
          <a:bodyPr wrap="square" lIns="0" tIns="0" rIns="0" bIns="0" rtlCol="0" anchor="t"/>
          <a:lstStyle/>
          <a:p>
            <a:pPr marL="0" indent="0" algn="ctr">
              <a:buNone/>
            </a:pPr>
            <a:r>
              <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缺/非法场景拒绝生成</a:t>
            </a:r>
            <a:endPar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Text 16"/>
          <p:cNvSpPr/>
          <p:nvPr/>
        </p:nvSpPr>
        <p:spPr>
          <a:xfrm>
            <a:off x="3098216" y="2811780"/>
            <a:ext cx="292608" cy="457200"/>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20" name="Shape 17"/>
          <p:cNvSpPr/>
          <p:nvPr/>
        </p:nvSpPr>
        <p:spPr>
          <a:xfrm>
            <a:off x="3390900" y="1828800"/>
            <a:ext cx="2567940" cy="2231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1" name="Shape 18"/>
          <p:cNvSpPr/>
          <p:nvPr/>
        </p:nvSpPr>
        <p:spPr>
          <a:xfrm>
            <a:off x="3390900" y="1828800"/>
            <a:ext cx="76200" cy="2231390"/>
          </a:xfrm>
          <a:prstGeom prst="rect">
            <a:avLst/>
          </a:prstGeom>
          <a:solidFill>
            <a:srgbClr val="4472C4"/>
          </a:solidFill>
        </p:spPr>
      </p:sp>
      <p:sp>
        <p:nvSpPr>
          <p:cNvPr id="22" name="Shape 19"/>
          <p:cNvSpPr/>
          <p:nvPr/>
        </p:nvSpPr>
        <p:spPr>
          <a:xfrm>
            <a:off x="4437012" y="2011680"/>
            <a:ext cx="475488" cy="475488"/>
          </a:xfrm>
          <a:prstGeom prst="ellipse">
            <a:avLst/>
          </a:prstGeom>
          <a:solidFill>
            <a:srgbClr val="14326C"/>
          </a:solidFill>
        </p:spPr>
      </p:sp>
      <p:sp>
        <p:nvSpPr>
          <p:cNvPr id="23" name="Text 20"/>
          <p:cNvSpPr/>
          <p:nvPr/>
        </p:nvSpPr>
        <p:spPr>
          <a:xfrm>
            <a:off x="4437012" y="2011680"/>
            <a:ext cx="475488" cy="475488"/>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2000" dirty="0"/>
          </a:p>
        </p:txBody>
      </p:sp>
      <p:sp>
        <p:nvSpPr>
          <p:cNvPr id="24" name="Text 21"/>
          <p:cNvSpPr/>
          <p:nvPr/>
        </p:nvSpPr>
        <p:spPr>
          <a:xfrm>
            <a:off x="3482264" y="2542032"/>
            <a:ext cx="2384984" cy="274320"/>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双教师生成</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2"/>
          <p:cNvSpPr/>
          <p:nvPr/>
        </p:nvSpPr>
        <p:spPr>
          <a:xfrm>
            <a:off x="3527984" y="2898648"/>
            <a:ext cx="2293544" cy="502920"/>
          </a:xfrm>
          <a:prstGeom prst="rect">
            <a:avLst/>
          </a:prstGeom>
          <a:noFill/>
        </p:spPr>
        <p:txBody>
          <a:bodyPr wrap="square" lIns="0" tIns="0" rIns="0" bIns="0" rtlCol="0" anchor="t"/>
          <a:lstStyle/>
          <a:p>
            <a:pPr marL="0" indent="0" algn="ctr">
              <a:lnSpc>
                <a:spcPct val="100000"/>
              </a:lnSpc>
              <a:buNone/>
            </a:pPr>
            <a:r>
              <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Qwen3-32B (本地) + DeepSeek-V3 (云端) 同证据作答</a:t>
            </a:r>
            <a:endPar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Text 23"/>
          <p:cNvSpPr/>
          <p:nvPr/>
        </p:nvSpPr>
        <p:spPr>
          <a:xfrm>
            <a:off x="3527984" y="3525012"/>
            <a:ext cx="2293544" cy="256032"/>
          </a:xfrm>
          <a:prstGeom prst="rect">
            <a:avLst/>
          </a:prstGeom>
          <a:noFill/>
        </p:spPr>
        <p:txBody>
          <a:bodyPr wrap="square" lIns="0" tIns="0" rIns="0" bIns="0" rtlCol="0" anchor="t"/>
          <a:lstStyle/>
          <a:p>
            <a:pPr marL="0" indent="0" algn="ctr">
              <a:buNone/>
            </a:pPr>
            <a:r>
              <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教师只能引用已给证据</a:t>
            </a:r>
            <a:endPar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Text 24"/>
          <p:cNvSpPr/>
          <p:nvPr/>
        </p:nvSpPr>
        <p:spPr>
          <a:xfrm>
            <a:off x="5940400" y="2811780"/>
            <a:ext cx="292608" cy="457200"/>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28" name="Shape 25"/>
          <p:cNvSpPr/>
          <p:nvPr/>
        </p:nvSpPr>
        <p:spPr>
          <a:xfrm>
            <a:off x="6233160" y="1828800"/>
            <a:ext cx="2567940" cy="2231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9" name="Shape 26"/>
          <p:cNvSpPr/>
          <p:nvPr/>
        </p:nvSpPr>
        <p:spPr>
          <a:xfrm>
            <a:off x="6233160" y="1828800"/>
            <a:ext cx="76200" cy="2231390"/>
          </a:xfrm>
          <a:prstGeom prst="rect">
            <a:avLst/>
          </a:prstGeom>
          <a:solidFill>
            <a:srgbClr val="4472C4"/>
          </a:solidFill>
        </p:spPr>
      </p:sp>
      <p:sp>
        <p:nvSpPr>
          <p:cNvPr id="30" name="Shape 27"/>
          <p:cNvSpPr/>
          <p:nvPr/>
        </p:nvSpPr>
        <p:spPr>
          <a:xfrm>
            <a:off x="7279196" y="2011680"/>
            <a:ext cx="475488" cy="475488"/>
          </a:xfrm>
          <a:prstGeom prst="ellipse">
            <a:avLst/>
          </a:prstGeom>
          <a:solidFill>
            <a:srgbClr val="14326C"/>
          </a:solidFill>
        </p:spPr>
      </p:sp>
      <p:sp>
        <p:nvSpPr>
          <p:cNvPr id="31" name="Text 28"/>
          <p:cNvSpPr/>
          <p:nvPr/>
        </p:nvSpPr>
        <p:spPr>
          <a:xfrm>
            <a:off x="7279196" y="2011680"/>
            <a:ext cx="475488" cy="475488"/>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2000" dirty="0"/>
          </a:p>
        </p:txBody>
      </p:sp>
      <p:sp>
        <p:nvSpPr>
          <p:cNvPr id="32" name="Text 29"/>
          <p:cNvSpPr/>
          <p:nvPr/>
        </p:nvSpPr>
        <p:spPr>
          <a:xfrm>
            <a:off x="6324448" y="2542032"/>
            <a:ext cx="2384984" cy="274320"/>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学生微调</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30"/>
          <p:cNvSpPr/>
          <p:nvPr/>
        </p:nvSpPr>
        <p:spPr>
          <a:xfrm>
            <a:off x="6370168" y="2898648"/>
            <a:ext cx="2293544" cy="502920"/>
          </a:xfrm>
          <a:prstGeom prst="rect">
            <a:avLst/>
          </a:prstGeom>
          <a:noFill/>
        </p:spPr>
        <p:txBody>
          <a:bodyPr wrap="square" lIns="0" tIns="0" rIns="0" bIns="0" rtlCol="0" anchor="t"/>
          <a:lstStyle/>
          <a:p>
            <a:pPr marL="0" indent="0" algn="ctr">
              <a:lnSpc>
                <a:spcPct val="100000"/>
              </a:lnSpc>
              <a:buNone/>
            </a:pPr>
            <a:r>
              <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Qwen2.5-1.5B-Instruct + LoRA，正式 SFT 约 3450 条</a:t>
            </a:r>
            <a:endPar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Text 31"/>
          <p:cNvSpPr/>
          <p:nvPr/>
        </p:nvSpPr>
        <p:spPr>
          <a:xfrm>
            <a:off x="6370168" y="3525012"/>
            <a:ext cx="2293544" cy="256032"/>
          </a:xfrm>
          <a:prstGeom prst="rect">
            <a:avLst/>
          </a:prstGeom>
          <a:noFill/>
        </p:spPr>
        <p:txBody>
          <a:bodyPr wrap="square" lIns="0" tIns="0" rIns="0" bIns="0" rtlCol="0" anchor="t"/>
          <a:lstStyle/>
          <a:p>
            <a:pPr marL="0" indent="0" algn="ctr">
              <a:buNone/>
            </a:pPr>
            <a:r>
              <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训练样本与部署契约一致</a:t>
            </a:r>
            <a:endPar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Text 32"/>
          <p:cNvSpPr/>
          <p:nvPr/>
        </p:nvSpPr>
        <p:spPr>
          <a:xfrm>
            <a:off x="8782583" y="2811780"/>
            <a:ext cx="292608" cy="457200"/>
          </a:xfrm>
          <a:prstGeom prst="rect">
            <a:avLst/>
          </a:prstGeom>
          <a:noFill/>
        </p:spPr>
        <p:txBody>
          <a:bodyPr wrap="square" lIns="0" tIns="0" rIns="0" bIns="0" rtlCol="0" anchor="ctr"/>
          <a:lstStyle/>
          <a:p>
            <a:pPr marL="0" indent="0" algn="ctr">
              <a:buNone/>
            </a:pPr>
            <a:r>
              <a:rPr lang="en-US" sz="18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800" dirty="0"/>
          </a:p>
        </p:txBody>
      </p:sp>
      <p:sp>
        <p:nvSpPr>
          <p:cNvPr id="36" name="Shape 33"/>
          <p:cNvSpPr/>
          <p:nvPr/>
        </p:nvSpPr>
        <p:spPr>
          <a:xfrm>
            <a:off x="9075420" y="1828800"/>
            <a:ext cx="2567940" cy="2231390"/>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7" name="Shape 34"/>
          <p:cNvSpPr/>
          <p:nvPr/>
        </p:nvSpPr>
        <p:spPr>
          <a:xfrm>
            <a:off x="9075420" y="1828800"/>
            <a:ext cx="76200" cy="2231390"/>
          </a:xfrm>
          <a:prstGeom prst="rect">
            <a:avLst/>
          </a:prstGeom>
          <a:solidFill>
            <a:srgbClr val="4472C4"/>
          </a:solidFill>
        </p:spPr>
      </p:sp>
      <p:sp>
        <p:nvSpPr>
          <p:cNvPr id="38" name="Shape 35"/>
          <p:cNvSpPr/>
          <p:nvPr/>
        </p:nvSpPr>
        <p:spPr>
          <a:xfrm>
            <a:off x="10121379" y="2011680"/>
            <a:ext cx="475488" cy="475488"/>
          </a:xfrm>
          <a:prstGeom prst="ellipse">
            <a:avLst/>
          </a:prstGeom>
          <a:solidFill>
            <a:srgbClr val="14326C"/>
          </a:solidFill>
        </p:spPr>
      </p:sp>
      <p:sp>
        <p:nvSpPr>
          <p:cNvPr id="39" name="Text 36"/>
          <p:cNvSpPr/>
          <p:nvPr/>
        </p:nvSpPr>
        <p:spPr>
          <a:xfrm>
            <a:off x="10121379" y="2011680"/>
            <a:ext cx="475488" cy="475488"/>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2000" dirty="0"/>
          </a:p>
        </p:txBody>
      </p:sp>
      <p:sp>
        <p:nvSpPr>
          <p:cNvPr id="40" name="Text 37"/>
          <p:cNvSpPr/>
          <p:nvPr/>
        </p:nvSpPr>
        <p:spPr>
          <a:xfrm>
            <a:off x="9166631" y="2542032"/>
            <a:ext cx="2384984" cy="274320"/>
          </a:xfrm>
          <a:prstGeom prst="rect">
            <a:avLst/>
          </a:prstGeom>
          <a:noFill/>
        </p:spPr>
        <p:txBody>
          <a:bodyPr wrap="square" lIns="0" tIns="0" rIns="0" bIns="0" rtlCol="0" anchor="ctr"/>
          <a:lstStyle/>
          <a:p>
            <a:pPr marL="0" indent="0" algn="ctr">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INT4 导出</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8"/>
          <p:cNvSpPr/>
          <p:nvPr/>
        </p:nvSpPr>
        <p:spPr>
          <a:xfrm>
            <a:off x="9212351" y="2898648"/>
            <a:ext cx="2293544" cy="502920"/>
          </a:xfrm>
          <a:prstGeom prst="rect">
            <a:avLst/>
          </a:prstGeom>
          <a:noFill/>
        </p:spPr>
        <p:txBody>
          <a:bodyPr wrap="square" lIns="0" tIns="0" rIns="0" bIns="0" rtlCol="0" anchor="t"/>
          <a:lstStyle/>
          <a:p>
            <a:pPr marL="0" indent="0" algn="ctr">
              <a:lnSpc>
                <a:spcPct val="100000"/>
              </a:lnSpc>
              <a:buNone/>
            </a:pPr>
            <a:r>
              <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OpenVINO INT4 迁移到 DK-2500 iGPU</a:t>
            </a:r>
            <a:endParaRPr lang="en-US" sz="12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Text 39"/>
          <p:cNvSpPr/>
          <p:nvPr/>
        </p:nvSpPr>
        <p:spPr>
          <a:xfrm>
            <a:off x="9212351" y="3525012"/>
            <a:ext cx="2293544" cy="256032"/>
          </a:xfrm>
          <a:prstGeom prst="rect">
            <a:avLst/>
          </a:prstGeom>
          <a:noFill/>
        </p:spPr>
        <p:txBody>
          <a:bodyPr wrap="square" lIns="0" tIns="0" rIns="0" bIns="0" rtlCol="0" anchor="t"/>
          <a:lstStyle/>
          <a:p>
            <a:pPr marL="0" indent="0" algn="ctr">
              <a:buNone/>
            </a:pPr>
            <a:r>
              <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板端验证吞吐/内存/功耗</a:t>
            </a:r>
            <a:endParaRPr lang="en-US" sz="1600" i="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3" name="Text 40"/>
          <p:cNvSpPr/>
          <p:nvPr/>
        </p:nvSpPr>
        <p:spPr>
          <a:xfrm>
            <a:off x="548640" y="4351020"/>
            <a:ext cx="7315200" cy="59055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双教师并行候选生成 — 可量化的互补增益</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4" name="Shape 41"/>
          <p:cNvSpPr/>
          <p:nvPr/>
        </p:nvSpPr>
        <p:spPr>
          <a:xfrm>
            <a:off x="335280" y="5097780"/>
            <a:ext cx="2697480" cy="1238250"/>
          </a:xfrm>
          <a:prstGeom prst="rect">
            <a:avLst/>
          </a:prstGeom>
          <a:solidFill>
            <a:srgbClr val="F3F5F9"/>
          </a:solidFill>
          <a:ln w="12700">
            <a:solidFill>
              <a:srgbClr val="CFD5EA"/>
            </a:solidFill>
            <a:prstDash val="solid"/>
          </a:ln>
          <a:effectLst>
            <a:outerShdw blurRad="76200" dist="25400" dir="5400000" algn="bl" rotWithShape="0">
              <a:srgbClr val="9AAFD0">
                <a:alpha val="10000"/>
              </a:srgbClr>
            </a:outerShdw>
          </a:effectLst>
        </p:spPr>
      </p:sp>
      <p:sp>
        <p:nvSpPr>
          <p:cNvPr id="45" name="Shape 42"/>
          <p:cNvSpPr/>
          <p:nvPr/>
        </p:nvSpPr>
        <p:spPr>
          <a:xfrm>
            <a:off x="335280" y="5097780"/>
            <a:ext cx="76200" cy="1238250"/>
          </a:xfrm>
          <a:prstGeom prst="rect">
            <a:avLst/>
          </a:prstGeom>
          <a:solidFill>
            <a:srgbClr val="4472C4"/>
          </a:solidFill>
        </p:spPr>
      </p:sp>
      <p:sp>
        <p:nvSpPr>
          <p:cNvPr id="46" name="Text 43"/>
          <p:cNvSpPr/>
          <p:nvPr/>
        </p:nvSpPr>
        <p:spPr>
          <a:xfrm>
            <a:off x="563880" y="5189220"/>
            <a:ext cx="2331720" cy="457200"/>
          </a:xfrm>
          <a:prstGeom prst="rect">
            <a:avLst/>
          </a:prstGeom>
          <a:noFill/>
        </p:spPr>
        <p:txBody>
          <a:bodyPr wrap="square" lIns="0" tIns="0" rIns="0" bIns="0" rtlCol="0" anchor="ctr"/>
          <a:lstStyle/>
          <a:p>
            <a:pPr marL="0" indent="0">
              <a:buNone/>
            </a:pPr>
            <a:r>
              <a:rPr lang="en-US" sz="26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67.8%</a:t>
            </a:r>
            <a:endParaRPr lang="en-US" sz="2600" dirty="0"/>
          </a:p>
        </p:txBody>
      </p:sp>
      <p:sp>
        <p:nvSpPr>
          <p:cNvPr id="48" name="Shape 45"/>
          <p:cNvSpPr/>
          <p:nvPr/>
        </p:nvSpPr>
        <p:spPr>
          <a:xfrm>
            <a:off x="3288665" y="5097780"/>
            <a:ext cx="2697480" cy="1238250"/>
          </a:xfrm>
          <a:prstGeom prst="rect">
            <a:avLst/>
          </a:prstGeom>
          <a:solidFill>
            <a:srgbClr val="F3F5F9"/>
          </a:solidFill>
          <a:ln w="12700">
            <a:solidFill>
              <a:srgbClr val="CFD5EA"/>
            </a:solidFill>
            <a:prstDash val="solid"/>
          </a:ln>
          <a:effectLst>
            <a:outerShdw blurRad="76200" dist="25400" dir="5400000" algn="bl" rotWithShape="0">
              <a:srgbClr val="9AAFD0">
                <a:alpha val="10000"/>
              </a:srgbClr>
            </a:outerShdw>
          </a:effectLst>
        </p:spPr>
      </p:sp>
      <p:sp>
        <p:nvSpPr>
          <p:cNvPr id="49" name="Shape 46"/>
          <p:cNvSpPr/>
          <p:nvPr/>
        </p:nvSpPr>
        <p:spPr>
          <a:xfrm>
            <a:off x="3288665" y="5097780"/>
            <a:ext cx="76200" cy="1238250"/>
          </a:xfrm>
          <a:prstGeom prst="rect">
            <a:avLst/>
          </a:prstGeom>
          <a:solidFill>
            <a:srgbClr val="5B9BD5"/>
          </a:solidFill>
        </p:spPr>
      </p:sp>
      <p:sp>
        <p:nvSpPr>
          <p:cNvPr id="50" name="Text 47"/>
          <p:cNvSpPr/>
          <p:nvPr/>
        </p:nvSpPr>
        <p:spPr>
          <a:xfrm>
            <a:off x="3517392" y="5189220"/>
            <a:ext cx="2331720" cy="457200"/>
          </a:xfrm>
          <a:prstGeom prst="rect">
            <a:avLst/>
          </a:prstGeom>
          <a:noFill/>
        </p:spPr>
        <p:txBody>
          <a:bodyPr wrap="square" lIns="0" tIns="0" rIns="0" bIns="0" rtlCol="0" anchor="ctr"/>
          <a:lstStyle/>
          <a:p>
            <a:pPr marL="0" indent="0">
              <a:buNone/>
            </a:pPr>
            <a:r>
              <a:rPr lang="en-US" sz="2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56.8%</a:t>
            </a:r>
            <a:endParaRPr lang="en-US" sz="2600" dirty="0"/>
          </a:p>
        </p:txBody>
      </p:sp>
      <p:sp>
        <p:nvSpPr>
          <p:cNvPr id="52" name="Shape 49"/>
          <p:cNvSpPr/>
          <p:nvPr/>
        </p:nvSpPr>
        <p:spPr>
          <a:xfrm>
            <a:off x="6242050" y="5097780"/>
            <a:ext cx="2697480" cy="1238250"/>
          </a:xfrm>
          <a:prstGeom prst="rect">
            <a:avLst/>
          </a:prstGeom>
          <a:solidFill>
            <a:srgbClr val="F3F5F9"/>
          </a:solidFill>
          <a:ln w="12700">
            <a:solidFill>
              <a:srgbClr val="CFD5EA"/>
            </a:solidFill>
            <a:prstDash val="solid"/>
          </a:ln>
          <a:effectLst>
            <a:outerShdw blurRad="76200" dist="25400" dir="5400000" algn="bl" rotWithShape="0">
              <a:srgbClr val="9AAFD0">
                <a:alpha val="10000"/>
              </a:srgbClr>
            </a:outerShdw>
          </a:effectLst>
        </p:spPr>
      </p:sp>
      <p:sp>
        <p:nvSpPr>
          <p:cNvPr id="53" name="Shape 50"/>
          <p:cNvSpPr/>
          <p:nvPr/>
        </p:nvSpPr>
        <p:spPr>
          <a:xfrm>
            <a:off x="6242050" y="5097780"/>
            <a:ext cx="76200" cy="1238250"/>
          </a:xfrm>
          <a:prstGeom prst="rect">
            <a:avLst/>
          </a:prstGeom>
          <a:solidFill>
            <a:srgbClr val="14326C"/>
          </a:solidFill>
        </p:spPr>
      </p:sp>
      <p:sp>
        <p:nvSpPr>
          <p:cNvPr id="54" name="Text 51"/>
          <p:cNvSpPr/>
          <p:nvPr/>
        </p:nvSpPr>
        <p:spPr>
          <a:xfrm>
            <a:off x="6470904" y="5189220"/>
            <a:ext cx="2331720" cy="457200"/>
          </a:xfrm>
          <a:prstGeom prst="rect">
            <a:avLst/>
          </a:prstGeom>
          <a:noFill/>
        </p:spPr>
        <p:txBody>
          <a:bodyPr wrap="square" lIns="0" tIns="0" rIns="0" bIns="0" rtlCol="0" anchor="ctr"/>
          <a:lstStyle/>
          <a:p>
            <a:pPr marL="0" indent="0">
              <a:buNone/>
            </a:pPr>
            <a:r>
              <a:rPr lang="en-US" sz="26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82.4%</a:t>
            </a:r>
            <a:endParaRPr lang="en-US" sz="2600" dirty="0"/>
          </a:p>
        </p:txBody>
      </p:sp>
      <p:sp>
        <p:nvSpPr>
          <p:cNvPr id="55" name="Text 52"/>
          <p:cNvSpPr/>
          <p:nvPr/>
        </p:nvSpPr>
        <p:spPr>
          <a:xfrm>
            <a:off x="6470904" y="5727192"/>
            <a:ext cx="2331720" cy="384048"/>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双教师候选池  并行保留覆盖率</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6" name="Shape 53"/>
          <p:cNvSpPr/>
          <p:nvPr/>
        </p:nvSpPr>
        <p:spPr>
          <a:xfrm>
            <a:off x="9196070" y="5097780"/>
            <a:ext cx="2697480" cy="1238250"/>
          </a:xfrm>
          <a:prstGeom prst="rect">
            <a:avLst/>
          </a:prstGeom>
          <a:solidFill>
            <a:srgbClr val="F3F5F9"/>
          </a:solidFill>
          <a:ln w="12700">
            <a:solidFill>
              <a:srgbClr val="CFD5EA"/>
            </a:solidFill>
            <a:prstDash val="solid"/>
          </a:ln>
          <a:effectLst>
            <a:outerShdw blurRad="76200" dist="25400" dir="5400000" algn="bl" rotWithShape="0">
              <a:srgbClr val="9AAFD0">
                <a:alpha val="10000"/>
              </a:srgbClr>
            </a:outerShdw>
          </a:effectLst>
        </p:spPr>
      </p:sp>
      <p:sp>
        <p:nvSpPr>
          <p:cNvPr id="57" name="Shape 54"/>
          <p:cNvSpPr/>
          <p:nvPr/>
        </p:nvSpPr>
        <p:spPr>
          <a:xfrm>
            <a:off x="9196070" y="5097780"/>
            <a:ext cx="76200" cy="1238250"/>
          </a:xfrm>
          <a:prstGeom prst="rect">
            <a:avLst/>
          </a:prstGeom>
          <a:solidFill>
            <a:srgbClr val="1E8E6A"/>
          </a:solidFill>
        </p:spPr>
      </p:sp>
      <p:sp>
        <p:nvSpPr>
          <p:cNvPr id="58" name="Text 55"/>
          <p:cNvSpPr/>
          <p:nvPr/>
        </p:nvSpPr>
        <p:spPr>
          <a:xfrm>
            <a:off x="9424416" y="5189220"/>
            <a:ext cx="2331720" cy="457200"/>
          </a:xfrm>
          <a:prstGeom prst="rect">
            <a:avLst/>
          </a:prstGeom>
          <a:noFill/>
        </p:spPr>
        <p:txBody>
          <a:bodyPr wrap="square" lIns="0" tIns="0" rIns="0" bIns="0" rtlCol="0" anchor="ctr"/>
          <a:lstStyle/>
          <a:p>
            <a:pPr marL="0" indent="0">
              <a:buNone/>
            </a:pPr>
            <a:r>
              <a:rPr lang="en-US" sz="2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+14.7 pp</a:t>
            </a:r>
            <a:endParaRPr lang="en-US" sz="2600" dirty="0"/>
          </a:p>
        </p:txBody>
      </p:sp>
      <p:sp>
        <p:nvSpPr>
          <p:cNvPr id="59" name="Text 56"/>
          <p:cNvSpPr/>
          <p:nvPr/>
        </p:nvSpPr>
        <p:spPr>
          <a:xfrm>
            <a:off x="9424416" y="5727192"/>
            <a:ext cx="2331720" cy="384048"/>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相较稳定教师  单支路净增</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1" name="Text 58"/>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25</a:t>
            </a:r>
            <a:endParaRPr lang="en-US" sz="900" dirty="0"/>
          </a:p>
        </p:txBody>
      </p:sp>
      <p:sp>
        <p:nvSpPr>
          <p:cNvPr id="62" name="Text 44"/>
          <p:cNvSpPr/>
          <p:nvPr/>
        </p:nvSpPr>
        <p:spPr>
          <a:xfrm>
            <a:off x="563880" y="5727827"/>
            <a:ext cx="2331720" cy="384048"/>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DeepSeek 分支  高纯可用覆盖率</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3" name="Text 48"/>
          <p:cNvSpPr/>
          <p:nvPr/>
        </p:nvSpPr>
        <p:spPr>
          <a:xfrm>
            <a:off x="3517392" y="5727827"/>
            <a:ext cx="2331720" cy="384048"/>
          </a:xfrm>
          <a:prstGeom prst="rect">
            <a:avLst/>
          </a:prstGeom>
          <a:noFill/>
        </p:spPr>
        <p:txBody>
          <a:bodyPr wrap="square" lIns="0" tIns="0" rIns="0" bIns="0" rtlCol="0" anchor="t"/>
          <a:lstStyle/>
          <a:p>
            <a:pPr marL="0" indent="0">
              <a:lnSpc>
                <a:spcPct val="100000"/>
              </a:lnSpc>
              <a:buNone/>
            </a:pPr>
            <a:r>
              <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Qwen 分支  高纯可用覆盖率</a:t>
            </a:r>
            <a:endParaRPr lang="en-US" sz="14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第六章 · Intel DK-2500 边缘部署</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蒸馏训练集的筛样漏斗与分布</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4"/>
          <a:stretch>
            <a:fillRect/>
          </a:stretch>
        </p:blipFill>
        <p:spPr>
          <a:xfrm>
            <a:off x="11231575" y="411480"/>
            <a:ext cx="237744" cy="237744"/>
          </a:xfrm>
          <a:prstGeom prst="rect">
            <a:avLst/>
          </a:prstGeom>
        </p:spPr>
      </p:pic>
      <p:sp>
        <p:nvSpPr>
          <p:cNvPr id="11" name="Text 8"/>
          <p:cNvSpPr/>
          <p:nvPr/>
        </p:nvSpPr>
        <p:spPr>
          <a:xfrm>
            <a:off x="548640" y="1463040"/>
            <a:ext cx="3657600" cy="27432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筛样漏斗</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12" name="Chart 0"/>
          <p:cNvGraphicFramePr/>
          <p:nvPr/>
        </p:nvGraphicFramePr>
        <p:xfrm>
          <a:off x="548640" y="1783080"/>
          <a:ext cx="3657600" cy="1828800"/>
        </p:xfrm>
        <a:graphic>
          <a:graphicData uri="http://schemas.openxmlformats.org/drawingml/2006/chart">
            <c:chart xmlns:c="http://schemas.openxmlformats.org/drawingml/2006/chart" xmlns:r="http://schemas.openxmlformats.org/officeDocument/2006/relationships" r:id="rId1"/>
          </a:graphicData>
        </a:graphic>
      </p:graphicFrame>
      <p:sp>
        <p:nvSpPr>
          <p:cNvPr id="13" name="Text 9"/>
          <p:cNvSpPr/>
          <p:nvPr/>
        </p:nvSpPr>
        <p:spPr>
          <a:xfrm>
            <a:off x="4572000" y="1463040"/>
            <a:ext cx="3657600" cy="27432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意图分布</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14" name="Chart 1"/>
          <p:cNvGraphicFramePr/>
          <p:nvPr/>
        </p:nvGraphicFramePr>
        <p:xfrm>
          <a:off x="4177030" y="1787525"/>
          <a:ext cx="3915410" cy="1865630"/>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 10"/>
          <p:cNvSpPr/>
          <p:nvPr/>
        </p:nvSpPr>
        <p:spPr>
          <a:xfrm>
            <a:off x="8229600" y="1463040"/>
            <a:ext cx="3657600" cy="27432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六类场景分布</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16" name="Chart 2"/>
          <p:cNvGraphicFramePr/>
          <p:nvPr/>
        </p:nvGraphicFramePr>
        <p:xfrm>
          <a:off x="8092440" y="1783080"/>
          <a:ext cx="356616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1"/>
          <p:cNvSpPr/>
          <p:nvPr/>
        </p:nvSpPr>
        <p:spPr>
          <a:xfrm>
            <a:off x="548640" y="3977640"/>
            <a:ext cx="11094720" cy="2190115"/>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18" name="Shape 12"/>
          <p:cNvSpPr/>
          <p:nvPr/>
        </p:nvSpPr>
        <p:spPr>
          <a:xfrm>
            <a:off x="548640" y="3977640"/>
            <a:ext cx="76200" cy="2190115"/>
          </a:xfrm>
          <a:prstGeom prst="rect">
            <a:avLst/>
          </a:prstGeom>
          <a:solidFill>
            <a:srgbClr val="5B9BD5"/>
          </a:solidFill>
        </p:spPr>
      </p:sp>
      <p:sp>
        <p:nvSpPr>
          <p:cNvPr id="19" name="Text 13"/>
          <p:cNvSpPr/>
          <p:nvPr/>
        </p:nvSpPr>
        <p:spPr>
          <a:xfrm>
            <a:off x="822960" y="4114800"/>
            <a:ext cx="3657600" cy="446405"/>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分布复核结论</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Text 14"/>
          <p:cNvSpPr/>
          <p:nvPr>
            <p:custDataLst>
              <p:tags r:id="rId5"/>
            </p:custDataLst>
          </p:nvPr>
        </p:nvSpPr>
        <p:spPr>
          <a:xfrm>
            <a:off x="822960" y="4762500"/>
            <a:ext cx="1371600" cy="292608"/>
          </a:xfrm>
          <a:prstGeom prst="rect">
            <a:avLst/>
          </a:prstGeom>
          <a:noFill/>
        </p:spPr>
        <p:txBody>
          <a:bodyPr wrap="square" lIns="0" tIns="0" rIns="0" bIns="0" rtlCol="0" anchor="t"/>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风险等级</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5"/>
          <p:cNvSpPr/>
          <p:nvPr>
            <p:custDataLst>
              <p:tags r:id="rId6"/>
            </p:custDataLst>
          </p:nvPr>
        </p:nvSpPr>
        <p:spPr>
          <a:xfrm>
            <a:off x="2240280" y="4762500"/>
            <a:ext cx="9144000" cy="292608"/>
          </a:xfrm>
          <a:prstGeom prst="rect">
            <a:avLst/>
          </a:prstGeom>
          <a:noFill/>
        </p:spPr>
        <p:txBody>
          <a:bodyPr wrap="square" lIns="0" tIns="0" rIns="0" bIns="0" rtlCol="0" anchor="t"/>
          <a:lstStyle/>
          <a:p>
            <a:pPr marL="0" indent="0">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warning 81.9% 为主，danger 5.5%、safe 12.6%，符合排障问答主体形态</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Text 16"/>
          <p:cNvSpPr/>
          <p:nvPr>
            <p:custDataLst>
              <p:tags r:id="rId7"/>
            </p:custDataLst>
          </p:nvPr>
        </p:nvSpPr>
        <p:spPr>
          <a:xfrm>
            <a:off x="822960" y="5180076"/>
            <a:ext cx="1371600" cy="292608"/>
          </a:xfrm>
          <a:prstGeom prst="rect">
            <a:avLst/>
          </a:prstGeom>
          <a:noFill/>
        </p:spPr>
        <p:txBody>
          <a:bodyPr wrap="square" lIns="0" tIns="0" rIns="0" bIns="0" rtlCol="0" anchor="t"/>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高频错误</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Text 17"/>
          <p:cNvSpPr/>
          <p:nvPr>
            <p:custDataLst>
              <p:tags r:id="rId8"/>
            </p:custDataLst>
          </p:nvPr>
        </p:nvSpPr>
        <p:spPr>
          <a:xfrm>
            <a:off x="2240280" y="5180076"/>
            <a:ext cx="9144000" cy="292608"/>
          </a:xfrm>
          <a:prstGeom prst="rect">
            <a:avLst/>
          </a:prstGeom>
          <a:noFill/>
        </p:spPr>
        <p:txBody>
          <a:bodyPr wrap="square" lIns="0" tIns="0" rIns="0" bIns="0" rtlCol="0" anchor="t"/>
          <a:lstStyle/>
          <a:p>
            <a:pPr marL="0" indent="0">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缺件 27.5% · 悬空连接 27.1% · 节点错接 19.7%，短路与未完成虽少但显式保留</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18"/>
          <p:cNvSpPr/>
          <p:nvPr>
            <p:custDataLst>
              <p:tags r:id="rId9"/>
            </p:custDataLst>
          </p:nvPr>
        </p:nvSpPr>
        <p:spPr>
          <a:xfrm>
            <a:off x="822960" y="5590032"/>
            <a:ext cx="1371600" cy="292608"/>
          </a:xfrm>
          <a:prstGeom prst="rect">
            <a:avLst/>
          </a:prstGeom>
          <a:noFill/>
        </p:spPr>
        <p:txBody>
          <a:bodyPr wrap="square" lIns="0" tIns="0" rIns="0" bIns="0" rtlCol="0" anchor="t"/>
          <a:lstStyle/>
          <a:p>
            <a:pPr marL="0" indent="0">
              <a:buNone/>
            </a:pPr>
            <a:r>
              <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工具绑定</a:t>
            </a:r>
            <a:endParaRPr lang="en-US"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19"/>
          <p:cNvSpPr/>
          <p:nvPr>
            <p:custDataLst>
              <p:tags r:id="rId10"/>
            </p:custDataLst>
          </p:nvPr>
        </p:nvSpPr>
        <p:spPr>
          <a:xfrm>
            <a:off x="2240280" y="5589905"/>
            <a:ext cx="9364980" cy="292735"/>
          </a:xfrm>
          <a:prstGeom prst="rect">
            <a:avLst/>
          </a:prstGeom>
          <a:noFill/>
        </p:spPr>
        <p:txBody>
          <a:bodyPr wrap="square" lIns="0" tIns="0" rIns="0" bIns="0" rtlCol="0" anchor="t"/>
          <a:lstStyle/>
          <a:p>
            <a:pPr marL="0" indent="0">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全部样本绑定 fault_case_lookup_tool，83.7% 允许 circuit_lookup，保留完整契约上下文</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Text 21"/>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7</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第七章 · 实验验证与结果分析</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关键量化结果汇总</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417320"/>
            <a:ext cx="10972800" cy="320040"/>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主要证据并不集中于单一模型精度，而是覆盖六个维度的可验证闭环</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custDataLst>
              <p:tags r:id="rId2"/>
            </p:custDataLst>
          </p:nvPr>
        </p:nvSpPr>
        <p:spPr>
          <a:xfrm>
            <a:off x="548640" y="2042160"/>
            <a:ext cx="5349240" cy="1078992"/>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custDataLst>
              <p:tags r:id="rId3"/>
            </p:custDataLst>
          </p:nvPr>
        </p:nvSpPr>
        <p:spPr>
          <a:xfrm>
            <a:off x="548640" y="2042160"/>
            <a:ext cx="73152" cy="1078992"/>
          </a:xfrm>
          <a:prstGeom prst="rect">
            <a:avLst/>
          </a:prstGeom>
          <a:solidFill>
            <a:srgbClr val="5B9BD5"/>
          </a:solidFill>
        </p:spPr>
      </p:sp>
      <p:sp>
        <p:nvSpPr>
          <p:cNvPr id="14" name="Shape 11"/>
          <p:cNvSpPr/>
          <p:nvPr>
            <p:custDataLst>
              <p:tags r:id="rId4"/>
            </p:custDataLst>
          </p:nvPr>
        </p:nvSpPr>
        <p:spPr>
          <a:xfrm>
            <a:off x="768096" y="2343912"/>
            <a:ext cx="493776" cy="493776"/>
          </a:xfrm>
          <a:prstGeom prst="roundRect">
            <a:avLst>
              <a:gd name="adj" fmla="val 22000"/>
            </a:avLst>
          </a:prstGeom>
          <a:solidFill>
            <a:schemeClr val="accent1">
              <a:lumMod val="40000"/>
              <a:lumOff val="60000"/>
            </a:schemeClr>
          </a:solidFill>
        </p:spPr>
      </p:sp>
      <p:pic>
        <p:nvPicPr>
          <p:cNvPr id="15" name="Image 1" descr="preencoded.png"/>
          <p:cNvPicPr>
            <a:picLocks noChangeAspect="1"/>
          </p:cNvPicPr>
          <p:nvPr>
            <p:custDataLst>
              <p:tags r:id="rId5"/>
            </p:custDataLst>
          </p:nvPr>
        </p:nvPicPr>
        <p:blipFill>
          <a:blip r:embed="rId6"/>
          <a:stretch>
            <a:fillRect/>
          </a:stretch>
        </p:blipFill>
        <p:spPr>
          <a:xfrm>
            <a:off x="896478" y="2472294"/>
            <a:ext cx="237012" cy="237012"/>
          </a:xfrm>
          <a:prstGeom prst="rect">
            <a:avLst/>
          </a:prstGeom>
        </p:spPr>
      </p:pic>
      <p:sp>
        <p:nvSpPr>
          <p:cNvPr id="16" name="Text 12"/>
          <p:cNvSpPr/>
          <p:nvPr>
            <p:custDataLst>
              <p:tags r:id="rId7"/>
            </p:custDataLst>
          </p:nvPr>
        </p:nvSpPr>
        <p:spPr>
          <a:xfrm>
            <a:off x="1389888" y="2135124"/>
            <a:ext cx="146304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数据资产</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3"/>
          <p:cNvSpPr/>
          <p:nvPr>
            <p:custDataLst>
              <p:tags r:id="rId8"/>
            </p:custDataLst>
          </p:nvPr>
        </p:nvSpPr>
        <p:spPr>
          <a:xfrm>
            <a:off x="1389888" y="2444496"/>
            <a:ext cx="4343400" cy="292608"/>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自建引脚级视觉数据集</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Text 14"/>
          <p:cNvSpPr/>
          <p:nvPr>
            <p:custDataLst>
              <p:tags r:id="rId9"/>
            </p:custDataLst>
          </p:nvPr>
        </p:nvSpPr>
        <p:spPr>
          <a:xfrm>
            <a:off x="1389888" y="2801112"/>
            <a:ext cx="4343400" cy="292608"/>
          </a:xfrm>
          <a:prstGeom prst="rect">
            <a:avLst/>
          </a:prstGeom>
          <a:noFill/>
        </p:spPr>
        <p:txBody>
          <a:bodyPr wrap="square" lIns="0" tIns="0" rIns="0" bIns="0" rtlCol="0" anchor="t"/>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真实面包板照片 · 引脚级关键点 + 孔位映射标注</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5"/>
          <p:cNvSpPr/>
          <p:nvPr>
            <p:custDataLst>
              <p:tags r:id="rId10"/>
            </p:custDataLst>
          </p:nvPr>
        </p:nvSpPr>
        <p:spPr>
          <a:xfrm>
            <a:off x="6217920" y="2042160"/>
            <a:ext cx="5349240" cy="1078992"/>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0" name="Shape 16"/>
          <p:cNvSpPr/>
          <p:nvPr>
            <p:custDataLst>
              <p:tags r:id="rId11"/>
            </p:custDataLst>
          </p:nvPr>
        </p:nvSpPr>
        <p:spPr>
          <a:xfrm>
            <a:off x="6217920" y="2042160"/>
            <a:ext cx="73152" cy="1078992"/>
          </a:xfrm>
          <a:prstGeom prst="rect">
            <a:avLst/>
          </a:prstGeom>
          <a:solidFill>
            <a:srgbClr val="5B9BD5"/>
          </a:solidFill>
        </p:spPr>
      </p:sp>
      <p:sp>
        <p:nvSpPr>
          <p:cNvPr id="21" name="Shape 17"/>
          <p:cNvSpPr/>
          <p:nvPr>
            <p:custDataLst>
              <p:tags r:id="rId12"/>
            </p:custDataLst>
          </p:nvPr>
        </p:nvSpPr>
        <p:spPr>
          <a:xfrm>
            <a:off x="6437376" y="2343912"/>
            <a:ext cx="493776" cy="493776"/>
          </a:xfrm>
          <a:prstGeom prst="roundRect">
            <a:avLst>
              <a:gd name="adj" fmla="val 22000"/>
            </a:avLst>
          </a:prstGeom>
          <a:solidFill>
            <a:schemeClr val="accent1">
              <a:lumMod val="40000"/>
              <a:lumOff val="60000"/>
            </a:schemeClr>
          </a:solidFill>
        </p:spPr>
      </p:sp>
      <p:pic>
        <p:nvPicPr>
          <p:cNvPr id="22" name="Image 2" descr="preencoded.png"/>
          <p:cNvPicPr>
            <a:picLocks noChangeAspect="1"/>
          </p:cNvPicPr>
          <p:nvPr>
            <p:custDataLst>
              <p:tags r:id="rId13"/>
            </p:custDataLst>
          </p:nvPr>
        </p:nvPicPr>
        <p:blipFill>
          <a:blip r:embed="rId14"/>
          <a:stretch>
            <a:fillRect/>
          </a:stretch>
        </p:blipFill>
        <p:spPr>
          <a:xfrm>
            <a:off x="6565758" y="2472294"/>
            <a:ext cx="237012" cy="237012"/>
          </a:xfrm>
          <a:prstGeom prst="rect">
            <a:avLst/>
          </a:prstGeom>
        </p:spPr>
      </p:pic>
      <p:sp>
        <p:nvSpPr>
          <p:cNvPr id="23" name="Text 18"/>
          <p:cNvSpPr/>
          <p:nvPr>
            <p:custDataLst>
              <p:tags r:id="rId15"/>
            </p:custDataLst>
          </p:nvPr>
        </p:nvSpPr>
        <p:spPr>
          <a:xfrm>
            <a:off x="7059168" y="2135124"/>
            <a:ext cx="146304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视觉部署</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19"/>
          <p:cNvSpPr/>
          <p:nvPr>
            <p:custDataLst>
              <p:tags r:id="rId16"/>
            </p:custDataLst>
          </p:nvPr>
        </p:nvSpPr>
        <p:spPr>
          <a:xfrm>
            <a:off x="7059168" y="2444496"/>
            <a:ext cx="4343400" cy="292608"/>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DK-2500 NPU INT8</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0"/>
          <p:cNvSpPr/>
          <p:nvPr>
            <p:custDataLst>
              <p:tags r:id="rId17"/>
            </p:custDataLst>
          </p:nvPr>
        </p:nvSpPr>
        <p:spPr>
          <a:xfrm>
            <a:off x="7059168" y="2801112"/>
            <a:ext cx="4343400" cy="292608"/>
          </a:xfrm>
          <a:prstGeom prst="rect">
            <a:avLst/>
          </a:prstGeom>
          <a:noFill/>
        </p:spPr>
        <p:txBody>
          <a:bodyPr wrap="square" lIns="0" tIns="0" rIns="0" bIns="0" rtlCol="0" anchor="t"/>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13.37 ms · 74.7 img/s · P99 15.61 ms</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1"/>
          <p:cNvSpPr/>
          <p:nvPr>
            <p:custDataLst>
              <p:tags r:id="rId18"/>
            </p:custDataLst>
          </p:nvPr>
        </p:nvSpPr>
        <p:spPr>
          <a:xfrm>
            <a:off x="548640" y="3444240"/>
            <a:ext cx="5349240" cy="1078992"/>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27" name="Shape 22"/>
          <p:cNvSpPr/>
          <p:nvPr>
            <p:custDataLst>
              <p:tags r:id="rId19"/>
            </p:custDataLst>
          </p:nvPr>
        </p:nvSpPr>
        <p:spPr>
          <a:xfrm>
            <a:off x="548640" y="3444240"/>
            <a:ext cx="73152" cy="1078992"/>
          </a:xfrm>
          <a:prstGeom prst="rect">
            <a:avLst/>
          </a:prstGeom>
          <a:solidFill>
            <a:srgbClr val="5B9BD5"/>
          </a:solidFill>
        </p:spPr>
      </p:sp>
      <p:sp>
        <p:nvSpPr>
          <p:cNvPr id="28" name="Shape 23"/>
          <p:cNvSpPr/>
          <p:nvPr>
            <p:custDataLst>
              <p:tags r:id="rId20"/>
            </p:custDataLst>
          </p:nvPr>
        </p:nvSpPr>
        <p:spPr>
          <a:xfrm>
            <a:off x="768096" y="3745992"/>
            <a:ext cx="493776" cy="493776"/>
          </a:xfrm>
          <a:prstGeom prst="roundRect">
            <a:avLst>
              <a:gd name="adj" fmla="val 22000"/>
            </a:avLst>
          </a:prstGeom>
          <a:solidFill>
            <a:schemeClr val="accent1">
              <a:lumMod val="40000"/>
              <a:lumOff val="60000"/>
            </a:schemeClr>
          </a:solidFill>
        </p:spPr>
      </p:sp>
      <p:pic>
        <p:nvPicPr>
          <p:cNvPr id="29" name="Image 3" descr="preencoded.png"/>
          <p:cNvPicPr>
            <a:picLocks noChangeAspect="1"/>
          </p:cNvPicPr>
          <p:nvPr>
            <p:custDataLst>
              <p:tags r:id="rId21"/>
            </p:custDataLst>
          </p:nvPr>
        </p:nvPicPr>
        <p:blipFill>
          <a:blip r:embed="rId22"/>
          <a:stretch>
            <a:fillRect/>
          </a:stretch>
        </p:blipFill>
        <p:spPr>
          <a:xfrm>
            <a:off x="896478" y="3874374"/>
            <a:ext cx="237012" cy="237012"/>
          </a:xfrm>
          <a:prstGeom prst="rect">
            <a:avLst/>
          </a:prstGeom>
        </p:spPr>
      </p:pic>
      <p:sp>
        <p:nvSpPr>
          <p:cNvPr id="30" name="Text 24"/>
          <p:cNvSpPr/>
          <p:nvPr>
            <p:custDataLst>
              <p:tags r:id="rId23"/>
            </p:custDataLst>
          </p:nvPr>
        </p:nvSpPr>
        <p:spPr>
          <a:xfrm>
            <a:off x="1389888" y="3537204"/>
            <a:ext cx="146304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视觉能效</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5"/>
          <p:cNvSpPr/>
          <p:nvPr>
            <p:custDataLst>
              <p:tags r:id="rId24"/>
            </p:custDataLst>
          </p:nvPr>
        </p:nvSpPr>
        <p:spPr>
          <a:xfrm>
            <a:off x="1389888" y="3846576"/>
            <a:ext cx="4343400" cy="292608"/>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NPU INT8 功耗 / 能耗</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Text 26"/>
          <p:cNvSpPr/>
          <p:nvPr>
            <p:custDataLst>
              <p:tags r:id="rId25"/>
            </p:custDataLst>
          </p:nvPr>
        </p:nvSpPr>
        <p:spPr>
          <a:xfrm>
            <a:off x="1389888" y="4203192"/>
            <a:ext cx="4343400" cy="292608"/>
          </a:xfrm>
          <a:prstGeom prst="rect">
            <a:avLst/>
          </a:prstGeom>
          <a:noFill/>
        </p:spPr>
        <p:txBody>
          <a:bodyPr wrap="square" lIns="0" tIns="0" rIns="0" bIns="0" rtlCol="0" anchor="t"/>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约 4.12 W · 114.2 mJ · 18.1 ips/W</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Shape 27"/>
          <p:cNvSpPr/>
          <p:nvPr>
            <p:custDataLst>
              <p:tags r:id="rId26"/>
            </p:custDataLst>
          </p:nvPr>
        </p:nvSpPr>
        <p:spPr>
          <a:xfrm>
            <a:off x="6217920" y="3444240"/>
            <a:ext cx="5349240" cy="1078992"/>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34" name="Shape 28"/>
          <p:cNvSpPr/>
          <p:nvPr>
            <p:custDataLst>
              <p:tags r:id="rId27"/>
            </p:custDataLst>
          </p:nvPr>
        </p:nvSpPr>
        <p:spPr>
          <a:xfrm>
            <a:off x="6217920" y="3444240"/>
            <a:ext cx="73152" cy="1078992"/>
          </a:xfrm>
          <a:prstGeom prst="rect">
            <a:avLst/>
          </a:prstGeom>
          <a:solidFill>
            <a:srgbClr val="5B9BD5"/>
          </a:solidFill>
        </p:spPr>
      </p:sp>
      <p:sp>
        <p:nvSpPr>
          <p:cNvPr id="35" name="Shape 29"/>
          <p:cNvSpPr/>
          <p:nvPr>
            <p:custDataLst>
              <p:tags r:id="rId28"/>
            </p:custDataLst>
          </p:nvPr>
        </p:nvSpPr>
        <p:spPr>
          <a:xfrm>
            <a:off x="6437376" y="3745992"/>
            <a:ext cx="493776" cy="493776"/>
          </a:xfrm>
          <a:prstGeom prst="roundRect">
            <a:avLst>
              <a:gd name="adj" fmla="val 22000"/>
            </a:avLst>
          </a:prstGeom>
          <a:solidFill>
            <a:schemeClr val="accent1">
              <a:lumMod val="40000"/>
              <a:lumOff val="60000"/>
            </a:schemeClr>
          </a:solidFill>
        </p:spPr>
      </p:sp>
      <p:pic>
        <p:nvPicPr>
          <p:cNvPr id="36" name="Image 4" descr="preencoded.png"/>
          <p:cNvPicPr>
            <a:picLocks noChangeAspect="1"/>
          </p:cNvPicPr>
          <p:nvPr>
            <p:custDataLst>
              <p:tags r:id="rId29"/>
            </p:custDataLst>
          </p:nvPr>
        </p:nvPicPr>
        <p:blipFill>
          <a:blip r:embed="rId30"/>
          <a:stretch>
            <a:fillRect/>
          </a:stretch>
        </p:blipFill>
        <p:spPr>
          <a:xfrm>
            <a:off x="6565758" y="3874374"/>
            <a:ext cx="237012" cy="237012"/>
          </a:xfrm>
          <a:prstGeom prst="rect">
            <a:avLst/>
          </a:prstGeom>
        </p:spPr>
      </p:pic>
      <p:sp>
        <p:nvSpPr>
          <p:cNvPr id="37" name="Text 30"/>
          <p:cNvSpPr/>
          <p:nvPr>
            <p:custDataLst>
              <p:tags r:id="rId31"/>
            </p:custDataLst>
          </p:nvPr>
        </p:nvSpPr>
        <p:spPr>
          <a:xfrm>
            <a:off x="7059168" y="3537204"/>
            <a:ext cx="146304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解释模型</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Text 31"/>
          <p:cNvSpPr/>
          <p:nvPr>
            <p:custDataLst>
              <p:tags r:id="rId32"/>
            </p:custDataLst>
          </p:nvPr>
        </p:nvSpPr>
        <p:spPr>
          <a:xfrm>
            <a:off x="7059168" y="3846576"/>
            <a:ext cx="4343400" cy="292608"/>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INT4 学生模型</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Text 32"/>
          <p:cNvSpPr/>
          <p:nvPr>
            <p:custDataLst>
              <p:tags r:id="rId33"/>
            </p:custDataLst>
          </p:nvPr>
        </p:nvSpPr>
        <p:spPr>
          <a:xfrm>
            <a:off x="7059168" y="4203192"/>
            <a:ext cx="4343400" cy="292608"/>
          </a:xfrm>
          <a:prstGeom prst="rect">
            <a:avLst/>
          </a:prstGeom>
          <a:noFill/>
        </p:spPr>
        <p:txBody>
          <a:bodyPr wrap="square" lIns="0" tIns="0" rIns="0" bIns="0" rtlCol="0" anchor="t"/>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约 0.88 GB · 约 23 tok/s · 峰值约 1.36 GB</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Shape 33"/>
          <p:cNvSpPr/>
          <p:nvPr>
            <p:custDataLst>
              <p:tags r:id="rId34"/>
            </p:custDataLst>
          </p:nvPr>
        </p:nvSpPr>
        <p:spPr>
          <a:xfrm>
            <a:off x="548640" y="4823460"/>
            <a:ext cx="5349240" cy="1078992"/>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41" name="Shape 34"/>
          <p:cNvSpPr/>
          <p:nvPr>
            <p:custDataLst>
              <p:tags r:id="rId35"/>
            </p:custDataLst>
          </p:nvPr>
        </p:nvSpPr>
        <p:spPr>
          <a:xfrm>
            <a:off x="548640" y="4823460"/>
            <a:ext cx="73152" cy="1078992"/>
          </a:xfrm>
          <a:prstGeom prst="rect">
            <a:avLst/>
          </a:prstGeom>
          <a:solidFill>
            <a:srgbClr val="5B9BD5"/>
          </a:solidFill>
        </p:spPr>
      </p:sp>
      <p:sp>
        <p:nvSpPr>
          <p:cNvPr id="42" name="Shape 35"/>
          <p:cNvSpPr/>
          <p:nvPr>
            <p:custDataLst>
              <p:tags r:id="rId36"/>
            </p:custDataLst>
          </p:nvPr>
        </p:nvSpPr>
        <p:spPr>
          <a:xfrm>
            <a:off x="768096" y="5125212"/>
            <a:ext cx="493776" cy="493776"/>
          </a:xfrm>
          <a:prstGeom prst="roundRect">
            <a:avLst>
              <a:gd name="adj" fmla="val 22000"/>
            </a:avLst>
          </a:prstGeom>
          <a:solidFill>
            <a:schemeClr val="accent1">
              <a:lumMod val="40000"/>
              <a:lumOff val="60000"/>
            </a:schemeClr>
          </a:solidFill>
        </p:spPr>
      </p:sp>
      <p:pic>
        <p:nvPicPr>
          <p:cNvPr id="43" name="Image 5" descr="preencoded.png"/>
          <p:cNvPicPr>
            <a:picLocks noChangeAspect="1"/>
          </p:cNvPicPr>
          <p:nvPr>
            <p:custDataLst>
              <p:tags r:id="rId37"/>
            </p:custDataLst>
          </p:nvPr>
        </p:nvPicPr>
        <p:blipFill>
          <a:blip r:embed="rId38"/>
          <a:stretch>
            <a:fillRect/>
          </a:stretch>
        </p:blipFill>
        <p:spPr>
          <a:xfrm>
            <a:off x="896478" y="5253594"/>
            <a:ext cx="237012" cy="237012"/>
          </a:xfrm>
          <a:prstGeom prst="rect">
            <a:avLst/>
          </a:prstGeom>
        </p:spPr>
      </p:pic>
      <p:sp>
        <p:nvSpPr>
          <p:cNvPr id="44" name="Text 36"/>
          <p:cNvSpPr/>
          <p:nvPr>
            <p:custDataLst>
              <p:tags r:id="rId39"/>
            </p:custDataLst>
          </p:nvPr>
        </p:nvSpPr>
        <p:spPr>
          <a:xfrm>
            <a:off x="1389888" y="4916424"/>
            <a:ext cx="146304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检索契约</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5" name="Text 37"/>
          <p:cNvSpPr/>
          <p:nvPr>
            <p:custDataLst>
              <p:tags r:id="rId40"/>
            </p:custDataLst>
          </p:nvPr>
        </p:nvSpPr>
        <p:spPr>
          <a:xfrm>
            <a:off x="1389888" y="5225796"/>
            <a:ext cx="4343400" cy="292608"/>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裸模型 vs 契约路径</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6" name="Text 38"/>
          <p:cNvSpPr/>
          <p:nvPr>
            <p:custDataLst>
              <p:tags r:id="rId41"/>
            </p:custDataLst>
          </p:nvPr>
        </p:nvSpPr>
        <p:spPr>
          <a:xfrm>
            <a:off x="1389888" y="5582412"/>
            <a:ext cx="4343400" cy="292608"/>
          </a:xfrm>
          <a:prstGeom prst="rect">
            <a:avLst/>
          </a:prstGeom>
          <a:noFill/>
        </p:spPr>
        <p:txBody>
          <a:bodyPr wrap="square" lIns="0" tIns="0" rIns="0" bIns="0" rtlCol="0" anchor="t"/>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故障接地 0/6 → 6/6 · 校验通过 6/6</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7" name="Shape 39"/>
          <p:cNvSpPr/>
          <p:nvPr>
            <p:custDataLst>
              <p:tags r:id="rId42"/>
            </p:custDataLst>
          </p:nvPr>
        </p:nvSpPr>
        <p:spPr>
          <a:xfrm>
            <a:off x="6217920" y="4823460"/>
            <a:ext cx="5349240" cy="1078992"/>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48" name="Shape 40"/>
          <p:cNvSpPr/>
          <p:nvPr>
            <p:custDataLst>
              <p:tags r:id="rId43"/>
            </p:custDataLst>
          </p:nvPr>
        </p:nvSpPr>
        <p:spPr>
          <a:xfrm>
            <a:off x="6217920" y="4823460"/>
            <a:ext cx="73152" cy="1078992"/>
          </a:xfrm>
          <a:prstGeom prst="rect">
            <a:avLst/>
          </a:prstGeom>
          <a:solidFill>
            <a:srgbClr val="5B9BD5"/>
          </a:solidFill>
        </p:spPr>
      </p:sp>
      <p:sp>
        <p:nvSpPr>
          <p:cNvPr id="49" name="Shape 41"/>
          <p:cNvSpPr/>
          <p:nvPr>
            <p:custDataLst>
              <p:tags r:id="rId44"/>
            </p:custDataLst>
          </p:nvPr>
        </p:nvSpPr>
        <p:spPr>
          <a:xfrm>
            <a:off x="6437376" y="5125212"/>
            <a:ext cx="493776" cy="493776"/>
          </a:xfrm>
          <a:prstGeom prst="roundRect">
            <a:avLst>
              <a:gd name="adj" fmla="val 22000"/>
            </a:avLst>
          </a:prstGeom>
          <a:solidFill>
            <a:schemeClr val="accent1">
              <a:lumMod val="40000"/>
              <a:lumOff val="60000"/>
            </a:schemeClr>
          </a:solidFill>
        </p:spPr>
      </p:sp>
      <p:pic>
        <p:nvPicPr>
          <p:cNvPr id="50" name="Image 6" descr="preencoded.png"/>
          <p:cNvPicPr>
            <a:picLocks noChangeAspect="1"/>
          </p:cNvPicPr>
          <p:nvPr>
            <p:custDataLst>
              <p:tags r:id="rId45"/>
            </p:custDataLst>
          </p:nvPr>
        </p:nvPicPr>
        <p:blipFill>
          <a:blip r:embed="rId46"/>
          <a:stretch>
            <a:fillRect/>
          </a:stretch>
        </p:blipFill>
        <p:spPr>
          <a:xfrm>
            <a:off x="6565758" y="5253594"/>
            <a:ext cx="237012" cy="237012"/>
          </a:xfrm>
          <a:prstGeom prst="rect">
            <a:avLst/>
          </a:prstGeom>
        </p:spPr>
      </p:pic>
      <p:sp>
        <p:nvSpPr>
          <p:cNvPr id="51" name="Text 42"/>
          <p:cNvSpPr/>
          <p:nvPr>
            <p:custDataLst>
              <p:tags r:id="rId47"/>
            </p:custDataLst>
          </p:nvPr>
        </p:nvSpPr>
        <p:spPr>
          <a:xfrm>
            <a:off x="7059168" y="4916424"/>
            <a:ext cx="1463040" cy="274320"/>
          </a:xfrm>
          <a:prstGeom prst="rect">
            <a:avLst/>
          </a:prstGeom>
          <a:noFill/>
        </p:spPr>
        <p:txBody>
          <a:bodyPr wrap="square" lIns="0" tIns="0" rIns="0" bIns="0" rtlCol="0" anchor="ctr"/>
          <a:lstStyle/>
          <a:p>
            <a:pPr marL="0" indent="0">
              <a:buNone/>
            </a:pPr>
            <a:r>
              <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工程质量</a:t>
            </a:r>
            <a:endParaRPr lang="en-US" sz="1600" b="1" kern="0" spc="100"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2" name="Text 43"/>
          <p:cNvSpPr/>
          <p:nvPr>
            <p:custDataLst>
              <p:tags r:id="rId48"/>
            </p:custDataLst>
          </p:nvPr>
        </p:nvSpPr>
        <p:spPr>
          <a:xfrm>
            <a:off x="7059168" y="5225796"/>
            <a:ext cx="4343400" cy="292608"/>
          </a:xfrm>
          <a:prstGeom prst="rect">
            <a:avLst/>
          </a:prstGeom>
          <a:noFill/>
        </p:spPr>
        <p:txBody>
          <a:bodyPr wrap="square" lIns="0" tIns="0" rIns="0" bIns="0" rtlCol="0" anchor="ctr"/>
          <a:lstStyle/>
          <a:p>
            <a:pPr marL="0" indent="0">
              <a:buNone/>
            </a:pPr>
            <a:r>
              <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单元与契约测试</a:t>
            </a:r>
            <a:endParaRPr lang="en-US" sz="2000"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3" name="Text 44"/>
          <p:cNvSpPr/>
          <p:nvPr>
            <p:custDataLst>
              <p:tags r:id="rId49"/>
            </p:custDataLst>
          </p:nvPr>
        </p:nvSpPr>
        <p:spPr>
          <a:xfrm>
            <a:off x="7059168" y="5582412"/>
            <a:ext cx="4343400" cy="292608"/>
          </a:xfrm>
          <a:prstGeom prst="rect">
            <a:avLst/>
          </a:prstGeom>
          <a:noFill/>
        </p:spPr>
        <p:txBody>
          <a:bodyPr wrap="square" lIns="0" tIns="0" rIns="0" bIns="0" rtlCol="0" anchor="t"/>
          <a:lstStyle/>
          <a:p>
            <a:pPr marL="0" indent="0">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约 900+ 用例 · 整体通过率约 99%</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5" name="Text 46"/>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7</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第七章 · 实验验证与结果分析</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三正交消融：契约 · 意图 · 蒸馏量化</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1"/>
          <a:stretch>
            <a:fillRect/>
          </a:stretch>
        </p:blipFill>
        <p:spPr>
          <a:xfrm>
            <a:off x="11231575" y="411480"/>
            <a:ext cx="237744" cy="237744"/>
          </a:xfrm>
          <a:prstGeom prst="rect">
            <a:avLst/>
          </a:prstGeom>
        </p:spPr>
      </p:pic>
      <p:sp>
        <p:nvSpPr>
          <p:cNvPr id="11" name="Text 8"/>
          <p:cNvSpPr/>
          <p:nvPr/>
        </p:nvSpPr>
        <p:spPr>
          <a:xfrm>
            <a:off x="548640" y="1371600"/>
            <a:ext cx="10972800" cy="29260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每组只改变一个变量、固定其余，以可控对照而非主观断言支撑结论</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9"/>
          <p:cNvSpPr/>
          <p:nvPr/>
        </p:nvSpPr>
        <p:spPr>
          <a:xfrm>
            <a:off x="548640" y="1783080"/>
            <a:ext cx="5486400" cy="4529455"/>
          </a:xfrm>
          <a:prstGeom prst="rect">
            <a:avLst/>
          </a:prstGeom>
          <a:solidFill>
            <a:srgbClr val="FFFFFF"/>
          </a:solidFill>
          <a:ln w="12700">
            <a:solidFill>
              <a:srgbClr val="CFD5EA"/>
            </a:solidFill>
            <a:prstDash val="solid"/>
          </a:ln>
          <a:effectLst>
            <a:outerShdw blurRad="76200" dist="25400" dir="5400000" algn="bl" rotWithShape="0">
              <a:srgbClr val="9AAFD0">
                <a:alpha val="10000"/>
              </a:srgbClr>
            </a:outerShdw>
          </a:effectLst>
        </p:spPr>
      </p:sp>
      <p:sp>
        <p:nvSpPr>
          <p:cNvPr id="13" name="Shape 10"/>
          <p:cNvSpPr/>
          <p:nvPr/>
        </p:nvSpPr>
        <p:spPr>
          <a:xfrm>
            <a:off x="548640" y="1783080"/>
            <a:ext cx="76200" cy="4529455"/>
          </a:xfrm>
          <a:prstGeom prst="rect">
            <a:avLst/>
          </a:prstGeom>
          <a:solidFill>
            <a:srgbClr val="4472C4"/>
          </a:solidFill>
        </p:spPr>
      </p:sp>
      <p:sp>
        <p:nvSpPr>
          <p:cNvPr id="14" name="Text 11"/>
          <p:cNvSpPr/>
          <p:nvPr/>
        </p:nvSpPr>
        <p:spPr>
          <a:xfrm>
            <a:off x="822960" y="1938528"/>
            <a:ext cx="5029200" cy="320040"/>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① 契约消融：同一 INT4 模型</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2"/>
          <p:cNvSpPr/>
          <p:nvPr/>
        </p:nvSpPr>
        <p:spPr>
          <a:xfrm>
            <a:off x="822960" y="2598420"/>
            <a:ext cx="2468880" cy="292608"/>
          </a:xfrm>
          <a:prstGeom prst="rect">
            <a:avLst/>
          </a:prstGeom>
          <a:noFill/>
        </p:spPr>
        <p:txBody>
          <a:bodyPr wrap="square" lIns="0" tIns="0" rIns="0" bIns="0" rtlCol="0" anchor="ctr"/>
          <a:lstStyle/>
          <a:p>
            <a:pPr marL="0" indent="0">
              <a:buNone/>
            </a:pPr>
            <a:r>
              <a:rPr lang="en-US"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评估维度</a:t>
            </a:r>
            <a:endParaRPr lang="en-US"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3"/>
          <p:cNvSpPr/>
          <p:nvPr/>
        </p:nvSpPr>
        <p:spPr>
          <a:xfrm>
            <a:off x="3291840" y="2598420"/>
            <a:ext cx="1234440" cy="292608"/>
          </a:xfrm>
          <a:prstGeom prst="rect">
            <a:avLst/>
          </a:prstGeom>
          <a:noFill/>
        </p:spPr>
        <p:txBody>
          <a:bodyPr wrap="square" lIns="0" tIns="0" rIns="0" bIns="0" rtlCol="0" anchor="ctr"/>
          <a:lstStyle/>
          <a:p>
            <a:pPr marL="0" indent="0" algn="ctr">
              <a:buNone/>
            </a:pPr>
            <a:r>
              <a:rPr 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裸模型</a:t>
            </a:r>
            <a:endParaRPr 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4"/>
          <p:cNvSpPr/>
          <p:nvPr/>
        </p:nvSpPr>
        <p:spPr>
          <a:xfrm>
            <a:off x="4526280" y="2598420"/>
            <a:ext cx="1234440" cy="292608"/>
          </a:xfrm>
          <a:prstGeom prst="rect">
            <a:avLst/>
          </a:prstGeom>
          <a:noFill/>
        </p:spPr>
        <p:txBody>
          <a:bodyPr wrap="square" lIns="0" tIns="0" rIns="0" bIns="0" rtlCol="0" anchor="ctr"/>
          <a:lstStyle/>
          <a:p>
            <a:pPr marL="0" indent="0" algn="ctr">
              <a:buNone/>
            </a:pPr>
            <a:r>
              <a:rPr lang="en-US"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契约路径</a:t>
            </a:r>
            <a:endParaRPr lang="en-US"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15"/>
          <p:cNvSpPr/>
          <p:nvPr/>
        </p:nvSpPr>
        <p:spPr>
          <a:xfrm>
            <a:off x="822960" y="3040380"/>
            <a:ext cx="4937760" cy="411480"/>
          </a:xfrm>
          <a:prstGeom prst="rect">
            <a:avLst/>
          </a:prstGeom>
          <a:solidFill>
            <a:srgbClr val="F3F5F9"/>
          </a:solidFill>
          <a:ln w="9525">
            <a:solidFill>
              <a:srgbClr val="CFD5EA"/>
            </a:solidFill>
            <a:prstDash val="solid"/>
          </a:ln>
        </p:spPr>
      </p:sp>
      <p:sp>
        <p:nvSpPr>
          <p:cNvPr id="19" name="Text 16"/>
          <p:cNvSpPr/>
          <p:nvPr/>
        </p:nvSpPr>
        <p:spPr>
          <a:xfrm>
            <a:off x="932688" y="3040380"/>
            <a:ext cx="2377440" cy="411480"/>
          </a:xfrm>
          <a:prstGeom prst="rect">
            <a:avLst/>
          </a:prstGeom>
          <a:noFill/>
        </p:spPr>
        <p:txBody>
          <a:bodyPr wrap="square" lIns="0" tIns="0" rIns="0" bIns="0" rtlCol="0" anchor="ctr"/>
          <a:lstStyle/>
          <a:p>
            <a:pPr marL="0" indent="0">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命中涉事故障器件</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Text 17"/>
          <p:cNvSpPr/>
          <p:nvPr/>
        </p:nvSpPr>
        <p:spPr>
          <a:xfrm>
            <a:off x="3291840" y="3040380"/>
            <a:ext cx="1234440" cy="411480"/>
          </a:xfrm>
          <a:prstGeom prst="rect">
            <a:avLst/>
          </a:prstGeom>
          <a:noFill/>
        </p:spPr>
        <p:txBody>
          <a:bodyPr wrap="square" lIns="0" tIns="0" rIns="0" bIns="0" rtlCol="0" anchor="ctr"/>
          <a:lstStyle/>
          <a:p>
            <a:pPr marL="0" indent="0" algn="ctr">
              <a:buNone/>
            </a:pPr>
            <a:r>
              <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0 / 6</a:t>
            </a:r>
            <a:endPar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8"/>
          <p:cNvSpPr/>
          <p:nvPr/>
        </p:nvSpPr>
        <p:spPr>
          <a:xfrm>
            <a:off x="4526280" y="3040380"/>
            <a:ext cx="1234440" cy="411480"/>
          </a:xfrm>
          <a:prstGeom prst="rect">
            <a:avLst/>
          </a:prstGeom>
          <a:noFill/>
        </p:spPr>
        <p:txBody>
          <a:bodyPr wrap="square" lIns="0" tIns="0" rIns="0" bIns="0" rtlCol="0" anchor="ctr"/>
          <a:lstStyle/>
          <a:p>
            <a:pPr marL="0" indent="0" algn="ctr">
              <a:buNone/>
            </a:pPr>
            <a:r>
              <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6 / 6</a:t>
            </a:r>
            <a:endPar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Shape 19"/>
          <p:cNvSpPr/>
          <p:nvPr/>
        </p:nvSpPr>
        <p:spPr>
          <a:xfrm>
            <a:off x="822960" y="3451860"/>
            <a:ext cx="4937760" cy="411480"/>
          </a:xfrm>
          <a:prstGeom prst="rect">
            <a:avLst/>
          </a:prstGeom>
          <a:solidFill>
            <a:srgbClr val="FFFFFF"/>
          </a:solidFill>
          <a:ln w="9525">
            <a:solidFill>
              <a:srgbClr val="CFD5EA"/>
            </a:solidFill>
            <a:prstDash val="solid"/>
          </a:ln>
        </p:spPr>
      </p:sp>
      <p:sp>
        <p:nvSpPr>
          <p:cNvPr id="23" name="Text 20"/>
          <p:cNvSpPr/>
          <p:nvPr/>
        </p:nvSpPr>
        <p:spPr>
          <a:xfrm>
            <a:off x="932688" y="3451860"/>
            <a:ext cx="2377440" cy="411480"/>
          </a:xfrm>
          <a:prstGeom prst="rect">
            <a:avLst/>
          </a:prstGeom>
          <a:noFill/>
        </p:spPr>
        <p:txBody>
          <a:bodyPr wrap="square" lIns="0" tIns="0" rIns="0" bIns="0" rtlCol="0" anchor="ctr"/>
          <a:lstStyle/>
          <a:p>
            <a:pPr marL="0" indent="0">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引用当前错误码</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21"/>
          <p:cNvSpPr/>
          <p:nvPr/>
        </p:nvSpPr>
        <p:spPr>
          <a:xfrm>
            <a:off x="3291840" y="3451860"/>
            <a:ext cx="1234440" cy="411480"/>
          </a:xfrm>
          <a:prstGeom prst="rect">
            <a:avLst/>
          </a:prstGeom>
          <a:noFill/>
        </p:spPr>
        <p:txBody>
          <a:bodyPr wrap="square" lIns="0" tIns="0" rIns="0" bIns="0" rtlCol="0" anchor="ctr"/>
          <a:lstStyle/>
          <a:p>
            <a:pPr marL="0" indent="0" algn="ctr">
              <a:buNone/>
            </a:pPr>
            <a:r>
              <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0 / 6</a:t>
            </a:r>
            <a:endPar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22"/>
          <p:cNvSpPr/>
          <p:nvPr/>
        </p:nvSpPr>
        <p:spPr>
          <a:xfrm>
            <a:off x="4526280" y="3451860"/>
            <a:ext cx="1234440" cy="411480"/>
          </a:xfrm>
          <a:prstGeom prst="rect">
            <a:avLst/>
          </a:prstGeom>
          <a:noFill/>
        </p:spPr>
        <p:txBody>
          <a:bodyPr wrap="square" lIns="0" tIns="0" rIns="0" bIns="0" rtlCol="0" anchor="ctr"/>
          <a:lstStyle/>
          <a:p>
            <a:pPr marL="0" indent="0" algn="ctr">
              <a:buNone/>
            </a:pPr>
            <a:r>
              <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6 / 6</a:t>
            </a:r>
            <a:endPar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6" name="Shape 23"/>
          <p:cNvSpPr/>
          <p:nvPr/>
        </p:nvSpPr>
        <p:spPr>
          <a:xfrm>
            <a:off x="822960" y="3863340"/>
            <a:ext cx="4937760" cy="411480"/>
          </a:xfrm>
          <a:prstGeom prst="rect">
            <a:avLst/>
          </a:prstGeom>
          <a:solidFill>
            <a:srgbClr val="F3F5F9"/>
          </a:solidFill>
          <a:ln w="9525">
            <a:solidFill>
              <a:srgbClr val="CFD5EA"/>
            </a:solidFill>
            <a:prstDash val="solid"/>
          </a:ln>
        </p:spPr>
      </p:sp>
      <p:sp>
        <p:nvSpPr>
          <p:cNvPr id="27" name="Text 24"/>
          <p:cNvSpPr/>
          <p:nvPr/>
        </p:nvSpPr>
        <p:spPr>
          <a:xfrm>
            <a:off x="932688" y="3863340"/>
            <a:ext cx="2377440" cy="411480"/>
          </a:xfrm>
          <a:prstGeom prst="rect">
            <a:avLst/>
          </a:prstGeom>
          <a:noFill/>
        </p:spPr>
        <p:txBody>
          <a:bodyPr wrap="square" lIns="0" tIns="0" rIns="0" bIns="0" rtlCol="0" anchor="ctr"/>
          <a:lstStyle/>
          <a:p>
            <a:pPr marL="0" indent="0">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引用涉事元件</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Text 25"/>
          <p:cNvSpPr/>
          <p:nvPr/>
        </p:nvSpPr>
        <p:spPr>
          <a:xfrm>
            <a:off x="3291840" y="3863340"/>
            <a:ext cx="1234440" cy="411480"/>
          </a:xfrm>
          <a:prstGeom prst="rect">
            <a:avLst/>
          </a:prstGeom>
          <a:noFill/>
        </p:spPr>
        <p:txBody>
          <a:bodyPr wrap="square" lIns="0" tIns="0" rIns="0" bIns="0" rtlCol="0" anchor="ctr"/>
          <a:lstStyle/>
          <a:p>
            <a:pPr marL="0" indent="0" algn="ctr">
              <a:buNone/>
            </a:pPr>
            <a:r>
              <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0 / 6</a:t>
            </a:r>
            <a:endPar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Text 26"/>
          <p:cNvSpPr/>
          <p:nvPr/>
        </p:nvSpPr>
        <p:spPr>
          <a:xfrm>
            <a:off x="4526280" y="3863340"/>
            <a:ext cx="1234440" cy="411480"/>
          </a:xfrm>
          <a:prstGeom prst="rect">
            <a:avLst/>
          </a:prstGeom>
          <a:noFill/>
        </p:spPr>
        <p:txBody>
          <a:bodyPr wrap="square" lIns="0" tIns="0" rIns="0" bIns="0" rtlCol="0" anchor="ctr"/>
          <a:lstStyle/>
          <a:p>
            <a:pPr marL="0" indent="0" algn="ctr">
              <a:buNone/>
            </a:pPr>
            <a:r>
              <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6 / 6</a:t>
            </a:r>
            <a:endPar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Shape 27"/>
          <p:cNvSpPr/>
          <p:nvPr/>
        </p:nvSpPr>
        <p:spPr>
          <a:xfrm>
            <a:off x="822960" y="4274820"/>
            <a:ext cx="4937760" cy="411480"/>
          </a:xfrm>
          <a:prstGeom prst="rect">
            <a:avLst/>
          </a:prstGeom>
          <a:solidFill>
            <a:srgbClr val="FFFFFF"/>
          </a:solidFill>
          <a:ln w="9525">
            <a:solidFill>
              <a:srgbClr val="CFD5EA"/>
            </a:solidFill>
            <a:prstDash val="solid"/>
          </a:ln>
        </p:spPr>
      </p:sp>
      <p:sp>
        <p:nvSpPr>
          <p:cNvPr id="31" name="Text 28"/>
          <p:cNvSpPr/>
          <p:nvPr/>
        </p:nvSpPr>
        <p:spPr>
          <a:xfrm>
            <a:off x="932688" y="4274820"/>
            <a:ext cx="2377440" cy="411480"/>
          </a:xfrm>
          <a:prstGeom prst="rect">
            <a:avLst/>
          </a:prstGeom>
          <a:noFill/>
        </p:spPr>
        <p:txBody>
          <a:bodyPr wrap="square" lIns="0" tIns="0" rIns="0" bIns="0" rtlCol="0" anchor="ctr"/>
          <a:lstStyle/>
          <a:p>
            <a:pPr marL="0" indent="0">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危险场景安全前置</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Text 29"/>
          <p:cNvSpPr/>
          <p:nvPr/>
        </p:nvSpPr>
        <p:spPr>
          <a:xfrm>
            <a:off x="3291840" y="4274820"/>
            <a:ext cx="1234440" cy="411480"/>
          </a:xfrm>
          <a:prstGeom prst="rect">
            <a:avLst/>
          </a:prstGeom>
          <a:noFill/>
        </p:spPr>
        <p:txBody>
          <a:bodyPr wrap="square" lIns="0" tIns="0" rIns="0" bIns="0" rtlCol="0" anchor="ctr"/>
          <a:lstStyle/>
          <a:p>
            <a:pPr marL="0" indent="0" algn="ctr">
              <a:buNone/>
            </a:pPr>
            <a:r>
              <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30"/>
          <p:cNvSpPr/>
          <p:nvPr/>
        </p:nvSpPr>
        <p:spPr>
          <a:xfrm>
            <a:off x="4526280" y="4274820"/>
            <a:ext cx="1234440" cy="411480"/>
          </a:xfrm>
          <a:prstGeom prst="rect">
            <a:avLst/>
          </a:prstGeom>
          <a:noFill/>
        </p:spPr>
        <p:txBody>
          <a:bodyPr wrap="square" lIns="0" tIns="0" rIns="0" bIns="0" rtlCol="0" anchor="ctr"/>
          <a:lstStyle/>
          <a:p>
            <a:pPr marL="0" indent="0" algn="ctr">
              <a:buNone/>
            </a:pPr>
            <a:r>
              <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6 / 6</a:t>
            </a:r>
            <a:endPar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Shape 31"/>
          <p:cNvSpPr/>
          <p:nvPr/>
        </p:nvSpPr>
        <p:spPr>
          <a:xfrm>
            <a:off x="822960" y="4686300"/>
            <a:ext cx="4937760" cy="411480"/>
          </a:xfrm>
          <a:prstGeom prst="rect">
            <a:avLst/>
          </a:prstGeom>
          <a:solidFill>
            <a:srgbClr val="F3F5F9"/>
          </a:solidFill>
          <a:ln w="9525">
            <a:solidFill>
              <a:srgbClr val="CFD5EA"/>
            </a:solidFill>
            <a:prstDash val="solid"/>
          </a:ln>
        </p:spPr>
      </p:sp>
      <p:sp>
        <p:nvSpPr>
          <p:cNvPr id="35" name="Text 32"/>
          <p:cNvSpPr/>
          <p:nvPr/>
        </p:nvSpPr>
        <p:spPr>
          <a:xfrm>
            <a:off x="932688" y="4686300"/>
            <a:ext cx="2377440" cy="411480"/>
          </a:xfrm>
          <a:prstGeom prst="rect">
            <a:avLst/>
          </a:prstGeom>
          <a:noFill/>
        </p:spPr>
        <p:txBody>
          <a:bodyPr wrap="square" lIns="0" tIns="0" rIns="0" bIns="0" rtlCol="0" anchor="ctr"/>
          <a:lstStyle/>
          <a:p>
            <a:pPr marL="0" indent="0">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场景锚定正确</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6" name="Text 33"/>
          <p:cNvSpPr/>
          <p:nvPr/>
        </p:nvSpPr>
        <p:spPr>
          <a:xfrm>
            <a:off x="3291840" y="4686300"/>
            <a:ext cx="1234440" cy="411480"/>
          </a:xfrm>
          <a:prstGeom prst="rect">
            <a:avLst/>
          </a:prstGeom>
          <a:noFill/>
        </p:spPr>
        <p:txBody>
          <a:bodyPr wrap="square" lIns="0" tIns="0" rIns="0" bIns="0" rtlCol="0" anchor="ctr"/>
          <a:lstStyle/>
          <a:p>
            <a:pPr marL="0" indent="0" algn="ctr">
              <a:buNone/>
            </a:pPr>
            <a:r>
              <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Text 34"/>
          <p:cNvSpPr/>
          <p:nvPr/>
        </p:nvSpPr>
        <p:spPr>
          <a:xfrm>
            <a:off x="4526280" y="4686300"/>
            <a:ext cx="1234440" cy="411480"/>
          </a:xfrm>
          <a:prstGeom prst="rect">
            <a:avLst/>
          </a:prstGeom>
          <a:noFill/>
        </p:spPr>
        <p:txBody>
          <a:bodyPr wrap="square" lIns="0" tIns="0" rIns="0" bIns="0" rtlCol="0" anchor="ctr"/>
          <a:lstStyle/>
          <a:p>
            <a:pPr marL="0" indent="0" algn="ctr">
              <a:buNone/>
            </a:pPr>
            <a:r>
              <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6 / 6</a:t>
            </a:r>
            <a:endPar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Shape 35"/>
          <p:cNvSpPr/>
          <p:nvPr/>
        </p:nvSpPr>
        <p:spPr>
          <a:xfrm>
            <a:off x="822960" y="5097780"/>
            <a:ext cx="4937760" cy="411480"/>
          </a:xfrm>
          <a:prstGeom prst="rect">
            <a:avLst/>
          </a:prstGeom>
          <a:solidFill>
            <a:srgbClr val="FFFFFF"/>
          </a:solidFill>
          <a:ln w="9525">
            <a:solidFill>
              <a:srgbClr val="CFD5EA"/>
            </a:solidFill>
            <a:prstDash val="solid"/>
          </a:ln>
        </p:spPr>
      </p:sp>
      <p:sp>
        <p:nvSpPr>
          <p:cNvPr id="39" name="Text 36"/>
          <p:cNvSpPr/>
          <p:nvPr/>
        </p:nvSpPr>
        <p:spPr>
          <a:xfrm>
            <a:off x="932688" y="5097780"/>
            <a:ext cx="2377440" cy="411480"/>
          </a:xfrm>
          <a:prstGeom prst="rect">
            <a:avLst/>
          </a:prstGeom>
          <a:noFill/>
        </p:spPr>
        <p:txBody>
          <a:bodyPr wrap="square" lIns="0" tIns="0" rIns="0" bIns="0" rtlCol="0" anchor="ctr"/>
          <a:lstStyle/>
          <a:p>
            <a:pPr marL="0" indent="0">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确定性校验通过</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Text 37"/>
          <p:cNvSpPr/>
          <p:nvPr/>
        </p:nvSpPr>
        <p:spPr>
          <a:xfrm>
            <a:off x="3291840" y="5097780"/>
            <a:ext cx="1234440" cy="411480"/>
          </a:xfrm>
          <a:prstGeom prst="rect">
            <a:avLst/>
          </a:prstGeom>
          <a:noFill/>
        </p:spPr>
        <p:txBody>
          <a:bodyPr wrap="square" lIns="0" tIns="0" rIns="0" bIns="0" rtlCol="0" anchor="ctr"/>
          <a:lstStyle/>
          <a:p>
            <a:pPr marL="0" indent="0" algn="ctr">
              <a:buNone/>
            </a:pPr>
            <a:r>
              <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1" name="Text 38"/>
          <p:cNvSpPr/>
          <p:nvPr/>
        </p:nvSpPr>
        <p:spPr>
          <a:xfrm>
            <a:off x="4526280" y="5097780"/>
            <a:ext cx="1234440" cy="411480"/>
          </a:xfrm>
          <a:prstGeom prst="rect">
            <a:avLst/>
          </a:prstGeom>
          <a:noFill/>
        </p:spPr>
        <p:txBody>
          <a:bodyPr wrap="square" lIns="0" tIns="0" rIns="0" bIns="0" rtlCol="0" anchor="ctr"/>
          <a:lstStyle/>
          <a:p>
            <a:pPr marL="0" indent="0" algn="ctr">
              <a:buNone/>
            </a:pPr>
            <a:r>
              <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6 / 6</a:t>
            </a:r>
            <a:endParaRPr lang="en-US" sz="16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2" name="Shape 39"/>
          <p:cNvSpPr/>
          <p:nvPr/>
        </p:nvSpPr>
        <p:spPr>
          <a:xfrm>
            <a:off x="6355080" y="1783080"/>
            <a:ext cx="5303520" cy="1920240"/>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43" name="Shape 40"/>
          <p:cNvSpPr/>
          <p:nvPr/>
        </p:nvSpPr>
        <p:spPr>
          <a:xfrm>
            <a:off x="6355080" y="1783080"/>
            <a:ext cx="76200" cy="1920240"/>
          </a:xfrm>
          <a:prstGeom prst="rect">
            <a:avLst/>
          </a:prstGeom>
          <a:solidFill>
            <a:srgbClr val="5B9BD5"/>
          </a:solidFill>
        </p:spPr>
      </p:sp>
      <p:sp>
        <p:nvSpPr>
          <p:cNvPr id="44" name="Text 41"/>
          <p:cNvSpPr/>
          <p:nvPr/>
        </p:nvSpPr>
        <p:spPr>
          <a:xfrm>
            <a:off x="6629400" y="1920240"/>
            <a:ext cx="4754880" cy="29260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② 意图路由消融</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5" name="Text 42"/>
          <p:cNvSpPr/>
          <p:nvPr/>
        </p:nvSpPr>
        <p:spPr>
          <a:xfrm>
            <a:off x="6629400" y="2249424"/>
            <a:ext cx="4754880" cy="1188720"/>
          </a:xfrm>
          <a:prstGeom prst="rect">
            <a:avLst/>
          </a:prstGeom>
          <a:noFill/>
        </p:spPr>
        <p:txBody>
          <a:bodyPr wrap="square" lIns="0" tIns="0" rIns="0" bIns="0" rtlCol="0" anchor="t"/>
          <a:lstStyle/>
          <a:p>
            <a:pPr marL="0" indent="0">
              <a:lnSpc>
                <a:spcPct val="128000"/>
              </a:lnSpc>
              <a:buNone/>
            </a:pPr>
            <a:r>
              <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端侧十亿级小模型直接做四类意图分类，准确率不及关键词路由，且每次引入约 1.5–2.5 秒额外时延（与解释生成抢占同一 iGPU）。系统最终采用零延迟、可解释的确定性关键词路由，小模型只负责生成。</a:t>
            </a:r>
            <a:endParaRPr lang="en-US" sz="1600"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6" name="Shape 43"/>
          <p:cNvSpPr/>
          <p:nvPr/>
        </p:nvSpPr>
        <p:spPr>
          <a:xfrm>
            <a:off x="6355080" y="4013835"/>
            <a:ext cx="5303520" cy="2271395"/>
          </a:xfrm>
          <a:prstGeom prst="rect">
            <a:avLst/>
          </a:prstGeom>
          <a:solidFill>
            <a:srgbClr val="14326C"/>
          </a:solidFill>
          <a:ln w="12700">
            <a:solidFill>
              <a:srgbClr val="CFD5EA"/>
            </a:solidFill>
            <a:prstDash val="solid"/>
          </a:ln>
          <a:effectLst>
            <a:outerShdw blurRad="76200" dist="25400" dir="5400000" algn="bl" rotWithShape="0">
              <a:srgbClr val="9AAFD0">
                <a:alpha val="12000"/>
              </a:srgbClr>
            </a:outerShdw>
          </a:effectLst>
        </p:spPr>
      </p:sp>
      <p:sp>
        <p:nvSpPr>
          <p:cNvPr id="47" name="Text 44"/>
          <p:cNvSpPr/>
          <p:nvPr/>
        </p:nvSpPr>
        <p:spPr>
          <a:xfrm>
            <a:off x="6629400" y="4212590"/>
            <a:ext cx="4754880" cy="292608"/>
          </a:xfrm>
          <a:prstGeom prst="rect">
            <a:avLst/>
          </a:prstGeom>
          <a:noFill/>
        </p:spPr>
        <p:txBody>
          <a:bodyPr wrap="square" lIns="0" tIns="0" rIns="0" bIns="0" rtlCol="0" anchor="ctr"/>
          <a:lstStyle/>
          <a:p>
            <a:pPr marL="0" indent="0">
              <a:buNone/>
            </a:pPr>
            <a:r>
              <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③ 错误码桥接修复</a:t>
            </a:r>
            <a:endParaRPr lang="en-US" sz="20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8" name="Text 45"/>
          <p:cNvSpPr/>
          <p:nvPr/>
        </p:nvSpPr>
        <p:spPr>
          <a:xfrm>
            <a:off x="6629400" y="4766310"/>
            <a:ext cx="4754880" cy="1204595"/>
          </a:xfrm>
          <a:prstGeom prst="rect">
            <a:avLst/>
          </a:prstGeom>
          <a:noFill/>
        </p:spPr>
        <p:txBody>
          <a:bodyPr wrap="square" lIns="0" tIns="0" rIns="0" bIns="0" rtlCol="0" anchor="t"/>
          <a:lstStyle/>
          <a:p>
            <a:pPr marL="0" indent="0">
              <a:lnSpc>
                <a:spcPct val="108000"/>
              </a:lnSpc>
              <a:spcAft>
                <a:spcPts val="600"/>
              </a:spcAft>
              <a:buNone/>
            </a:pPr>
            <a:r>
              <a:rPr lang="en-US" sz="1600"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诊断报告由图比对产出 diff 词表错误码，早期故障案例库以另一套词表标注，二者几乎不相交。</a:t>
            </a:r>
            <a:endParaRPr lang="en-US" sz="1600" dirty="0"/>
          </a:p>
          <a:p>
            <a:pPr marL="0" indent="0">
              <a:lnSpc>
                <a:spcPct val="108000"/>
              </a:lnSpc>
              <a:buNone/>
            </a:pP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目标教学案例排为首位：1/6  →  6/6</a:t>
            </a:r>
            <a:endPar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0" name="Text 47"/>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14326C"/>
          </a:solidFill>
        </p:spPr>
      </p:sp>
      <p:sp>
        <p:nvSpPr>
          <p:cNvPr id="3" name="Shape 1"/>
          <p:cNvSpPr/>
          <p:nvPr/>
        </p:nvSpPr>
        <p:spPr>
          <a:xfrm>
            <a:off x="0" y="1060704"/>
            <a:ext cx="12191695" cy="50292"/>
          </a:xfrm>
          <a:prstGeom prst="rect">
            <a:avLst/>
          </a:prstGeom>
          <a:solidFill>
            <a:srgbClr val="4472C4"/>
          </a:solidFill>
        </p:spPr>
      </p:sp>
      <p:sp>
        <p:nvSpPr>
          <p:cNvPr id="4" name="Shape 2"/>
          <p:cNvSpPr/>
          <p:nvPr/>
        </p:nvSpPr>
        <p:spPr>
          <a:xfrm>
            <a:off x="548640" y="274320"/>
            <a:ext cx="512064" cy="512064"/>
          </a:xfrm>
          <a:prstGeom prst="roundRect">
            <a:avLst>
              <a:gd name="adj" fmla="val 17857"/>
            </a:avLst>
          </a:prstGeom>
          <a:solidFill>
            <a:srgbClr val="4472C4"/>
          </a:solidFill>
        </p:spPr>
      </p:sp>
      <p:sp>
        <p:nvSpPr>
          <p:cNvPr id="5" name="Text 3"/>
          <p:cNvSpPr/>
          <p:nvPr/>
        </p:nvSpPr>
        <p:spPr>
          <a:xfrm>
            <a:off x="548640" y="274320"/>
            <a:ext cx="512064" cy="512064"/>
          </a:xfrm>
          <a:prstGeom prst="rect">
            <a:avLst/>
          </a:prstGeom>
          <a:noFill/>
        </p:spPr>
        <p:txBody>
          <a:bodyPr wrap="square" lIns="0" tIns="0" rIns="0" bIns="0"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7</a:t>
            </a:r>
            <a:endParaRPr lang="en-US" sz="2000" dirty="0"/>
          </a:p>
        </p:txBody>
      </p:sp>
      <p:sp>
        <p:nvSpPr>
          <p:cNvPr id="6" name="Text 4"/>
          <p:cNvSpPr/>
          <p:nvPr/>
        </p:nvSpPr>
        <p:spPr>
          <a:xfrm>
            <a:off x="1225296" y="192024"/>
            <a:ext cx="8229600" cy="237744"/>
          </a:xfrm>
          <a:prstGeom prst="rect">
            <a:avLst/>
          </a:prstGeom>
          <a:noFill/>
        </p:spPr>
        <p:txBody>
          <a:bodyPr wrap="square" lIns="0" tIns="0" rIns="0" bIns="0" rtlCol="0" anchor="ctr"/>
          <a:lstStyle/>
          <a:p>
            <a:pPr marL="0" indent="0" algn="l">
              <a:buNone/>
            </a:pPr>
            <a:r>
              <a:rPr lang="en-US" sz="1100" b="1" kern="0" spc="200" dirty="0">
                <a:solidFill>
                  <a:srgbClr val="BBCEE5"/>
                </a:solidFill>
                <a:latin typeface="微软雅黑" panose="020B0503020204020204" pitchFamily="34" charset="-122"/>
                <a:ea typeface="微软雅黑" panose="020B0503020204020204" pitchFamily="34" charset="-122"/>
                <a:cs typeface="微软雅黑" panose="020B0503020204020204" pitchFamily="34" charset="-120"/>
              </a:rPr>
              <a:t>第七章 · 实验验证与结果分析</a:t>
            </a:r>
            <a:endParaRPr lang="en-US" sz="1100" dirty="0"/>
          </a:p>
        </p:txBody>
      </p:sp>
      <p:sp>
        <p:nvSpPr>
          <p:cNvPr id="7" name="Text 5"/>
          <p:cNvSpPr/>
          <p:nvPr/>
        </p:nvSpPr>
        <p:spPr>
          <a:xfrm>
            <a:off x="1225296" y="448056"/>
            <a:ext cx="8595360" cy="457200"/>
          </a:xfrm>
          <a:prstGeom prst="rect">
            <a:avLst/>
          </a:prstGeom>
          <a:noFill/>
        </p:spPr>
        <p:txBody>
          <a:bodyPr wrap="square" lIns="0" tIns="0" rIns="0" bIns="0" rtlCol="0" anchor="ctr"/>
          <a:lstStyle/>
          <a:p>
            <a:pPr marL="0" indent="0" algn="l">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四模型横向质量矩阵</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9311335" y="274320"/>
            <a:ext cx="1691640" cy="512064"/>
          </a:xfrm>
          <a:prstGeom prst="rect">
            <a:avLst/>
          </a:prstGeom>
          <a:noFill/>
        </p:spPr>
        <p:txBody>
          <a:bodyPr wrap="square" lIns="0" tIns="0" rIns="0" bIns="0" rtlCol="0" anchor="ctr"/>
          <a:lstStyle/>
          <a:p>
            <a:pPr marL="0" indent="0" algn="r">
              <a:buNone/>
            </a:pPr>
            <a:r>
              <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rPr>
              <a:t>LabGuardian</a:t>
            </a:r>
            <a:endParaRPr lang="en-US" sz="1600" b="1" dirty="0">
              <a:solidFill>
                <a:srgbClr val="D6E2F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7"/>
          <p:cNvSpPr/>
          <p:nvPr/>
        </p:nvSpPr>
        <p:spPr>
          <a:xfrm>
            <a:off x="11094415" y="274320"/>
            <a:ext cx="512064" cy="512064"/>
          </a:xfrm>
          <a:prstGeom prst="roundRect">
            <a:avLst>
              <a:gd name="adj" fmla="val 21429"/>
            </a:avLst>
          </a:prstGeom>
          <a:solidFill>
            <a:srgbClr val="5B9BD5"/>
          </a:solidFill>
        </p:spPr>
      </p:sp>
      <p:pic>
        <p:nvPicPr>
          <p:cNvPr id="10" name="Image 0" descr="preencoded.png"/>
          <p:cNvPicPr>
            <a:picLocks noChangeAspect="1"/>
          </p:cNvPicPr>
          <p:nvPr/>
        </p:nvPicPr>
        <p:blipFill>
          <a:blip r:embed="rId2"/>
          <a:stretch>
            <a:fillRect/>
          </a:stretch>
        </p:blipFill>
        <p:spPr>
          <a:xfrm>
            <a:off x="11231575" y="411480"/>
            <a:ext cx="237744" cy="237744"/>
          </a:xfrm>
          <a:prstGeom prst="rect">
            <a:avLst/>
          </a:prstGeom>
        </p:spPr>
      </p:pic>
      <p:sp>
        <p:nvSpPr>
          <p:cNvPr id="11" name="Text 8"/>
          <p:cNvSpPr/>
          <p:nvPr/>
        </p:nvSpPr>
        <p:spPr>
          <a:xfrm>
            <a:off x="548640" y="1371600"/>
            <a:ext cx="10972800" cy="292608"/>
          </a:xfrm>
          <a:prstGeom prst="rect">
            <a:avLst/>
          </a:prstGeom>
          <a:noFill/>
        </p:spPr>
        <p:txBody>
          <a:bodyPr wrap="square" lIns="0" tIns="0" rIns="0" bIns="0" rtlCol="0" anchor="ctr"/>
          <a:lstStyle/>
          <a:p>
            <a:pPr marL="0" indent="0">
              <a:buNone/>
            </a:pPr>
            <a:r>
              <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统一 30 题 P0 固定题集 · 同一短答约束 · 同一 3 点人工 rubric</a:t>
            </a:r>
            <a:endParaRPr lang="en-US" sz="2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12" name="Chart 0"/>
          <p:cNvGraphicFramePr/>
          <p:nvPr/>
        </p:nvGraphicFramePr>
        <p:xfrm>
          <a:off x="548640" y="2363470"/>
          <a:ext cx="6675120" cy="3657600"/>
        </p:xfrm>
        <a:graphic>
          <a:graphicData uri="http://schemas.openxmlformats.org/drawingml/2006/chart">
            <c:chart xmlns:c="http://schemas.openxmlformats.org/drawingml/2006/chart" xmlns:r="http://schemas.openxmlformats.org/officeDocument/2006/relationships" r:id="rId1"/>
          </a:graphicData>
        </a:graphic>
      </p:graphicFrame>
      <p:sp>
        <p:nvSpPr>
          <p:cNvPr id="13" name="Shape 9"/>
          <p:cNvSpPr/>
          <p:nvPr/>
        </p:nvSpPr>
        <p:spPr>
          <a:xfrm>
            <a:off x="7543800" y="1828800"/>
            <a:ext cx="4114800" cy="4512310"/>
          </a:xfrm>
          <a:prstGeom prst="rect">
            <a:avLst/>
          </a:prstGeom>
          <a:solidFill>
            <a:srgbClr val="E9EBF5"/>
          </a:solidFill>
          <a:ln w="12700">
            <a:solidFill>
              <a:srgbClr val="CFD5EA"/>
            </a:solidFill>
            <a:prstDash val="solid"/>
          </a:ln>
          <a:effectLst>
            <a:outerShdw blurRad="76200" dist="25400" dir="5400000" algn="bl" rotWithShape="0">
              <a:srgbClr val="9AAFD0">
                <a:alpha val="8000"/>
              </a:srgbClr>
            </a:outerShdw>
          </a:effectLst>
        </p:spPr>
      </p:sp>
      <p:sp>
        <p:nvSpPr>
          <p:cNvPr id="14" name="Shape 10"/>
          <p:cNvSpPr/>
          <p:nvPr/>
        </p:nvSpPr>
        <p:spPr>
          <a:xfrm>
            <a:off x="7543800" y="1828800"/>
            <a:ext cx="76200" cy="4512310"/>
          </a:xfrm>
          <a:prstGeom prst="rect">
            <a:avLst/>
          </a:prstGeom>
          <a:solidFill>
            <a:srgbClr val="5B9BD5"/>
          </a:solidFill>
        </p:spPr>
      </p:sp>
      <p:sp>
        <p:nvSpPr>
          <p:cNvPr id="15" name="Text 11"/>
          <p:cNvSpPr/>
          <p:nvPr/>
        </p:nvSpPr>
        <p:spPr>
          <a:xfrm>
            <a:off x="7818120" y="1993392"/>
            <a:ext cx="3566160" cy="292608"/>
          </a:xfrm>
          <a:prstGeom prst="rect">
            <a:avLst/>
          </a:prstGeom>
          <a:noFill/>
        </p:spPr>
        <p:txBody>
          <a:bodyPr wrap="square" lIns="0" tIns="0" rIns="0" bIns="0" rtlCol="0" anchor="ctr"/>
          <a:lstStyle/>
          <a:p>
            <a:pPr marL="0" indent="0">
              <a:buNone/>
            </a:pPr>
            <a:r>
              <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三个明确结论</a:t>
            </a:r>
            <a:endParaRPr lang="en-US" sz="20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Shape 12"/>
          <p:cNvSpPr/>
          <p:nvPr/>
        </p:nvSpPr>
        <p:spPr>
          <a:xfrm>
            <a:off x="7818120" y="2359152"/>
            <a:ext cx="3566160" cy="0"/>
          </a:xfrm>
          <a:prstGeom prst="line">
            <a:avLst/>
          </a:prstGeom>
          <a:noFill/>
          <a:ln w="12700">
            <a:solidFill>
              <a:srgbClr val="CFD5EA"/>
            </a:solidFill>
            <a:prstDash val="solid"/>
          </a:ln>
        </p:spPr>
      </p:sp>
      <p:sp>
        <p:nvSpPr>
          <p:cNvPr id="17" name="Shape 13"/>
          <p:cNvSpPr/>
          <p:nvPr>
            <p:custDataLst>
              <p:tags r:id="rId3"/>
            </p:custDataLst>
          </p:nvPr>
        </p:nvSpPr>
        <p:spPr>
          <a:xfrm>
            <a:off x="7818120" y="2651760"/>
            <a:ext cx="384048" cy="384048"/>
          </a:xfrm>
          <a:prstGeom prst="ellipse">
            <a:avLst/>
          </a:prstGeom>
          <a:solidFill>
            <a:srgbClr val="14326C"/>
          </a:solidFill>
        </p:spPr>
      </p:sp>
      <p:sp>
        <p:nvSpPr>
          <p:cNvPr id="18" name="Text 14"/>
          <p:cNvSpPr/>
          <p:nvPr>
            <p:custDataLst>
              <p:tags r:id="rId4"/>
            </p:custDataLst>
          </p:nvPr>
        </p:nvSpPr>
        <p:spPr>
          <a:xfrm>
            <a:off x="7818120" y="2651760"/>
            <a:ext cx="384048" cy="38404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600" dirty="0"/>
          </a:p>
        </p:txBody>
      </p:sp>
      <p:sp>
        <p:nvSpPr>
          <p:cNvPr id="19" name="Text 15"/>
          <p:cNvSpPr/>
          <p:nvPr>
            <p:custDataLst>
              <p:tags r:id="rId5"/>
            </p:custDataLst>
          </p:nvPr>
        </p:nvSpPr>
        <p:spPr>
          <a:xfrm>
            <a:off x="8321040" y="2615184"/>
            <a:ext cx="3108960" cy="310896"/>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INT4 具备可用质量</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0" name="Text 16"/>
          <p:cNvSpPr/>
          <p:nvPr>
            <p:custDataLst>
              <p:tags r:id="rId6"/>
            </p:custDataLst>
          </p:nvPr>
        </p:nvSpPr>
        <p:spPr>
          <a:xfrm>
            <a:off x="8321040" y="2926080"/>
            <a:ext cx="3108960" cy="548640"/>
          </a:xfrm>
          <a:prstGeom prst="rect">
            <a:avLst/>
          </a:prstGeom>
          <a:noFill/>
        </p:spPr>
        <p:txBody>
          <a:bodyPr wrap="square" lIns="0" tIns="0" rIns="0" bIns="0" rtlCol="0" anchor="t"/>
          <a:lstStyle/>
          <a:p>
            <a:pPr marL="0" indent="0">
              <a:lnSpc>
                <a:spcPct val="105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部署版 INT4 在当前题集上 71.1%，优于基座与本地 FP</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Shape 17"/>
          <p:cNvSpPr/>
          <p:nvPr>
            <p:custDataLst>
              <p:tags r:id="rId7"/>
            </p:custDataLst>
          </p:nvPr>
        </p:nvSpPr>
        <p:spPr>
          <a:xfrm>
            <a:off x="7818120" y="3776472"/>
            <a:ext cx="384048" cy="384048"/>
          </a:xfrm>
          <a:prstGeom prst="ellipse">
            <a:avLst/>
          </a:prstGeom>
          <a:solidFill>
            <a:srgbClr val="14326C"/>
          </a:solidFill>
        </p:spPr>
      </p:sp>
      <p:sp>
        <p:nvSpPr>
          <p:cNvPr id="22" name="Text 18"/>
          <p:cNvSpPr/>
          <p:nvPr>
            <p:custDataLst>
              <p:tags r:id="rId8"/>
            </p:custDataLst>
          </p:nvPr>
        </p:nvSpPr>
        <p:spPr>
          <a:xfrm>
            <a:off x="7818120" y="3776472"/>
            <a:ext cx="384048" cy="38404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600" dirty="0"/>
          </a:p>
        </p:txBody>
      </p:sp>
      <p:sp>
        <p:nvSpPr>
          <p:cNvPr id="23" name="Text 19"/>
          <p:cNvSpPr/>
          <p:nvPr>
            <p:custDataLst>
              <p:tags r:id="rId9"/>
            </p:custDataLst>
          </p:nvPr>
        </p:nvSpPr>
        <p:spPr>
          <a:xfrm>
            <a:off x="8321040" y="3739896"/>
            <a:ext cx="3108960" cy="310896"/>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量化未致明显退化</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20"/>
          <p:cNvSpPr/>
          <p:nvPr>
            <p:custDataLst>
              <p:tags r:id="rId10"/>
            </p:custDataLst>
          </p:nvPr>
        </p:nvSpPr>
        <p:spPr>
          <a:xfrm>
            <a:off x="8321040" y="4050792"/>
            <a:ext cx="3108960" cy="548640"/>
          </a:xfrm>
          <a:prstGeom prst="rect">
            <a:avLst/>
          </a:prstGeom>
          <a:noFill/>
        </p:spPr>
        <p:txBody>
          <a:bodyPr wrap="square" lIns="0" tIns="0" rIns="0" bIns="0" rtlCol="0" anchor="t"/>
          <a:lstStyle/>
          <a:p>
            <a:pPr marL="0" indent="0">
              <a:lnSpc>
                <a:spcPct val="105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较基座 +4.4 pp、较本地 FP +6.7 pp，满分率 40.0%</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1"/>
          <p:cNvSpPr/>
          <p:nvPr>
            <p:custDataLst>
              <p:tags r:id="rId11"/>
            </p:custDataLst>
          </p:nvPr>
        </p:nvSpPr>
        <p:spPr>
          <a:xfrm>
            <a:off x="7818120" y="4931664"/>
            <a:ext cx="384048" cy="384048"/>
          </a:xfrm>
          <a:prstGeom prst="ellipse">
            <a:avLst/>
          </a:prstGeom>
          <a:solidFill>
            <a:srgbClr val="14326C"/>
          </a:solidFill>
        </p:spPr>
      </p:sp>
      <p:sp>
        <p:nvSpPr>
          <p:cNvPr id="26" name="Text 22"/>
          <p:cNvSpPr/>
          <p:nvPr>
            <p:custDataLst>
              <p:tags r:id="rId12"/>
            </p:custDataLst>
          </p:nvPr>
        </p:nvSpPr>
        <p:spPr>
          <a:xfrm>
            <a:off x="7818120" y="4931664"/>
            <a:ext cx="384048" cy="384048"/>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600" dirty="0"/>
          </a:p>
        </p:txBody>
      </p:sp>
      <p:sp>
        <p:nvSpPr>
          <p:cNvPr id="27" name="Text 23"/>
          <p:cNvSpPr/>
          <p:nvPr>
            <p:custDataLst>
              <p:tags r:id="rId13"/>
            </p:custDataLst>
          </p:nvPr>
        </p:nvSpPr>
        <p:spPr>
          <a:xfrm>
            <a:off x="8321040" y="4895088"/>
            <a:ext cx="3108960" cy="310896"/>
          </a:xfrm>
          <a:prstGeom prst="rect">
            <a:avLst/>
          </a:prstGeom>
          <a:noFill/>
        </p:spPr>
        <p:txBody>
          <a:bodyPr wrap="square" lIns="0" tIns="0" rIns="0" bIns="0" rtlCol="0" anchor="ctr"/>
          <a:lstStyle/>
          <a:p>
            <a:pPr marL="0" indent="0">
              <a:buNone/>
            </a:pPr>
            <a:r>
              <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与教师仍有差距</a:t>
            </a:r>
            <a:endParaRPr lang="en-US" b="1"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Text 24"/>
          <p:cNvSpPr/>
          <p:nvPr>
            <p:custDataLst>
              <p:tags r:id="rId14"/>
            </p:custDataLst>
          </p:nvPr>
        </p:nvSpPr>
        <p:spPr>
          <a:xfrm>
            <a:off x="8321040" y="5205984"/>
            <a:ext cx="3108960" cy="548640"/>
          </a:xfrm>
          <a:prstGeom prst="rect">
            <a:avLst/>
          </a:prstGeom>
          <a:noFill/>
        </p:spPr>
        <p:txBody>
          <a:bodyPr wrap="square" lIns="0" tIns="0" rIns="0" bIns="0" rtlCol="0" anchor="t"/>
          <a:lstStyle/>
          <a:p>
            <a:pPr marL="0" indent="0">
              <a:lnSpc>
                <a:spcPct val="105000"/>
              </a:lnSpc>
              <a:buNone/>
            </a:pPr>
            <a:r>
              <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教师上限 92.2%，高出 INT4 约 21.1 pp，存在追赶空间</a:t>
            </a:r>
            <a:endParaRPr lang="en-US" sz="160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0" name="Text 26"/>
          <p:cNvSpPr/>
          <p:nvPr/>
        </p:nvSpPr>
        <p:spPr>
          <a:xfrm>
            <a:off x="11094415" y="6492240"/>
            <a:ext cx="548640" cy="274320"/>
          </a:xfrm>
          <a:prstGeom prst="rect">
            <a:avLst/>
          </a:prstGeom>
          <a:noFill/>
        </p:spPr>
        <p:txBody>
          <a:bodyPr wrap="square" lIns="0" tIns="0" rIns="0" bIns="0" rtlCol="0" anchor="ctr"/>
          <a:lstStyle/>
          <a:p>
            <a:pPr marL="0" indent="0" algn="r">
              <a:buNone/>
            </a:pPr>
            <a:r>
              <a:rPr lang="en-US" sz="9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326C"/>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B4575"/>
          </a:solidFill>
        </p:spPr>
      </p:sp>
      <p:sp>
        <p:nvSpPr>
          <p:cNvPr id="3" name="Shape 1"/>
          <p:cNvSpPr/>
          <p:nvPr/>
        </p:nvSpPr>
        <p:spPr>
          <a:xfrm>
            <a:off x="10607040" y="4206240"/>
            <a:ext cx="3291840" cy="3291840"/>
          </a:xfrm>
          <a:prstGeom prst="ellipse">
            <a:avLst/>
          </a:prstGeom>
          <a:solidFill>
            <a:srgbClr val="163C66"/>
          </a:solidFill>
        </p:spPr>
      </p:sp>
      <p:sp>
        <p:nvSpPr>
          <p:cNvPr id="4" name="Shape 2"/>
          <p:cNvSpPr/>
          <p:nvPr/>
        </p:nvSpPr>
        <p:spPr>
          <a:xfrm>
            <a:off x="548640" y="640080"/>
            <a:ext cx="502920" cy="0"/>
          </a:xfrm>
          <a:prstGeom prst="line">
            <a:avLst/>
          </a:prstGeom>
          <a:noFill/>
          <a:ln w="31750">
            <a:solidFill>
              <a:srgbClr val="5B9BD5"/>
            </a:solidFill>
            <a:prstDash val="solid"/>
          </a:ln>
        </p:spPr>
      </p:sp>
      <p:sp>
        <p:nvSpPr>
          <p:cNvPr id="5" name="Text 3"/>
          <p:cNvSpPr/>
          <p:nvPr/>
        </p:nvSpPr>
        <p:spPr>
          <a:xfrm>
            <a:off x="1188720" y="457200"/>
            <a:ext cx="7315200" cy="365760"/>
          </a:xfrm>
          <a:prstGeom prst="rect">
            <a:avLst/>
          </a:prstGeom>
          <a:noFill/>
        </p:spPr>
        <p:txBody>
          <a:bodyPr wrap="square" lIns="0" tIns="0" rIns="0" bIns="0" rtlCol="0" anchor="ctr"/>
          <a:lstStyle/>
          <a:p>
            <a:pPr marL="0" indent="0">
              <a:buNone/>
            </a:pPr>
            <a:r>
              <a:rPr lang="en-US" sz="1200" b="1" kern="0" spc="100" dirty="0">
                <a:solidFill>
                  <a:srgbClr val="AECCEA"/>
                </a:solidFill>
                <a:latin typeface="微软雅黑" panose="020B0503020204020204" pitchFamily="34" charset="-122"/>
                <a:ea typeface="微软雅黑" panose="020B0503020204020204" pitchFamily="34" charset="-122"/>
                <a:cs typeface="微软雅黑" panose="020B0503020204020204" pitchFamily="34" charset="-120"/>
              </a:rPr>
              <a:t>第八章 · 结论与展望</a:t>
            </a:r>
            <a:endParaRPr lang="en-US" sz="1200" dirty="0"/>
          </a:p>
        </p:txBody>
      </p:sp>
      <p:sp>
        <p:nvSpPr>
          <p:cNvPr id="6" name="Text 4"/>
          <p:cNvSpPr/>
          <p:nvPr/>
        </p:nvSpPr>
        <p:spPr>
          <a:xfrm>
            <a:off x="548640" y="868680"/>
            <a:ext cx="10058400" cy="548640"/>
          </a:xfrm>
          <a:prstGeom prst="rect">
            <a:avLst/>
          </a:prstGeom>
          <a:noFill/>
        </p:spPr>
        <p:txBody>
          <a:bodyPr wrap="square" lIns="0" tIns="0" rIns="0" bIns="0" rtlCol="0" anchor="ctr"/>
          <a:lstStyle/>
          <a:p>
            <a:pPr marL="0" indent="0">
              <a:buNone/>
            </a:pPr>
            <a:r>
              <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神经—符号解耦 · 检索契约 · 边缘可靠运行</a:t>
            </a:r>
            <a:endParaRPr lang="en-US" sz="32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 name="Shape 5"/>
          <p:cNvSpPr/>
          <p:nvPr/>
        </p:nvSpPr>
        <p:spPr>
          <a:xfrm>
            <a:off x="548640" y="1607820"/>
            <a:ext cx="3456305" cy="2397760"/>
          </a:xfrm>
          <a:prstGeom prst="rect">
            <a:avLst/>
          </a:prstGeom>
          <a:solidFill>
            <a:srgbClr val="16335B"/>
          </a:solidFill>
          <a:ln w="12700">
            <a:solidFill>
              <a:srgbClr val="2C5586"/>
            </a:solidFill>
            <a:prstDash val="solid"/>
          </a:ln>
        </p:spPr>
      </p:sp>
      <p:sp>
        <p:nvSpPr>
          <p:cNvPr id="8" name="Shape 6"/>
          <p:cNvSpPr/>
          <p:nvPr/>
        </p:nvSpPr>
        <p:spPr>
          <a:xfrm>
            <a:off x="548640" y="1607820"/>
            <a:ext cx="76200" cy="2397760"/>
          </a:xfrm>
          <a:prstGeom prst="rect">
            <a:avLst/>
          </a:prstGeom>
          <a:solidFill>
            <a:srgbClr val="5B9BD5"/>
          </a:solidFill>
        </p:spPr>
      </p:sp>
      <p:sp>
        <p:nvSpPr>
          <p:cNvPr id="9" name="Shape 7"/>
          <p:cNvSpPr/>
          <p:nvPr/>
        </p:nvSpPr>
        <p:spPr>
          <a:xfrm>
            <a:off x="804672" y="1863852"/>
            <a:ext cx="548640" cy="548640"/>
          </a:xfrm>
          <a:prstGeom prst="roundRect">
            <a:avLst>
              <a:gd name="adj" fmla="val 22000"/>
            </a:avLst>
          </a:prstGeom>
          <a:solidFill>
            <a:srgbClr val="5B9BD5"/>
          </a:solidFill>
        </p:spPr>
      </p:sp>
      <p:pic>
        <p:nvPicPr>
          <p:cNvPr id="10" name="Image 0" descr="preencoded.png"/>
          <p:cNvPicPr>
            <a:picLocks noChangeAspect="1"/>
          </p:cNvPicPr>
          <p:nvPr/>
        </p:nvPicPr>
        <p:blipFill>
          <a:blip r:embed="rId1"/>
          <a:stretch>
            <a:fillRect/>
          </a:stretch>
        </p:blipFill>
        <p:spPr>
          <a:xfrm>
            <a:off x="947318" y="2006498"/>
            <a:ext cx="263347" cy="263347"/>
          </a:xfrm>
          <a:prstGeom prst="rect">
            <a:avLst/>
          </a:prstGeom>
        </p:spPr>
      </p:pic>
      <p:sp>
        <p:nvSpPr>
          <p:cNvPr id="11" name="Text 8"/>
          <p:cNvSpPr/>
          <p:nvPr/>
        </p:nvSpPr>
        <p:spPr>
          <a:xfrm>
            <a:off x="804672" y="2522220"/>
            <a:ext cx="2953512" cy="365760"/>
          </a:xfrm>
          <a:prstGeom prst="rect">
            <a:avLst/>
          </a:prstGeom>
          <a:noFill/>
        </p:spPr>
        <p:txBody>
          <a:bodyPr wrap="square" lIns="0" tIns="0" rIns="0" bIns="0" rtlCol="0" anchor="t"/>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面向真实噪声</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9"/>
          <p:cNvSpPr/>
          <p:nvPr/>
        </p:nvSpPr>
        <p:spPr>
          <a:xfrm>
            <a:off x="804672" y="2948940"/>
            <a:ext cx="2953512" cy="502920"/>
          </a:xfrm>
          <a:prstGeom prst="rect">
            <a:avLst/>
          </a:prstGeom>
          <a:noFill/>
        </p:spPr>
        <p:txBody>
          <a:bodyPr wrap="square" lIns="0" tIns="0" rIns="0" bIns="0" rtlCol="0" anchor="t"/>
          <a:lstStyle/>
          <a:p>
            <a:pPr marL="0" indent="0">
              <a:lnSpc>
                <a:spcPct val="108000"/>
              </a:lnSpc>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面向必然带噪的真实感知输入，而非理想的干净网表</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Shape 10"/>
          <p:cNvSpPr/>
          <p:nvPr/>
        </p:nvSpPr>
        <p:spPr>
          <a:xfrm>
            <a:off x="4297680" y="1607820"/>
            <a:ext cx="3456305" cy="2397760"/>
          </a:xfrm>
          <a:prstGeom prst="rect">
            <a:avLst/>
          </a:prstGeom>
          <a:solidFill>
            <a:srgbClr val="16335B"/>
          </a:solidFill>
          <a:ln w="12700">
            <a:solidFill>
              <a:srgbClr val="2C5586"/>
            </a:solidFill>
            <a:prstDash val="solid"/>
          </a:ln>
        </p:spPr>
      </p:sp>
      <p:sp>
        <p:nvSpPr>
          <p:cNvPr id="14" name="Shape 11"/>
          <p:cNvSpPr/>
          <p:nvPr/>
        </p:nvSpPr>
        <p:spPr>
          <a:xfrm>
            <a:off x="4297680" y="1607820"/>
            <a:ext cx="76200" cy="2397760"/>
          </a:xfrm>
          <a:prstGeom prst="rect">
            <a:avLst/>
          </a:prstGeom>
          <a:solidFill>
            <a:srgbClr val="5B9BD5"/>
          </a:solidFill>
        </p:spPr>
      </p:sp>
      <p:sp>
        <p:nvSpPr>
          <p:cNvPr id="15" name="Shape 12"/>
          <p:cNvSpPr/>
          <p:nvPr/>
        </p:nvSpPr>
        <p:spPr>
          <a:xfrm>
            <a:off x="4553712" y="1863852"/>
            <a:ext cx="548640" cy="548640"/>
          </a:xfrm>
          <a:prstGeom prst="roundRect">
            <a:avLst>
              <a:gd name="adj" fmla="val 22000"/>
            </a:avLst>
          </a:prstGeom>
          <a:solidFill>
            <a:srgbClr val="5B9BD5"/>
          </a:solidFill>
        </p:spPr>
      </p:sp>
      <p:pic>
        <p:nvPicPr>
          <p:cNvPr id="16" name="Image 1" descr="preencoded.png"/>
          <p:cNvPicPr>
            <a:picLocks noChangeAspect="1"/>
          </p:cNvPicPr>
          <p:nvPr/>
        </p:nvPicPr>
        <p:blipFill>
          <a:blip r:embed="rId2"/>
          <a:stretch>
            <a:fillRect/>
          </a:stretch>
        </p:blipFill>
        <p:spPr>
          <a:xfrm>
            <a:off x="4696358" y="2006498"/>
            <a:ext cx="263347" cy="263347"/>
          </a:xfrm>
          <a:prstGeom prst="rect">
            <a:avLst/>
          </a:prstGeom>
        </p:spPr>
      </p:pic>
      <p:sp>
        <p:nvSpPr>
          <p:cNvPr id="17" name="Text 13"/>
          <p:cNvSpPr/>
          <p:nvPr/>
        </p:nvSpPr>
        <p:spPr>
          <a:xfrm>
            <a:off x="4553712" y="2522220"/>
            <a:ext cx="2953512" cy="365760"/>
          </a:xfrm>
          <a:prstGeom prst="rect">
            <a:avLst/>
          </a:prstGeom>
          <a:noFill/>
        </p:spPr>
        <p:txBody>
          <a:bodyPr wrap="square" lIns="0" tIns="0" rIns="0" bIns="0" rtlCol="0" anchor="t"/>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神经—符号解耦</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Text 14"/>
          <p:cNvSpPr/>
          <p:nvPr/>
        </p:nvSpPr>
        <p:spPr>
          <a:xfrm>
            <a:off x="4553712" y="2948940"/>
            <a:ext cx="2953512" cy="502920"/>
          </a:xfrm>
          <a:prstGeom prst="rect">
            <a:avLst/>
          </a:prstGeom>
          <a:noFill/>
        </p:spPr>
        <p:txBody>
          <a:bodyPr wrap="square" lIns="0" tIns="0" rIns="0" bIns="0" rtlCol="0" anchor="t"/>
          <a:lstStyle/>
          <a:p>
            <a:pPr marL="0" indent="0">
              <a:lnSpc>
                <a:spcPct val="108000"/>
              </a:lnSpc>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“对错判断”交给可审计符号系统，“语言表达”交给受约束小模型</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Shape 15"/>
          <p:cNvSpPr/>
          <p:nvPr/>
        </p:nvSpPr>
        <p:spPr>
          <a:xfrm>
            <a:off x="8046720" y="1607820"/>
            <a:ext cx="3456305" cy="2397760"/>
          </a:xfrm>
          <a:prstGeom prst="rect">
            <a:avLst/>
          </a:prstGeom>
          <a:solidFill>
            <a:srgbClr val="16335B"/>
          </a:solidFill>
          <a:ln w="12700">
            <a:solidFill>
              <a:srgbClr val="2C5586"/>
            </a:solidFill>
            <a:prstDash val="solid"/>
          </a:ln>
        </p:spPr>
      </p:sp>
      <p:sp>
        <p:nvSpPr>
          <p:cNvPr id="20" name="Shape 16"/>
          <p:cNvSpPr/>
          <p:nvPr/>
        </p:nvSpPr>
        <p:spPr>
          <a:xfrm>
            <a:off x="8046720" y="1607820"/>
            <a:ext cx="76200" cy="2397760"/>
          </a:xfrm>
          <a:prstGeom prst="rect">
            <a:avLst/>
          </a:prstGeom>
          <a:solidFill>
            <a:srgbClr val="5B9BD5"/>
          </a:solidFill>
        </p:spPr>
      </p:sp>
      <p:sp>
        <p:nvSpPr>
          <p:cNvPr id="21" name="Shape 17"/>
          <p:cNvSpPr/>
          <p:nvPr/>
        </p:nvSpPr>
        <p:spPr>
          <a:xfrm>
            <a:off x="8302752" y="1863852"/>
            <a:ext cx="548640" cy="548640"/>
          </a:xfrm>
          <a:prstGeom prst="roundRect">
            <a:avLst>
              <a:gd name="adj" fmla="val 22000"/>
            </a:avLst>
          </a:prstGeom>
          <a:solidFill>
            <a:srgbClr val="5B9BD5"/>
          </a:solidFill>
        </p:spPr>
      </p:sp>
      <p:pic>
        <p:nvPicPr>
          <p:cNvPr id="22" name="Image 2" descr="preencoded.png"/>
          <p:cNvPicPr>
            <a:picLocks noChangeAspect="1"/>
          </p:cNvPicPr>
          <p:nvPr/>
        </p:nvPicPr>
        <p:blipFill>
          <a:blip r:embed="rId3"/>
          <a:stretch>
            <a:fillRect/>
          </a:stretch>
        </p:blipFill>
        <p:spPr>
          <a:xfrm>
            <a:off x="8445398" y="2006498"/>
            <a:ext cx="263347" cy="263347"/>
          </a:xfrm>
          <a:prstGeom prst="rect">
            <a:avLst/>
          </a:prstGeom>
        </p:spPr>
      </p:pic>
      <p:sp>
        <p:nvSpPr>
          <p:cNvPr id="23" name="Text 18"/>
          <p:cNvSpPr/>
          <p:nvPr/>
        </p:nvSpPr>
        <p:spPr>
          <a:xfrm>
            <a:off x="8302752" y="2522220"/>
            <a:ext cx="2953512" cy="365760"/>
          </a:xfrm>
          <a:prstGeom prst="rect">
            <a:avLst/>
          </a:prstGeom>
          <a:noFill/>
        </p:spPr>
        <p:txBody>
          <a:bodyPr wrap="square" lIns="0" tIns="0" rIns="0" bIns="0" rtlCol="0" anchor="t"/>
          <a:lstStyle/>
          <a:p>
            <a:pPr marL="0" indent="0">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防幻觉做成工程契约</a:t>
            </a:r>
            <a:endPar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19"/>
          <p:cNvSpPr/>
          <p:nvPr/>
        </p:nvSpPr>
        <p:spPr>
          <a:xfrm>
            <a:off x="8302752" y="2948940"/>
            <a:ext cx="2953512" cy="502920"/>
          </a:xfrm>
          <a:prstGeom prst="rect">
            <a:avLst/>
          </a:prstGeom>
          <a:noFill/>
        </p:spPr>
        <p:txBody>
          <a:bodyPr wrap="square" lIns="0" tIns="0" rIns="0" bIns="0" rtlCol="0" anchor="t"/>
          <a:lstStyle/>
          <a:p>
            <a:pPr marL="0" indent="0">
              <a:lnSpc>
                <a:spcPct val="108000"/>
              </a:lnSpc>
              <a:buNone/>
            </a:pPr>
            <a:r>
              <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rPr>
              <a:t>“训练即部署”不变量 + 不可绕过校验器，而非提示技巧</a:t>
            </a:r>
            <a:endParaRPr lang="en-US" sz="1600" dirty="0">
              <a:solidFill>
                <a:srgbClr val="C9DEF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Shape 20"/>
          <p:cNvSpPr/>
          <p:nvPr/>
        </p:nvSpPr>
        <p:spPr>
          <a:xfrm>
            <a:off x="548640" y="4130040"/>
            <a:ext cx="11094720" cy="1318895"/>
          </a:xfrm>
          <a:prstGeom prst="rect">
            <a:avLst/>
          </a:prstGeom>
          <a:solidFill>
            <a:srgbClr val="16335B"/>
          </a:solidFill>
          <a:ln w="12700">
            <a:solidFill>
              <a:srgbClr val="CFD5EA"/>
            </a:solidFill>
            <a:prstDash val="solid"/>
          </a:ln>
          <a:effectLst>
            <a:outerShdw blurRad="76200" dist="25400" dir="5400000" algn="bl" rotWithShape="0">
              <a:srgbClr val="9AAFD0">
                <a:alpha val="10000"/>
              </a:srgbClr>
            </a:outerShdw>
          </a:effectLst>
        </p:spPr>
      </p:sp>
      <p:sp>
        <p:nvSpPr>
          <p:cNvPr id="26" name="Shape 21"/>
          <p:cNvSpPr/>
          <p:nvPr/>
        </p:nvSpPr>
        <p:spPr>
          <a:xfrm>
            <a:off x="548640" y="4130040"/>
            <a:ext cx="76200" cy="1318895"/>
          </a:xfrm>
          <a:prstGeom prst="rect">
            <a:avLst/>
          </a:prstGeom>
          <a:solidFill>
            <a:srgbClr val="1E8E6A"/>
          </a:solidFill>
        </p:spPr>
      </p:sp>
      <p:sp>
        <p:nvSpPr>
          <p:cNvPr id="27" name="Text 22"/>
          <p:cNvSpPr/>
          <p:nvPr/>
        </p:nvSpPr>
        <p:spPr>
          <a:xfrm>
            <a:off x="868680" y="4132580"/>
            <a:ext cx="10454640" cy="1301750"/>
          </a:xfrm>
          <a:prstGeom prst="rect">
            <a:avLst/>
          </a:prstGeom>
          <a:noFill/>
        </p:spPr>
        <p:txBody>
          <a:bodyPr wrap="square" lIns="0" tIns="0" rIns="0" bIns="0" rtlCol="0" anchor="ctr"/>
          <a:lstStyle/>
          <a:p>
            <a:pPr marL="0" indent="0">
              <a:lnSpc>
                <a:spcPct val="105000"/>
              </a:lnSpc>
              <a:buNone/>
            </a:pPr>
            <a:r>
              <a:rPr lang="en-US" sz="20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rPr>
              <a:t>成果：</a:t>
            </a:r>
            <a:endParaRPr lang="en-US" sz="2000" b="1" dirty="0">
              <a:solidFill>
                <a:srgbClr val="1E8E6A"/>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05000"/>
              </a:lnSpc>
              <a:buNone/>
            </a:pPr>
            <a:r>
              <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rPr>
              <a:t>NPU 约 4 W 增量功耗下达成约 75 img/s 吞吐，端侧学生模型在 iGPU 上约 10 W、23 tok/s 完成接地解释，整系统在 8 GB 内存预算内可用；检索契约使端侧小模型从“全场景无法指认故障”跃升为“六场景全部正确接地”。</a:t>
            </a:r>
            <a:endParaRPr lang="en-US" dirty="0">
              <a:solidFill>
                <a:srgbClr val="EAF2F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Text 23"/>
          <p:cNvSpPr/>
          <p:nvPr/>
        </p:nvSpPr>
        <p:spPr>
          <a:xfrm>
            <a:off x="548640" y="5636260"/>
            <a:ext cx="3657600" cy="274320"/>
          </a:xfrm>
          <a:prstGeom prst="rect">
            <a:avLst/>
          </a:prstGeom>
          <a:noFill/>
        </p:spPr>
        <p:txBody>
          <a:bodyPr wrap="square" lIns="0" tIns="0" rIns="0" bIns="0" rtlCol="0" anchor="ctr"/>
          <a:lstStyle/>
          <a:p>
            <a:pPr marL="0" indent="0">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后续工作方向</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9" name="Shape 24"/>
          <p:cNvSpPr/>
          <p:nvPr>
            <p:custDataLst>
              <p:tags r:id="rId4"/>
            </p:custDataLst>
          </p:nvPr>
        </p:nvSpPr>
        <p:spPr>
          <a:xfrm>
            <a:off x="548640" y="5956300"/>
            <a:ext cx="2636444" cy="749808"/>
          </a:xfrm>
          <a:prstGeom prst="roundRect">
            <a:avLst>
              <a:gd name="adj" fmla="val 9756"/>
            </a:avLst>
          </a:prstGeom>
          <a:solidFill>
            <a:srgbClr val="FFFFFF">
              <a:alpha val="10000"/>
            </a:srgbClr>
          </a:solidFill>
          <a:ln w="12700">
            <a:solidFill>
              <a:srgbClr val="2C5586"/>
            </a:solidFill>
            <a:prstDash val="solid"/>
          </a:ln>
        </p:spPr>
      </p:sp>
      <p:sp>
        <p:nvSpPr>
          <p:cNvPr id="30" name="Text 25"/>
          <p:cNvSpPr/>
          <p:nvPr>
            <p:custDataLst>
              <p:tags r:id="rId5"/>
            </p:custDataLst>
          </p:nvPr>
        </p:nvSpPr>
        <p:spPr>
          <a:xfrm>
            <a:off x="685800" y="5991352"/>
            <a:ext cx="548640" cy="274320"/>
          </a:xfrm>
          <a:prstGeom prst="rect">
            <a:avLst/>
          </a:prstGeom>
          <a:noFill/>
        </p:spPr>
        <p:txBody>
          <a:bodyPr wrap="square" lIns="0" tIns="0" rIns="0" bIns="0" rtlCol="0" anchor="ctr"/>
          <a:lstStyle/>
          <a:p>
            <a:pPr marL="0" indent="0">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1" name="Text 26"/>
          <p:cNvSpPr/>
          <p:nvPr>
            <p:custDataLst>
              <p:tags r:id="rId6"/>
            </p:custDataLst>
          </p:nvPr>
        </p:nvSpPr>
        <p:spPr>
          <a:xfrm>
            <a:off x="685800" y="6238240"/>
            <a:ext cx="2362124" cy="384048"/>
          </a:xfrm>
          <a:prstGeom prst="rect">
            <a:avLst/>
          </a:prstGeom>
          <a:noFill/>
        </p:spPr>
        <p:txBody>
          <a:bodyPr wrap="square" lIns="0" tIns="0" rIns="0" bIns="0" rtlCol="0" anchor="t"/>
          <a:lstStyle/>
          <a:p>
            <a:pPr marL="0" indent="0">
              <a:lnSpc>
                <a:spcPct val="100000"/>
              </a:lnSpc>
              <a:buNone/>
            </a:pPr>
            <a:r>
              <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rPr>
              <a:t>扩展更大规模、多人复核 gold 评测集</a:t>
            </a:r>
            <a:endPar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2" name="Shape 27"/>
          <p:cNvSpPr/>
          <p:nvPr>
            <p:custDataLst>
              <p:tags r:id="rId7"/>
            </p:custDataLst>
          </p:nvPr>
        </p:nvSpPr>
        <p:spPr>
          <a:xfrm>
            <a:off x="3367964" y="5956300"/>
            <a:ext cx="2636444" cy="749808"/>
          </a:xfrm>
          <a:prstGeom prst="roundRect">
            <a:avLst>
              <a:gd name="adj" fmla="val 9756"/>
            </a:avLst>
          </a:prstGeom>
          <a:solidFill>
            <a:srgbClr val="FFFFFF">
              <a:alpha val="10000"/>
            </a:srgbClr>
          </a:solidFill>
          <a:ln w="12700">
            <a:solidFill>
              <a:srgbClr val="2C5586"/>
            </a:solidFill>
            <a:prstDash val="solid"/>
          </a:ln>
        </p:spPr>
      </p:sp>
      <p:sp>
        <p:nvSpPr>
          <p:cNvPr id="33" name="Text 28"/>
          <p:cNvSpPr/>
          <p:nvPr>
            <p:custDataLst>
              <p:tags r:id="rId8"/>
            </p:custDataLst>
          </p:nvPr>
        </p:nvSpPr>
        <p:spPr>
          <a:xfrm>
            <a:off x="3505124" y="5991352"/>
            <a:ext cx="548640" cy="274320"/>
          </a:xfrm>
          <a:prstGeom prst="rect">
            <a:avLst/>
          </a:prstGeom>
          <a:noFill/>
        </p:spPr>
        <p:txBody>
          <a:bodyPr wrap="square" lIns="0" tIns="0" rIns="0" bIns="0" rtlCol="0" anchor="ctr"/>
          <a:lstStyle/>
          <a:p>
            <a:pPr marL="0" indent="0">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4" name="Text 29"/>
          <p:cNvSpPr/>
          <p:nvPr>
            <p:custDataLst>
              <p:tags r:id="rId9"/>
            </p:custDataLst>
          </p:nvPr>
        </p:nvSpPr>
        <p:spPr>
          <a:xfrm>
            <a:off x="3505124" y="6238240"/>
            <a:ext cx="2362124" cy="384048"/>
          </a:xfrm>
          <a:prstGeom prst="rect">
            <a:avLst/>
          </a:prstGeom>
          <a:noFill/>
        </p:spPr>
        <p:txBody>
          <a:bodyPr wrap="square" lIns="0" tIns="0" rIns="0" bIns="0" rtlCol="0" anchor="t"/>
          <a:lstStyle/>
          <a:p>
            <a:pPr marL="0" indent="0">
              <a:lnSpc>
                <a:spcPct val="100000"/>
              </a:lnSpc>
              <a:buNone/>
            </a:pPr>
            <a:r>
              <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rPr>
              <a:t>增强 diagnostic 数据与回答约束</a:t>
            </a:r>
            <a:endPar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5" name="Shape 30"/>
          <p:cNvSpPr/>
          <p:nvPr>
            <p:custDataLst>
              <p:tags r:id="rId10"/>
            </p:custDataLst>
          </p:nvPr>
        </p:nvSpPr>
        <p:spPr>
          <a:xfrm>
            <a:off x="6187288" y="5956300"/>
            <a:ext cx="2636444" cy="749808"/>
          </a:xfrm>
          <a:prstGeom prst="roundRect">
            <a:avLst>
              <a:gd name="adj" fmla="val 9756"/>
            </a:avLst>
          </a:prstGeom>
          <a:solidFill>
            <a:srgbClr val="FFFFFF">
              <a:alpha val="10000"/>
            </a:srgbClr>
          </a:solidFill>
          <a:ln w="12700">
            <a:solidFill>
              <a:srgbClr val="2C5586"/>
            </a:solidFill>
            <a:prstDash val="solid"/>
          </a:ln>
        </p:spPr>
      </p:sp>
      <p:sp>
        <p:nvSpPr>
          <p:cNvPr id="36" name="Text 31"/>
          <p:cNvSpPr/>
          <p:nvPr>
            <p:custDataLst>
              <p:tags r:id="rId11"/>
            </p:custDataLst>
          </p:nvPr>
        </p:nvSpPr>
        <p:spPr>
          <a:xfrm>
            <a:off x="6324448" y="5991352"/>
            <a:ext cx="548640" cy="274320"/>
          </a:xfrm>
          <a:prstGeom prst="rect">
            <a:avLst/>
          </a:prstGeom>
          <a:noFill/>
        </p:spPr>
        <p:txBody>
          <a:bodyPr wrap="square" lIns="0" tIns="0" rIns="0" bIns="0" rtlCol="0" anchor="ctr"/>
          <a:lstStyle/>
          <a:p>
            <a:pPr marL="0" indent="0">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7" name="Text 32"/>
          <p:cNvSpPr/>
          <p:nvPr>
            <p:custDataLst>
              <p:tags r:id="rId12"/>
            </p:custDataLst>
          </p:nvPr>
        </p:nvSpPr>
        <p:spPr>
          <a:xfrm>
            <a:off x="6324448" y="6238240"/>
            <a:ext cx="2362124" cy="384048"/>
          </a:xfrm>
          <a:prstGeom prst="rect">
            <a:avLst/>
          </a:prstGeom>
          <a:noFill/>
        </p:spPr>
        <p:txBody>
          <a:bodyPr wrap="square" lIns="0" tIns="0" rIns="0" bIns="0" rtlCol="0" anchor="t"/>
          <a:lstStyle/>
          <a:p>
            <a:pPr marL="0" indent="0">
              <a:lnSpc>
                <a:spcPct val="100000"/>
              </a:lnSpc>
              <a:buNone/>
            </a:pPr>
            <a:r>
              <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rPr>
              <a:t>统计大规模真板端到端成功率</a:t>
            </a:r>
            <a:endPar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8" name="Shape 33"/>
          <p:cNvSpPr/>
          <p:nvPr>
            <p:custDataLst>
              <p:tags r:id="rId13"/>
            </p:custDataLst>
          </p:nvPr>
        </p:nvSpPr>
        <p:spPr>
          <a:xfrm>
            <a:off x="9006611" y="5956300"/>
            <a:ext cx="2636444" cy="749808"/>
          </a:xfrm>
          <a:prstGeom prst="roundRect">
            <a:avLst>
              <a:gd name="adj" fmla="val 9756"/>
            </a:avLst>
          </a:prstGeom>
          <a:solidFill>
            <a:srgbClr val="FFFFFF">
              <a:alpha val="10000"/>
            </a:srgbClr>
          </a:solidFill>
          <a:ln w="12700">
            <a:solidFill>
              <a:srgbClr val="2C5586"/>
            </a:solidFill>
            <a:prstDash val="solid"/>
          </a:ln>
        </p:spPr>
      </p:sp>
      <p:sp>
        <p:nvSpPr>
          <p:cNvPr id="39" name="Text 34"/>
          <p:cNvSpPr/>
          <p:nvPr>
            <p:custDataLst>
              <p:tags r:id="rId14"/>
            </p:custDataLst>
          </p:nvPr>
        </p:nvSpPr>
        <p:spPr>
          <a:xfrm>
            <a:off x="9143771" y="5991352"/>
            <a:ext cx="548640" cy="274320"/>
          </a:xfrm>
          <a:prstGeom prst="rect">
            <a:avLst/>
          </a:prstGeom>
          <a:noFill/>
        </p:spPr>
        <p:txBody>
          <a:bodyPr wrap="square" lIns="0" tIns="0" rIns="0" bIns="0" rtlCol="0" anchor="ctr"/>
          <a:lstStyle/>
          <a:p>
            <a:pPr marL="0" indent="0">
              <a:buNone/>
            </a:pPr>
            <a:r>
              <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0" name="Text 35"/>
          <p:cNvSpPr/>
          <p:nvPr>
            <p:custDataLst>
              <p:tags r:id="rId15"/>
            </p:custDataLst>
          </p:nvPr>
        </p:nvSpPr>
        <p:spPr>
          <a:xfrm>
            <a:off x="9143771" y="6238240"/>
            <a:ext cx="2362124" cy="384048"/>
          </a:xfrm>
          <a:prstGeom prst="rect">
            <a:avLst/>
          </a:prstGeom>
          <a:noFill/>
        </p:spPr>
        <p:txBody>
          <a:bodyPr wrap="square" lIns="0" tIns="0" rIns="0" bIns="0" rtlCol="0" anchor="t"/>
          <a:lstStyle/>
          <a:p>
            <a:pPr marL="0" indent="0">
              <a:lnSpc>
                <a:spcPct val="100000"/>
              </a:lnSpc>
              <a:buNone/>
            </a:pPr>
            <a:r>
              <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rPr>
              <a:t>持续扩充知识库覆盖更多实验</a:t>
            </a:r>
            <a:endParaRPr lang="en-US" sz="1400" dirty="0">
              <a:solidFill>
                <a:srgbClr val="D6E6F6"/>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4326C"/>
          </a:solidFill>
        </p:spPr>
      </p:sp>
      <p:sp>
        <p:nvSpPr>
          <p:cNvPr id="3" name="Shape 1"/>
          <p:cNvSpPr/>
          <p:nvPr/>
        </p:nvSpPr>
        <p:spPr>
          <a:xfrm>
            <a:off x="0" y="1078992"/>
            <a:ext cx="12191695" cy="50292"/>
          </a:xfrm>
          <a:prstGeom prst="rect">
            <a:avLst/>
          </a:prstGeom>
          <a:solidFill>
            <a:srgbClr val="4472C4"/>
          </a:solidFill>
        </p:spPr>
      </p:sp>
      <p:sp>
        <p:nvSpPr>
          <p:cNvPr id="4" name="Text 2"/>
          <p:cNvSpPr/>
          <p:nvPr/>
        </p:nvSpPr>
        <p:spPr>
          <a:xfrm>
            <a:off x="-635" y="310896"/>
            <a:ext cx="12191695" cy="420624"/>
          </a:xfrm>
          <a:prstGeom prst="rect">
            <a:avLst/>
          </a:prstGeom>
          <a:noFill/>
        </p:spPr>
        <p:txBody>
          <a:bodyPr wrap="square" lIns="0" tIns="0" rIns="0" bIns="0" rtlCol="0" anchor="ctr"/>
          <a:lstStyle/>
          <a:p>
            <a:pPr marL="0" indent="0" algn="ctr">
              <a:buNone/>
            </a:pPr>
            <a:r>
              <a:rPr lang="en-US" sz="2800" b="1" kern="0"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2026 英特尔杯大学生电子设计竞赛 · 嵌入式系统专题邀请赛</a:t>
            </a:r>
            <a:endParaRPr lang="en-US" sz="2800" b="1" kern="0" spc="1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Shape 6"/>
          <p:cNvSpPr/>
          <p:nvPr/>
        </p:nvSpPr>
        <p:spPr>
          <a:xfrm>
            <a:off x="1097280" y="1508760"/>
            <a:ext cx="9997440" cy="1143000"/>
          </a:xfrm>
          <a:prstGeom prst="rect">
            <a:avLst/>
          </a:prstGeom>
          <a:solidFill>
            <a:srgbClr val="F3F5F9"/>
          </a:solidFill>
          <a:ln w="12700">
            <a:solidFill>
              <a:srgbClr val="CFD5EA"/>
            </a:solidFill>
            <a:prstDash val="solid"/>
          </a:ln>
          <a:effectLst>
            <a:outerShdw blurRad="76200" dist="25400" dir="5400000" algn="bl" rotWithShape="0">
              <a:srgbClr val="9AAFD0">
                <a:alpha val="10000"/>
              </a:srgbClr>
            </a:outerShdw>
          </a:effectLst>
        </p:spPr>
      </p:sp>
      <p:sp>
        <p:nvSpPr>
          <p:cNvPr id="10" name="Shape 7"/>
          <p:cNvSpPr/>
          <p:nvPr/>
        </p:nvSpPr>
        <p:spPr>
          <a:xfrm>
            <a:off x="1097280" y="1508760"/>
            <a:ext cx="76200" cy="1143000"/>
          </a:xfrm>
          <a:prstGeom prst="rect">
            <a:avLst/>
          </a:prstGeom>
          <a:solidFill>
            <a:srgbClr val="4472C4"/>
          </a:solidFill>
        </p:spPr>
      </p:sp>
      <p:sp>
        <p:nvSpPr>
          <p:cNvPr id="11" name="Text 8"/>
          <p:cNvSpPr/>
          <p:nvPr/>
        </p:nvSpPr>
        <p:spPr>
          <a:xfrm>
            <a:off x="1417320" y="1508760"/>
            <a:ext cx="9448800" cy="1143000"/>
          </a:xfrm>
          <a:prstGeom prst="rect">
            <a:avLst/>
          </a:prstGeom>
          <a:noFill/>
        </p:spPr>
        <p:txBody>
          <a:bodyPr wrap="square" lIns="0" tIns="0" rIns="0" bIns="0" rtlCol="0" anchor="ctr"/>
          <a:lstStyle/>
          <a:p>
            <a:pPr marL="0" indent="0" algn="l">
              <a:lnSpc>
                <a:spcPct val="112000"/>
              </a:lnSpc>
              <a:buNone/>
            </a:pPr>
            <a:r>
              <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rPr>
              <a:t>LabGuardian 以“感知—符号—接地解释”三链路解耦架构，将面包板电路的视觉识别、确定性诊断与受约束教学解释统一于 Intel DK-2500 端侧，实现可复现、可审计、可解释的实验诊断。</a:t>
            </a:r>
            <a:endParaRPr lang="en-US" dirty="0">
              <a:solidFill>
                <a:srgbClr val="38353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9"/>
          <p:cNvSpPr/>
          <p:nvPr/>
        </p:nvSpPr>
        <p:spPr>
          <a:xfrm>
            <a:off x="0" y="2971800"/>
            <a:ext cx="12191695" cy="640080"/>
          </a:xfrm>
          <a:prstGeom prst="rect">
            <a:avLst/>
          </a:prstGeom>
          <a:noFill/>
        </p:spPr>
        <p:txBody>
          <a:bodyPr wrap="square" lIns="0" tIns="0" rIns="0" bIns="0" rtlCol="0" anchor="ctr"/>
          <a:lstStyle/>
          <a:p>
            <a:pPr marL="0" indent="0" algn="ctr">
              <a:buNone/>
            </a:pPr>
            <a:r>
              <a:rPr lang="en-US" sz="4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rPr>
              <a:t>请各位专家批评指正</a:t>
            </a:r>
            <a:endParaRPr lang="en-US" sz="4400" b="1" dirty="0">
              <a:solidFill>
                <a:srgbClr val="14326C"/>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Text 10"/>
          <p:cNvSpPr/>
          <p:nvPr/>
        </p:nvSpPr>
        <p:spPr>
          <a:xfrm>
            <a:off x="0" y="3970020"/>
            <a:ext cx="12191695" cy="548640"/>
          </a:xfrm>
          <a:prstGeom prst="rect">
            <a:avLst/>
          </a:prstGeom>
          <a:noFill/>
        </p:spPr>
        <p:txBody>
          <a:bodyPr wrap="square" lIns="0" tIns="0" rIns="0" bIns="0" rtlCol="0" anchor="ctr"/>
          <a:lstStyle/>
          <a:p>
            <a:pPr marL="0" indent="0" algn="ctr">
              <a:buNone/>
            </a:pPr>
            <a:r>
              <a:rPr lang="en-US" sz="3200" b="1" kern="0" spc="400"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谢   谢</a:t>
            </a:r>
            <a:endParaRPr lang="en-US" sz="3200" b="1" kern="0" spc="400"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9" name="Text 16"/>
          <p:cNvSpPr/>
          <p:nvPr/>
        </p:nvSpPr>
        <p:spPr>
          <a:xfrm>
            <a:off x="0" y="5836920"/>
            <a:ext cx="12191695" cy="292608"/>
          </a:xfrm>
          <a:prstGeom prst="rect">
            <a:avLst/>
          </a:prstGeom>
          <a:noFill/>
        </p:spPr>
        <p:txBody>
          <a:bodyPr wrap="square" lIns="0" tIns="0" rIns="0" bIns="0" rtlCol="0" anchor="ctr"/>
          <a:lstStyle/>
          <a:p>
            <a:pPr marL="0" indent="0" algn="ctr">
              <a:buNone/>
            </a:pPr>
            <a:r>
              <a:rPr lang="en-US" sz="11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参赛队伍：____________     </a:t>
            </a:r>
            <a:r>
              <a:rPr lang="en-US" sz="1150"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0"/>
              </a:rPr>
              <a:t>指导教师：____________</a:t>
            </a:r>
            <a:endParaRPr lang="en-US" sz="1150" dirty="0"/>
          </a:p>
        </p:txBody>
      </p:sp>
      <p:sp>
        <p:nvSpPr>
          <p:cNvPr id="20" name="Text 17"/>
          <p:cNvSpPr/>
          <p:nvPr/>
        </p:nvSpPr>
        <p:spPr>
          <a:xfrm>
            <a:off x="0" y="6156960"/>
            <a:ext cx="12191695" cy="292608"/>
          </a:xfrm>
          <a:prstGeom prst="rect">
            <a:avLst/>
          </a:prstGeom>
          <a:noFill/>
        </p:spPr>
        <p:txBody>
          <a:bodyPr wrap="square" lIns="0" tIns="0" rIns="0" bIns="0" rtlCol="0" anchor="ctr"/>
          <a:lstStyle/>
          <a:p>
            <a:pPr marL="0" indent="0" algn="ctr">
              <a:buNone/>
            </a:pPr>
            <a:r>
              <a:rPr lang="en-US" sz="12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0"/>
              </a:rPr>
              <a:t>2026.06</a:t>
            </a:r>
            <a:endParaRPr lang="en-US" sz="1200" dirty="0"/>
          </a:p>
        </p:txBody>
      </p:sp>
    </p:spTree>
  </p:cSld>
  <p:clrMapOvr>
    <a:masterClrMapping/>
  </p:clrMapOvr>
</p:sld>
</file>

<file path=ppt/tags/tag1.xml><?xml version="1.0" encoding="utf-8"?>
<p:tagLst xmlns:p="http://schemas.openxmlformats.org/presentationml/2006/main">
  <p:tag name="KSO_WM_DIAGRAM_VIRTUALLY_FRAME" val="{&quot;height&quot;:352.8,&quot;left&quot;:43.2,&quot;top&quot;:118.8,&quot;width&quot;:867.6}"/>
</p:tagLst>
</file>

<file path=ppt/tags/tag2.xml><?xml version="1.0" encoding="utf-8"?>
<p:tagLst xmlns:p="http://schemas.openxmlformats.org/presentationml/2006/main">
  <p:tag name="KSO_WM_DIAGRAM_VIRTUALLY_FRAME" val="{&quot;height&quot;:352.8,&quot;left&quot;:43.2,&quot;top&quot;:118.8,&quot;width&quot;:867.6}"/>
</p:tagLst>
</file>

<file path=ppt/tags/tag3.xml><?xml version="1.0" encoding="utf-8"?>
<p:tagLst xmlns:p="http://schemas.openxmlformats.org/presentationml/2006/main">
  <p:tag name="KSO_WM_DIAGRAM_VIRTUALLY_FRAME" val="{&quot;height&quot;:352.8,&quot;left&quot;:43.2,&quot;top&quot;:118.8,&quot;width&quot;:867.6}"/>
</p:tagLst>
</file>

<file path=ppt/tags/tag4.xml><?xml version="1.0" encoding="utf-8"?>
<p:tagLst xmlns:p="http://schemas.openxmlformats.org/presentationml/2006/main">
  <p:tag name="KSO_WM_DIAGRAM_VIRTUALLY_FRAME" val="{&quot;height&quot;:352.8,&quot;left&quot;:43.2,&quot;top&quot;:118.8,&quot;width&quot;:867.6}"/>
</p:tagLst>
</file>

<file path=ppt/tags/tag5.xml><?xml version="1.0" encoding="utf-8"?>
<p:tagLst xmlns:p="http://schemas.openxmlformats.org/presentationml/2006/main">
  <p:tag name="KSO_WM_DIAGRAM_VIRTUALLY_FRAME" val="{&quot;height&quot;:352.8,&quot;left&quot;:43.2,&quot;top&quot;:118.8,&quot;width&quot;:867.6}"/>
</p:tagLst>
</file>

<file path=ppt/tags/tag6.xml><?xml version="1.0" encoding="utf-8"?>
<p:tagLst xmlns:p="http://schemas.openxmlformats.org/presentationml/2006/main">
  <p:tag name="KSO_WM_DIAGRAM_VIRTUALLY_FRAME" val="{&quot;height&quot;:352.8,&quot;left&quot;:43.2,&quot;top&quot;:118.8,&quot;width&quot;:867.6}"/>
</p:tagLst>
</file>

<file path=ppt/tags/tag7.xml><?xml version="1.0" encoding="utf-8"?>
<p:tagLst xmlns:p="http://schemas.openxmlformats.org/presentationml/2006/main">
  <p:tag name="KSO_WM_DIAGRAM_VIRTUALLY_FRAME" val="{&quot;height&quot;:352.8,&quot;left&quot;:43.2,&quot;top&quot;:118.8,&quot;width&quot;:867.6}"/>
</p:tagLst>
</file>

<file path=ppt/tags/tag8.xml><?xml version="1.0" encoding="utf-8"?>
<p:tagLst xmlns:p="http://schemas.openxmlformats.org/presentationml/2006/main">
  <p:tag name="KSO_WM_DIAGRAM_VIRTUALLY_FRAME" val="{&quot;height&quot;:352.8,&quot;left&quot;:43.2,&quot;top&quot;:118.8,&quot;width&quot;:867.6}"/>
</p:tagLst>
</file>

<file path=ppt/tags/tag9.xml><?xml version="1.0" encoding="utf-8"?>
<p:tagLst xmlns:p="http://schemas.openxmlformats.org/presentationml/2006/main">
  <p:tag name="KSO_WM_DIAGRAM_VIRTUALLY_FRAME" val="{&quot;height&quot;:352.8,&quot;left&quot;:43.2,&quot;top&quot;:118.8,&quot;width&quot;:867.6}"/>
</p:tagLst>
</file>

<file path=ppt/tags/tag10.xml><?xml version="1.0" encoding="utf-8"?>
<p:tagLst xmlns:p="http://schemas.openxmlformats.org/presentationml/2006/main">
  <p:tag name="KSO_WM_DIAGRAM_VIRTUALLY_FRAME" val="{&quot;height&quot;:352.8,&quot;left&quot;:43.2,&quot;top&quot;:118.8,&quot;width&quot;:867.6}"/>
</p:tagLst>
</file>

<file path=ppt/tags/tag11.xml><?xml version="1.0" encoding="utf-8"?>
<p:tagLst xmlns:p="http://schemas.openxmlformats.org/presentationml/2006/main">
  <p:tag name="KSO_WM_DIAGRAM_VIRTUALLY_FRAME" val="{&quot;height&quot;:352.8,&quot;left&quot;:43.2,&quot;top&quot;:118.8,&quot;width&quot;:867.6}"/>
</p:tagLst>
</file>

<file path=ppt/tags/tag12.xml><?xml version="1.0" encoding="utf-8"?>
<p:tagLst xmlns:p="http://schemas.openxmlformats.org/presentationml/2006/main">
  <p:tag name="KSO_WM_DIAGRAM_VIRTUALLY_FRAME" val="{&quot;height&quot;:352.8,&quot;left&quot;:43.2,&quot;top&quot;:118.8,&quot;width&quot;:867.6}"/>
</p:tagLst>
</file>

<file path=ppt/tags/tag13.xml><?xml version="1.0" encoding="utf-8"?>
<p:tagLst xmlns:p="http://schemas.openxmlformats.org/presentationml/2006/main">
  <p:tag name="KSO_WM_DIAGRAM_VIRTUALLY_FRAME" val="{&quot;height&quot;:352.8,&quot;left&quot;:43.2,&quot;top&quot;:118.8,&quot;width&quot;:867.6}"/>
</p:tagLst>
</file>

<file path=ppt/tags/tag14.xml><?xml version="1.0" encoding="utf-8"?>
<p:tagLst xmlns:p="http://schemas.openxmlformats.org/presentationml/2006/main">
  <p:tag name="KSO_WM_DIAGRAM_VIRTUALLY_FRAME" val="{&quot;height&quot;:352.8,&quot;left&quot;:43.2,&quot;top&quot;:118.8,&quot;width&quot;:867.6}"/>
</p:tagLst>
</file>

<file path=ppt/tags/tag15.xml><?xml version="1.0" encoding="utf-8"?>
<p:tagLst xmlns:p="http://schemas.openxmlformats.org/presentationml/2006/main">
  <p:tag name="KSO_WM_DIAGRAM_VIRTUALLY_FRAME" val="{&quot;height&quot;:352.8,&quot;left&quot;:43.2,&quot;top&quot;:118.8,&quot;width&quot;:867.6}"/>
</p:tagLst>
</file>

<file path=ppt/tags/tag16.xml><?xml version="1.0" encoding="utf-8"?>
<p:tagLst xmlns:p="http://schemas.openxmlformats.org/presentationml/2006/main">
  <p:tag name="KSO_WM_DIAGRAM_VIRTUALLY_FRAME" val="{&quot;height&quot;:352.8,&quot;left&quot;:43.2,&quot;top&quot;:118.8,&quot;width&quot;:867.6}"/>
</p:tagLst>
</file>

<file path=ppt/tags/tag17.xml><?xml version="1.0" encoding="utf-8"?>
<p:tagLst xmlns:p="http://schemas.openxmlformats.org/presentationml/2006/main">
  <p:tag name="KSO_WM_DIAGRAM_VIRTUALLY_FRAME" val="{&quot;height&quot;:352.8,&quot;left&quot;:43.2,&quot;top&quot;:118.8,&quot;width&quot;:867.6}"/>
</p:tagLst>
</file>

<file path=ppt/tags/tag18.xml><?xml version="1.0" encoding="utf-8"?>
<p:tagLst xmlns:p="http://schemas.openxmlformats.org/presentationml/2006/main">
  <p:tag name="KSO_WM_DIAGRAM_VIRTUALLY_FRAME" val="{&quot;height&quot;:352.8,&quot;left&quot;:43.2,&quot;top&quot;:118.8,&quot;width&quot;:867.6}"/>
</p:tagLst>
</file>

<file path=ppt/tags/tag19.xml><?xml version="1.0" encoding="utf-8"?>
<p:tagLst xmlns:p="http://schemas.openxmlformats.org/presentationml/2006/main">
  <p:tag name="KSO_WM_DIAGRAM_VIRTUALLY_FRAME" val="{&quot;height&quot;:352.8,&quot;left&quot;:43.2,&quot;top&quot;:118.8,&quot;width&quot;:867.6}"/>
</p:tagLst>
</file>

<file path=ppt/tags/tag20.xml><?xml version="1.0" encoding="utf-8"?>
<p:tagLst xmlns:p="http://schemas.openxmlformats.org/presentationml/2006/main">
  <p:tag name="KSO_WM_DIAGRAM_VIRTUALLY_FRAME" val="{&quot;height&quot;:352.8,&quot;left&quot;:43.2,&quot;top&quot;:118.8,&quot;width&quot;:867.6}"/>
</p:tagLst>
</file>

<file path=ppt/tags/tag21.xml><?xml version="1.0" encoding="utf-8"?>
<p:tagLst xmlns:p="http://schemas.openxmlformats.org/presentationml/2006/main">
  <p:tag name="KSO_WM_DIAGRAM_VIRTUALLY_FRAME" val="{&quot;height&quot;:352.8,&quot;left&quot;:43.2,&quot;top&quot;:118.8,&quot;width&quot;:867.6}"/>
</p:tagLst>
</file>

<file path=ppt/tags/tag22.xml><?xml version="1.0" encoding="utf-8"?>
<p:tagLst xmlns:p="http://schemas.openxmlformats.org/presentationml/2006/main">
  <p:tag name="KSO_WM_DIAGRAM_VIRTUALLY_FRAME" val="{&quot;height&quot;:352.8,&quot;left&quot;:43.2,&quot;top&quot;:118.8,&quot;width&quot;:867.6}"/>
</p:tagLst>
</file>

<file path=ppt/tags/tag23.xml><?xml version="1.0" encoding="utf-8"?>
<p:tagLst xmlns:p="http://schemas.openxmlformats.org/presentationml/2006/main">
  <p:tag name="KSO_WM_DIAGRAM_VIRTUALLY_FRAME" val="{&quot;height&quot;:352.8,&quot;left&quot;:43.2,&quot;top&quot;:118.8,&quot;width&quot;:867.6}"/>
</p:tagLst>
</file>

<file path=ppt/tags/tag24.xml><?xml version="1.0" encoding="utf-8"?>
<p:tagLst xmlns:p="http://schemas.openxmlformats.org/presentationml/2006/main">
  <p:tag name="KSO_WM_DIAGRAM_VIRTUALLY_FRAME" val="{&quot;height&quot;:352.8,&quot;left&quot;:43.2,&quot;top&quot;:118.8,&quot;width&quot;:867.6}"/>
</p:tagLst>
</file>

<file path=ppt/tags/tag25.xml><?xml version="1.0" encoding="utf-8"?>
<p:tagLst xmlns:p="http://schemas.openxmlformats.org/presentationml/2006/main">
  <p:tag name="KSO_WM_DIAGRAM_VIRTUALLY_FRAME" val="{&quot;height&quot;:352.8,&quot;left&quot;:43.2,&quot;top&quot;:118.8,&quot;width&quot;:867.6}"/>
</p:tagLst>
</file>

<file path=ppt/tags/tag26.xml><?xml version="1.0" encoding="utf-8"?>
<p:tagLst xmlns:p="http://schemas.openxmlformats.org/presentationml/2006/main">
  <p:tag name="KSO_WM_DIAGRAM_VIRTUALLY_FRAME" val="{&quot;height&quot;:352.8,&quot;left&quot;:43.2,&quot;top&quot;:118.8,&quot;width&quot;:867.6}"/>
</p:tagLst>
</file>

<file path=ppt/tags/tag27.xml><?xml version="1.0" encoding="utf-8"?>
<p:tagLst xmlns:p="http://schemas.openxmlformats.org/presentationml/2006/main">
  <p:tag name="KSO_WM_DIAGRAM_VIRTUALLY_FRAME" val="{&quot;height&quot;:352.8,&quot;left&quot;:43.2,&quot;top&quot;:118.8,&quot;width&quot;:867.6}"/>
</p:tagLst>
</file>

<file path=ppt/tags/tag28.xml><?xml version="1.0" encoding="utf-8"?>
<p:tagLst xmlns:p="http://schemas.openxmlformats.org/presentationml/2006/main">
  <p:tag name="KSO_WM_DIAGRAM_VIRTUALLY_FRAME" val="{&quot;height&quot;:352.8,&quot;left&quot;:43.2,&quot;top&quot;:118.8,&quot;width&quot;:867.6}"/>
</p:tagLst>
</file>

<file path=ppt/tags/tag29.xml><?xml version="1.0" encoding="utf-8"?>
<p:tagLst xmlns:p="http://schemas.openxmlformats.org/presentationml/2006/main">
  <p:tag name="KSO_WM_DIAGRAM_VIRTUALLY_FRAME" val="{&quot;height&quot;:352.8,&quot;left&quot;:43.2,&quot;top&quot;:118.8,&quot;width&quot;:867.6}"/>
</p:tagLst>
</file>

<file path=ppt/tags/tag30.xml><?xml version="1.0" encoding="utf-8"?>
<p:tagLst xmlns:p="http://schemas.openxmlformats.org/presentationml/2006/main">
  <p:tag name="KSO_WM_DIAGRAM_VIRTUALLY_FRAME" val="{&quot;height&quot;:352.8,&quot;left&quot;:43.2,&quot;top&quot;:118.8,&quot;width&quot;:867.6}"/>
</p:tagLst>
</file>

<file path=ppt/tags/tag31.xml><?xml version="1.0" encoding="utf-8"?>
<p:tagLst xmlns:p="http://schemas.openxmlformats.org/presentationml/2006/main">
  <p:tag name="KSO_WM_DIAGRAM_VIRTUALLY_FRAME" val="{&quot;height&quot;:352.8,&quot;left&quot;:43.2,&quot;top&quot;:118.8,&quot;width&quot;:867.6}"/>
</p:tagLst>
</file>

<file path=ppt/tags/tag32.xml><?xml version="1.0" encoding="utf-8"?>
<p:tagLst xmlns:p="http://schemas.openxmlformats.org/presentationml/2006/main">
  <p:tag name="KSO_WM_DIAGRAM_VIRTUALLY_FRAME" val="{&quot;height&quot;:352.8,&quot;left&quot;:43.2,&quot;top&quot;:118.8,&quot;width&quot;:867.6}"/>
</p:tagLst>
</file>

<file path=ppt/tags/tag33.xml><?xml version="1.0" encoding="utf-8"?>
<p:tagLst xmlns:p="http://schemas.openxmlformats.org/presentationml/2006/main">
  <p:tag name="KSO_WM_DIAGRAM_VIRTUALLY_FRAME" val="{&quot;height&quot;:352.8,&quot;left&quot;:43.2,&quot;top&quot;:118.8,&quot;width&quot;:867.6}"/>
</p:tagLst>
</file>

<file path=ppt/tags/tag34.xml><?xml version="1.0" encoding="utf-8"?>
<p:tagLst xmlns:p="http://schemas.openxmlformats.org/presentationml/2006/main">
  <p:tag name="KSO_WM_DIAGRAM_VIRTUALLY_FRAME" val="{&quot;height&quot;:352.8,&quot;left&quot;:43.2,&quot;top&quot;:118.8,&quot;width&quot;:867.6}"/>
</p:tagLst>
</file>

<file path=ppt/tags/tag35.xml><?xml version="1.0" encoding="utf-8"?>
<p:tagLst xmlns:p="http://schemas.openxmlformats.org/presentationml/2006/main">
  <p:tag name="KSO_WM_DIAGRAM_VIRTUALLY_FRAME" val="{&quot;height&quot;:352.8,&quot;left&quot;:43.2,&quot;top&quot;:118.8,&quot;width&quot;:867.6}"/>
</p:tagLst>
</file>

<file path=ppt/tags/tag36.xml><?xml version="1.0" encoding="utf-8"?>
<p:tagLst xmlns:p="http://schemas.openxmlformats.org/presentationml/2006/main">
  <p:tag name="KSO_WM_DIAGRAM_VIRTUALLY_FRAME" val="{&quot;height&quot;:352.8,&quot;left&quot;:43.2,&quot;top&quot;:118.8,&quot;width&quot;:867.6}"/>
</p:tagLst>
</file>

<file path=ppt/tags/tag37.xml><?xml version="1.0" encoding="utf-8"?>
<p:tagLst xmlns:p="http://schemas.openxmlformats.org/presentationml/2006/main">
  <p:tag name="KSO_WM_DIAGRAM_VIRTUALLY_FRAME" val="{&quot;height&quot;:352.8,&quot;left&quot;:43.2,&quot;top&quot;:118.8,&quot;width&quot;:867.6}"/>
</p:tagLst>
</file>

<file path=ppt/tags/tag38.xml><?xml version="1.0" encoding="utf-8"?>
<p:tagLst xmlns:p="http://schemas.openxmlformats.org/presentationml/2006/main">
  <p:tag name="KSO_WM_DIAGRAM_VIRTUALLY_FRAME" val="{&quot;height&quot;:352.8,&quot;left&quot;:43.2,&quot;top&quot;:118.8,&quot;width&quot;:867.6}"/>
</p:tagLst>
</file>

<file path=ppt/tags/tag39.xml><?xml version="1.0" encoding="utf-8"?>
<p:tagLst xmlns:p="http://schemas.openxmlformats.org/presentationml/2006/main">
  <p:tag name="KSO_WM_DIAGRAM_VIRTUALLY_FRAME" val="{&quot;height&quot;:352.8,&quot;left&quot;:43.2,&quot;top&quot;:118.8,&quot;width&quot;:867.6}"/>
</p:tagLst>
</file>

<file path=ppt/tags/tag40.xml><?xml version="1.0" encoding="utf-8"?>
<p:tagLst xmlns:p="http://schemas.openxmlformats.org/presentationml/2006/main">
  <p:tag name="KSO_WM_DIAGRAM_VIRTUALLY_FRAME" val="{&quot;height&quot;:352.8,&quot;left&quot;:43.2,&quot;top&quot;:118.8,&quot;width&quot;:867.6}"/>
</p:tagLst>
</file>

<file path=ppt/tags/tag41.xml><?xml version="1.0" encoding="utf-8"?>
<p:tagLst xmlns:p="http://schemas.openxmlformats.org/presentationml/2006/main">
  <p:tag name="KSO_WM_DIAGRAM_VIRTUALLY_FRAME" val="{&quot;height&quot;:352.8,&quot;left&quot;:43.2,&quot;top&quot;:118.8,&quot;width&quot;:867.6}"/>
</p:tagLst>
</file>

<file path=ppt/tags/tag42.xml><?xml version="1.0" encoding="utf-8"?>
<p:tagLst xmlns:p="http://schemas.openxmlformats.org/presentationml/2006/main">
  <p:tag name="KSO_WM_DIAGRAM_VIRTUALLY_FRAME" val="{&quot;height&quot;:352.8,&quot;left&quot;:43.2,&quot;top&quot;:118.8,&quot;width&quot;:867.6}"/>
</p:tagLst>
</file>

<file path=ppt/tags/tag43.xml><?xml version="1.0" encoding="utf-8"?>
<p:tagLst xmlns:p="http://schemas.openxmlformats.org/presentationml/2006/main">
  <p:tag name="KSO_WM_DIAGRAM_VIRTUALLY_FRAME" val="{&quot;height&quot;:352.8,&quot;left&quot;:43.2,&quot;top&quot;:118.8,&quot;width&quot;:867.6}"/>
</p:tagLst>
</file>

<file path=ppt/tags/tag44.xml><?xml version="1.0" encoding="utf-8"?>
<p:tagLst xmlns:p="http://schemas.openxmlformats.org/presentationml/2006/main">
  <p:tag name="KSO_WM_DIAGRAM_VIRTUALLY_FRAME" val="{&quot;height&quot;:352.8,&quot;left&quot;:43.2,&quot;top&quot;:118.8,&quot;width&quot;:867.6}"/>
</p:tagLst>
</file>

<file path=ppt/tags/tag45.xml><?xml version="1.0" encoding="utf-8"?>
<p:tagLst xmlns:p="http://schemas.openxmlformats.org/presentationml/2006/main">
  <p:tag name="KSO_WM_DIAGRAM_VIRTUALLY_FRAME" val="{&quot;height&quot;:352.8,&quot;left&quot;:43.2,&quot;top&quot;:118.8,&quot;width&quot;:867.6}"/>
</p:tagLst>
</file>

<file path=ppt/tags/tag46.xml><?xml version="1.0" encoding="utf-8"?>
<p:tagLst xmlns:p="http://schemas.openxmlformats.org/presentationml/2006/main">
  <p:tag name="KSO_WM_DIAGRAM_VIRTUALLY_FRAME" val="{&quot;height&quot;:352.8,&quot;left&quot;:43.2,&quot;top&quot;:118.8,&quot;width&quot;:867.6}"/>
</p:tagLst>
</file>

<file path=ppt/tags/tag47.xml><?xml version="1.0" encoding="utf-8"?>
<p:tagLst xmlns:p="http://schemas.openxmlformats.org/presentationml/2006/main">
  <p:tag name="KSO_WM_DIAGRAM_VIRTUALLY_FRAME" val="{&quot;height&quot;:352.8,&quot;left&quot;:43.2,&quot;top&quot;:118.8,&quot;width&quot;:867.6}"/>
</p:tagLst>
</file>

<file path=ppt/tags/tag48.xml><?xml version="1.0" encoding="utf-8"?>
<p:tagLst xmlns:p="http://schemas.openxmlformats.org/presentationml/2006/main">
  <p:tag name="KSO_WM_DIAGRAM_VIRTUALLY_FRAME" val="{&quot;height&quot;:352.8,&quot;left&quot;:43.2,&quot;top&quot;:118.8,&quot;width&quot;:867.6}"/>
</p:tagLst>
</file>

<file path=ppt/tags/tag49.xml><?xml version="1.0" encoding="utf-8"?>
<p:tagLst xmlns:p="http://schemas.openxmlformats.org/presentationml/2006/main">
  <p:tag name="KSO_WM_DIAGRAM_VIRTUALLY_FRAME" val="{&quot;height&quot;:352.8,&quot;left&quot;:43.2,&quot;top&quot;:118.8,&quot;width&quot;:867.6}"/>
</p:tagLst>
</file>

<file path=ppt/tags/tag50.xml><?xml version="1.0" encoding="utf-8"?>
<p:tagLst xmlns:p="http://schemas.openxmlformats.org/presentationml/2006/main">
  <p:tag name="KSO_WM_DIAGRAM_VIRTUALLY_FRAME" val="{&quot;height&quot;:352.8,&quot;left&quot;:43.2,&quot;top&quot;:118.8,&quot;width&quot;:867.6}"/>
</p:tagLst>
</file>

<file path=ppt/tags/tag51.xml><?xml version="1.0" encoding="utf-8"?>
<p:tagLst xmlns:p="http://schemas.openxmlformats.org/presentationml/2006/main">
  <p:tag name="KSO_WM_DIAGRAM_VIRTUALLY_FRAME" val="{&quot;height&quot;:352.8,&quot;left&quot;:43.2,&quot;top&quot;:118.8,&quot;width&quot;:867.6}"/>
</p:tagLst>
</file>

<file path=ppt/tags/tag52.xml><?xml version="1.0" encoding="utf-8"?>
<p:tagLst xmlns:p="http://schemas.openxmlformats.org/presentationml/2006/main">
  <p:tag name="KSO_WM_DIAGRAM_VIRTUALLY_FRAME" val="{&quot;height&quot;:352.8,&quot;left&quot;:43.2,&quot;top&quot;:118.8,&quot;width&quot;:867.6}"/>
</p:tagLst>
</file>

<file path=ppt/tags/tag53.xml><?xml version="1.0" encoding="utf-8"?>
<p:tagLst xmlns:p="http://schemas.openxmlformats.org/presentationml/2006/main">
  <p:tag name="KSO_WM_DIAGRAM_VIRTUALLY_FRAME" val="{&quot;height&quot;:352.8,&quot;left&quot;:43.2,&quot;top&quot;:118.8,&quot;width&quot;:867.6}"/>
</p:tagLst>
</file>

<file path=ppt/tags/tag54.xml><?xml version="1.0" encoding="utf-8"?>
<p:tagLst xmlns:p="http://schemas.openxmlformats.org/presentationml/2006/main">
  <p:tag name="KSO_WM_DIAGRAM_VIRTUALLY_FRAME" val="{&quot;height&quot;:352.8,&quot;left&quot;:43.2,&quot;top&quot;:118.8,&quot;width&quot;:867.6}"/>
</p:tagLst>
</file>

<file path=ppt/tags/tag55.xml><?xml version="1.0" encoding="utf-8"?>
<p:tagLst xmlns:p="http://schemas.openxmlformats.org/presentationml/2006/main">
  <p:tag name="KSO_WM_DIAGRAM_VIRTUALLY_FRAME" val="{&quot;height&quot;:352.8,&quot;left&quot;:43.2,&quot;top&quot;:118.8,&quot;width&quot;:867.6}"/>
</p:tagLst>
</file>

<file path=ppt/tags/tag56.xml><?xml version="1.0" encoding="utf-8"?>
<p:tagLst xmlns:p="http://schemas.openxmlformats.org/presentationml/2006/main">
  <p:tag name="KSO_WM_DIAGRAM_VIRTUALLY_FRAME" val="{&quot;height&quot;:352.8,&quot;left&quot;:43.2,&quot;top&quot;:118.8,&quot;width&quot;:867.6}"/>
</p:tagLst>
</file>

<file path=ppt/tags/tag57.xml><?xml version="1.0" encoding="utf-8"?>
<p:tagLst xmlns:p="http://schemas.openxmlformats.org/presentationml/2006/main">
  <p:tag name="KSO_WM_DIAGRAM_VIRTUALLY_FRAME" val="{&quot;height&quot;:315.36,&quot;left&quot;:43.2,&quot;top&quot;:122.4,&quot;width&quot;:867.6}"/>
</p:tagLst>
</file>

<file path=ppt/tags/tag58.xml><?xml version="1.0" encoding="utf-8"?>
<p:tagLst xmlns:p="http://schemas.openxmlformats.org/presentationml/2006/main">
  <p:tag name="KSO_WM_DIAGRAM_VIRTUALLY_FRAME" val="{&quot;height&quot;:315.36,&quot;left&quot;:43.2,&quot;top&quot;:122.4,&quot;width&quot;:867.6}"/>
</p:tagLst>
</file>

<file path=ppt/tags/tag59.xml><?xml version="1.0" encoding="utf-8"?>
<p:tagLst xmlns:p="http://schemas.openxmlformats.org/presentationml/2006/main">
  <p:tag name="KSO_WM_DIAGRAM_VIRTUALLY_FRAME" val="{&quot;height&quot;:315.36,&quot;left&quot;:43.2,&quot;top&quot;:122.4,&quot;width&quot;:867.6}"/>
</p:tagLst>
</file>

<file path=ppt/tags/tag60.xml><?xml version="1.0" encoding="utf-8"?>
<p:tagLst xmlns:p="http://schemas.openxmlformats.org/presentationml/2006/main">
  <p:tag name="KSO_WM_DIAGRAM_VIRTUALLY_FRAME" val="{&quot;height&quot;:315.36,&quot;left&quot;:43.2,&quot;top&quot;:122.4,&quot;width&quot;:867.6}"/>
</p:tagLst>
</file>

<file path=ppt/tags/tag61.xml><?xml version="1.0" encoding="utf-8"?>
<p:tagLst xmlns:p="http://schemas.openxmlformats.org/presentationml/2006/main">
  <p:tag name="KSO_WM_DIAGRAM_VIRTUALLY_FRAME" val="{&quot;height&quot;:315.36,&quot;left&quot;:43.2,&quot;top&quot;:122.4,&quot;width&quot;:867.6}"/>
</p:tagLst>
</file>

<file path=ppt/tags/tag62.xml><?xml version="1.0" encoding="utf-8"?>
<p:tagLst xmlns:p="http://schemas.openxmlformats.org/presentationml/2006/main">
  <p:tag name="KSO_WM_DIAGRAM_VIRTUALLY_FRAME" val="{&quot;height&quot;:315.36,&quot;left&quot;:43.2,&quot;top&quot;:122.4,&quot;width&quot;:867.6}"/>
</p:tagLst>
</file>

<file path=ppt/tags/tag63.xml><?xml version="1.0" encoding="utf-8"?>
<p:tagLst xmlns:p="http://schemas.openxmlformats.org/presentationml/2006/main">
  <p:tag name="KSO_WM_DIAGRAM_VIRTUALLY_FRAME" val="{&quot;height&quot;:315.36,&quot;left&quot;:43.2,&quot;top&quot;:122.4,&quot;width&quot;:867.6}"/>
</p:tagLst>
</file>

<file path=ppt/tags/tag64.xml><?xml version="1.0" encoding="utf-8"?>
<p:tagLst xmlns:p="http://schemas.openxmlformats.org/presentationml/2006/main">
  <p:tag name="KSO_WM_DIAGRAM_VIRTUALLY_FRAME" val="{&quot;height&quot;:315.36,&quot;left&quot;:43.2,&quot;top&quot;:122.4,&quot;width&quot;:867.6}"/>
</p:tagLst>
</file>

<file path=ppt/tags/tag65.xml><?xml version="1.0" encoding="utf-8"?>
<p:tagLst xmlns:p="http://schemas.openxmlformats.org/presentationml/2006/main">
  <p:tag name="KSO_WM_DIAGRAM_VIRTUALLY_FRAME" val="{&quot;height&quot;:315.36,&quot;left&quot;:43.2,&quot;top&quot;:122.4,&quot;width&quot;:867.6}"/>
</p:tagLst>
</file>

<file path=ppt/tags/tag66.xml><?xml version="1.0" encoding="utf-8"?>
<p:tagLst xmlns:p="http://schemas.openxmlformats.org/presentationml/2006/main">
  <p:tag name="KSO_WM_DIAGRAM_VIRTUALLY_FRAME" val="{&quot;height&quot;:315.36,&quot;left&quot;:43.2,&quot;top&quot;:122.4,&quot;width&quot;:867.6}"/>
</p:tagLst>
</file>

<file path=ppt/tags/tag67.xml><?xml version="1.0" encoding="utf-8"?>
<p:tagLst xmlns:p="http://schemas.openxmlformats.org/presentationml/2006/main">
  <p:tag name="KSO_WM_DIAGRAM_VIRTUALLY_FRAME" val="{&quot;height&quot;:315.36,&quot;left&quot;:43.2,&quot;top&quot;:122.4,&quot;width&quot;:867.6}"/>
</p:tagLst>
</file>

<file path=ppt/tags/tag68.xml><?xml version="1.0" encoding="utf-8"?>
<p:tagLst xmlns:p="http://schemas.openxmlformats.org/presentationml/2006/main">
  <p:tag name="KSO_WM_DIAGRAM_VIRTUALLY_FRAME" val="{&quot;height&quot;:315.36,&quot;left&quot;:43.2,&quot;top&quot;:122.4,&quot;width&quot;:867.6}"/>
</p:tagLst>
</file>

<file path=ppt/tags/tag69.xml><?xml version="1.0" encoding="utf-8"?>
<p:tagLst xmlns:p="http://schemas.openxmlformats.org/presentationml/2006/main">
  <p:tag name="KSO_WM_DIAGRAM_VIRTUALLY_FRAME" val="{&quot;height&quot;:315.36,&quot;left&quot;:43.2,&quot;top&quot;:122.4,&quot;width&quot;:867.6}"/>
</p:tagLst>
</file>

<file path=ppt/tags/tag70.xml><?xml version="1.0" encoding="utf-8"?>
<p:tagLst xmlns:p="http://schemas.openxmlformats.org/presentationml/2006/main">
  <p:tag name="KSO_WM_DIAGRAM_VIRTUALLY_FRAME" val="{&quot;height&quot;:315.36,&quot;left&quot;:43.2,&quot;top&quot;:122.4,&quot;width&quot;:867.6}"/>
</p:tagLst>
</file>

<file path=ppt/tags/tag71.xml><?xml version="1.0" encoding="utf-8"?>
<p:tagLst xmlns:p="http://schemas.openxmlformats.org/presentationml/2006/main">
  <p:tag name="KSO_WM_DIAGRAM_VIRTUALLY_FRAME" val="{&quot;height&quot;:315.36,&quot;left&quot;:43.2,&quot;top&quot;:122.4,&quot;width&quot;:867.6}"/>
</p:tagLst>
</file>

<file path=ppt/tags/tag72.xml><?xml version="1.0" encoding="utf-8"?>
<p:tagLst xmlns:p="http://schemas.openxmlformats.org/presentationml/2006/main">
  <p:tag name="KSO_WM_DIAGRAM_VIRTUALLY_FRAME" val="{&quot;height&quot;:315.36,&quot;left&quot;:43.2,&quot;top&quot;:122.4,&quot;width&quot;:867.6}"/>
</p:tagLst>
</file>

<file path=ppt/tags/tag73.xml><?xml version="1.0" encoding="utf-8"?>
<p:tagLst xmlns:p="http://schemas.openxmlformats.org/presentationml/2006/main">
  <p:tag name="KSO_WM_DIAGRAM_VIRTUALLY_FRAME" val="{&quot;height&quot;:315.36,&quot;left&quot;:43.2,&quot;top&quot;:122.4,&quot;width&quot;:867.6}"/>
</p:tagLst>
</file>

<file path=ppt/tags/tag74.xml><?xml version="1.0" encoding="utf-8"?>
<p:tagLst xmlns:p="http://schemas.openxmlformats.org/presentationml/2006/main">
  <p:tag name="KSO_WM_DIAGRAM_VIRTUALLY_FRAME" val="{&quot;height&quot;:315.36,&quot;left&quot;:43.2,&quot;top&quot;:122.4,&quot;width&quot;:867.6}"/>
</p:tagLst>
</file>

<file path=ppt/tags/tag75.xml><?xml version="1.0" encoding="utf-8"?>
<p:tagLst xmlns:p="http://schemas.openxmlformats.org/presentationml/2006/main">
  <p:tag name="KSO_WM_DIAGRAM_VIRTUALLY_FRAME" val="{&quot;height&quot;:315.36,&quot;left&quot;:43.2,&quot;top&quot;:122.4,&quot;width&quot;:867.6}"/>
</p:tagLst>
</file>

<file path=ppt/tags/tag76.xml><?xml version="1.0" encoding="utf-8"?>
<p:tagLst xmlns:p="http://schemas.openxmlformats.org/presentationml/2006/main">
  <p:tag name="KSO_WM_DIAGRAM_VIRTUALLY_FRAME" val="{&quot;height&quot;:315.36,&quot;left&quot;:43.2,&quot;top&quot;:122.4,&quot;width&quot;:867.6}"/>
</p:tagLst>
</file>

<file path=ppt/tags/tag77.xml><?xml version="1.0" encoding="utf-8"?>
<p:tagLst xmlns:p="http://schemas.openxmlformats.org/presentationml/2006/main">
  <p:tag name="KSO_WM_DIAGRAM_VIRTUALLY_FRAME" val="{&quot;height&quot;:315.36,&quot;left&quot;:43.2,&quot;top&quot;:122.4,&quot;width&quot;:867.6}"/>
</p:tagLst>
</file>

<file path=ppt/tags/tag78.xml><?xml version="1.0" encoding="utf-8"?>
<p:tagLst xmlns:p="http://schemas.openxmlformats.org/presentationml/2006/main">
  <p:tag name="KSO_WM_DIAGRAM_VIRTUALLY_FRAME" val="{&quot;height&quot;:315.36,&quot;left&quot;:43.2,&quot;top&quot;:122.4,&quot;width&quot;:867.6}"/>
</p:tagLst>
</file>

<file path=ppt/tags/tag79.xml><?xml version="1.0" encoding="utf-8"?>
<p:tagLst xmlns:p="http://schemas.openxmlformats.org/presentationml/2006/main">
  <p:tag name="KSO_WM_DIAGRAM_VIRTUALLY_FRAME" val="{&quot;height&quot;:315.36,&quot;left&quot;:43.2,&quot;top&quot;:122.4,&quot;width&quot;:867.6}"/>
</p:tagLst>
</file>

<file path=ppt/tags/tag80.xml><?xml version="1.0" encoding="utf-8"?>
<p:tagLst xmlns:p="http://schemas.openxmlformats.org/presentationml/2006/main">
  <p:tag name="KSO_WM_DIAGRAM_VIRTUALLY_FRAME" val="{&quot;height&quot;:315.36,&quot;left&quot;:43.2,&quot;top&quot;:122.4,&quot;width&quot;:867.6}"/>
</p:tagLst>
</file>

<file path=ppt/tags/tag81.xml><?xml version="1.0" encoding="utf-8"?>
<p:tagLst xmlns:p="http://schemas.openxmlformats.org/presentationml/2006/main">
  <p:tag name="KSO_WM_DIAGRAM_VIRTUALLY_FRAME" val="{&quot;height&quot;:315.36,&quot;left&quot;:43.2,&quot;top&quot;:122.4,&quot;width&quot;:867.6}"/>
</p:tagLst>
</file>

<file path=ppt/tags/tag82.xml><?xml version="1.0" encoding="utf-8"?>
<p:tagLst xmlns:p="http://schemas.openxmlformats.org/presentationml/2006/main">
  <p:tag name="KSO_WM_DIAGRAM_VIRTUALLY_FRAME" val="{&quot;height&quot;:315.36,&quot;left&quot;:43.2,&quot;top&quot;:122.4,&quot;width&quot;:867.6}"/>
</p:tagLst>
</file>

<file path=ppt/tags/tag83.xml><?xml version="1.0" encoding="utf-8"?>
<p:tagLst xmlns:p="http://schemas.openxmlformats.org/presentationml/2006/main">
  <p:tag name="KSO_WM_DIAGRAM_VIRTUALLY_FRAME" val="{&quot;height&quot;:315.36,&quot;left&quot;:43.2,&quot;top&quot;:122.4,&quot;width&quot;:867.6}"/>
</p:tagLst>
</file>

<file path=ppt/tags/tag84.xml><?xml version="1.0" encoding="utf-8"?>
<p:tagLst xmlns:p="http://schemas.openxmlformats.org/presentationml/2006/main">
  <p:tag name="KSO_WM_DIAGRAM_VIRTUALLY_FRAME" val="{&quot;height&quot;:315.36,&quot;left&quot;:43.2,&quot;top&quot;:122.4,&quot;width&quot;:867.6}"/>
</p:tagLst>
</file>

<file path=ppt/tags/tag85.xml><?xml version="1.0" encoding="utf-8"?>
<p:tagLst xmlns:p="http://schemas.openxmlformats.org/presentationml/2006/main">
  <p:tag name="KSO_WM_DIAGRAM_VIRTUALLY_FRAME" val="{&quot;height&quot;:205.2,&quot;left&quot;:43.2,&quot;top&quot;:122.4,&quot;width&quot;:862.5600000000001}"/>
</p:tagLst>
</file>

<file path=ppt/tags/tag86.xml><?xml version="1.0" encoding="utf-8"?>
<p:tagLst xmlns:p="http://schemas.openxmlformats.org/presentationml/2006/main">
  <p:tag name="KSO_WM_DIAGRAM_VIRTUALLY_FRAME" val="{&quot;height&quot;:205.2,&quot;left&quot;:43.2,&quot;top&quot;:122.4,&quot;width&quot;:862.5600000000001}"/>
</p:tagLst>
</file>

<file path=ppt/tags/tag87.xml><?xml version="1.0" encoding="utf-8"?>
<p:tagLst xmlns:p="http://schemas.openxmlformats.org/presentationml/2006/main">
  <p:tag name="KSO_WM_DIAGRAM_VIRTUALLY_FRAME" val="{&quot;height&quot;:205.2,&quot;left&quot;:43.2,&quot;top&quot;:122.4,&quot;width&quot;:862.5600000000001}"/>
</p:tagLst>
</file>

<file path=ppt/tags/tag88.xml><?xml version="1.0" encoding="utf-8"?>
<p:tagLst xmlns:p="http://schemas.openxmlformats.org/presentationml/2006/main">
  <p:tag name="KSO_WM_DIAGRAM_VIRTUALLY_FRAME" val="{&quot;height&quot;:205.2,&quot;left&quot;:43.2,&quot;top&quot;:122.4,&quot;width&quot;:862.5600000000001}"/>
</p:tagLst>
</file>

<file path=ppt/tags/tag89.xml><?xml version="1.0" encoding="utf-8"?>
<p:tagLst xmlns:p="http://schemas.openxmlformats.org/presentationml/2006/main">
  <p:tag name="KSO_WM_DIAGRAM_VIRTUALLY_FRAME" val="{&quot;height&quot;:205.2,&quot;left&quot;:43.2,&quot;top&quot;:122.4,&quot;width&quot;:862.5600000000001}"/>
</p:tagLst>
</file>

<file path=ppt/tags/tag90.xml><?xml version="1.0" encoding="utf-8"?>
<p:tagLst xmlns:p="http://schemas.openxmlformats.org/presentationml/2006/main">
  <p:tag name="KSO_WM_DIAGRAM_VIRTUALLY_FRAME" val="{&quot;height&quot;:205.2,&quot;left&quot;:43.2,&quot;top&quot;:122.4,&quot;width&quot;:862.5600000000001}"/>
</p:tagLst>
</file>

<file path=ppt/tags/tag91.xml><?xml version="1.0" encoding="utf-8"?>
<p:tagLst xmlns:p="http://schemas.openxmlformats.org/presentationml/2006/main">
  <p:tag name="KSO_WM_DIAGRAM_VIRTUALLY_FRAME" val="{&quot;height&quot;:205.2,&quot;left&quot;:43.2,&quot;top&quot;:122.4,&quot;width&quot;:862.5600000000001}"/>
</p:tagLst>
</file>

<file path=ppt/tags/tag92.xml><?xml version="1.0" encoding="utf-8"?>
<p:tagLst xmlns:p="http://schemas.openxmlformats.org/presentationml/2006/main">
  <p:tag name="KSO_WM_DIAGRAM_VIRTUALLY_FRAME" val="{&quot;height&quot;:205.2,&quot;left&quot;:43.2,&quot;top&quot;:122.4,&quot;width&quot;:862.5600000000001}"/>
</p:tagLst>
</file>

<file path=ppt/tags/tag93.xml><?xml version="1.0" encoding="utf-8"?>
<p:tagLst xmlns:p="http://schemas.openxmlformats.org/presentationml/2006/main">
  <p:tag name="KSO_WM_DIAGRAM_VIRTUALLY_FRAME" val="{&quot;height&quot;:205.2,&quot;left&quot;:43.2,&quot;top&quot;:122.4,&quot;width&quot;:862.5600000000001}"/>
</p:tagLst>
</file>

<file path=ppt/tags/tag94.xml><?xml version="1.0" encoding="utf-8"?>
<p:tagLst xmlns:p="http://schemas.openxmlformats.org/presentationml/2006/main">
  <p:tag name="KSO_WM_DIAGRAM_VIRTUALLY_FRAME" val="{&quot;height&quot;:205.2,&quot;left&quot;:43.2,&quot;top&quot;:122.4,&quot;width&quot;:862.5600000000001}"/>
</p:tagLst>
</file>

<file path=ppt/tags/tag95.xml><?xml version="1.0" encoding="utf-8"?>
<p:tagLst xmlns:p="http://schemas.openxmlformats.org/presentationml/2006/main">
  <p:tag name="KSO_WM_DIAGRAM_VIRTUALLY_FRAME" val="{&quot;height&quot;:205.2,&quot;left&quot;:43.2,&quot;top&quot;:122.4,&quot;width&quot;:862.5600000000001}"/>
</p:tagLst>
</file>

<file path=ppt/tags/tag96.xml><?xml version="1.0" encoding="utf-8"?>
<p:tagLst xmlns:p="http://schemas.openxmlformats.org/presentationml/2006/main">
  <p:tag name="KSO_WM_DIAGRAM_VIRTUALLY_FRAME" val="{&quot;height&quot;:205.2,&quot;left&quot;:43.2,&quot;top&quot;:122.4,&quot;width&quot;:862.5600000000001}"/>
</p:tagLst>
</file>

<file path=ppt/tags/tag97.xml><?xml version="1.0" encoding="utf-8"?>
<p:tagLst xmlns:p="http://schemas.openxmlformats.org/presentationml/2006/main">
  <p:tag name="KSO_WM_DIAGRAM_VIRTUALLY_FRAME" val="{&quot;height&quot;:205.2,&quot;left&quot;:43.2,&quot;top&quot;:122.4,&quot;width&quot;:862.5600000000001}"/>
</p:tagLst>
</file>

<file path=ppt/tags/tag98.xml><?xml version="1.0" encoding="utf-8"?>
<p:tagLst xmlns:p="http://schemas.openxmlformats.org/presentationml/2006/main">
  <p:tag name="KSO_WM_DIAGRAM_VIRTUALLY_FRAME" val="{&quot;height&quot;:205.2,&quot;left&quot;:43.2,&quot;top&quot;:122.4,&quot;width&quot;:862.5600000000001}"/>
</p:tagLst>
</file>

<file path=ppt/tags/tag99.xml><?xml version="1.0" encoding="utf-8"?>
<p:tagLst xmlns:p="http://schemas.openxmlformats.org/presentationml/2006/main">
  <p:tag name="KSO_WM_DIAGRAM_VIRTUALLY_FRAME" val="{&quot;height&quot;:205.2,&quot;left&quot;:43.2,&quot;top&quot;:122.4,&quot;width&quot;:862.5600000000001}"/>
</p:tagLst>
</file>

<file path=ppt/tags/tag100.xml><?xml version="1.0" encoding="utf-8"?>
<p:tagLst xmlns:p="http://schemas.openxmlformats.org/presentationml/2006/main">
  <p:tag name="KSO_WM_DIAGRAM_VIRTUALLY_FRAME" val="{&quot;height&quot;:205.2,&quot;left&quot;:43.2,&quot;top&quot;:122.4,&quot;width&quot;:862.5600000000001}"/>
</p:tagLst>
</file>

<file path=ppt/tags/tag101.xml><?xml version="1.0" encoding="utf-8"?>
<p:tagLst xmlns:p="http://schemas.openxmlformats.org/presentationml/2006/main">
  <p:tag name="KSO_WM_DIAGRAM_VIRTUALLY_FRAME" val="{&quot;height&quot;:205.2,&quot;left&quot;:43.2,&quot;top&quot;:122.4,&quot;width&quot;:862.5600000000001}"/>
</p:tagLst>
</file>

<file path=ppt/tags/tag102.xml><?xml version="1.0" encoding="utf-8"?>
<p:tagLst xmlns:p="http://schemas.openxmlformats.org/presentationml/2006/main">
  <p:tag name="KSO_WM_DIAGRAM_VIRTUALLY_FRAME" val="{&quot;height&quot;:205.2,&quot;left&quot;:43.2,&quot;top&quot;:122.4,&quot;width&quot;:862.5600000000001}"/>
</p:tagLst>
</file>

<file path=ppt/tags/tag103.xml><?xml version="1.0" encoding="utf-8"?>
<p:tagLst xmlns:p="http://schemas.openxmlformats.org/presentationml/2006/main">
  <p:tag name="KSO_WM_DIAGRAM_VIRTUALLY_FRAME" val="{&quot;height&quot;:205.2,&quot;left&quot;:43.2,&quot;top&quot;:122.4,&quot;width&quot;:862.5600000000001}"/>
</p:tagLst>
</file>

<file path=ppt/tags/tag104.xml><?xml version="1.0" encoding="utf-8"?>
<p:tagLst xmlns:p="http://schemas.openxmlformats.org/presentationml/2006/main">
  <p:tag name="KSO_WM_DIAGRAM_VIRTUALLY_FRAME" val="{&quot;height&quot;:205.2,&quot;left&quot;:43.2,&quot;top&quot;:122.4,&quot;width&quot;:862.5600000000001}"/>
</p:tagLst>
</file>

<file path=ppt/tags/tag105.xml><?xml version="1.0" encoding="utf-8"?>
<p:tagLst xmlns:p="http://schemas.openxmlformats.org/presentationml/2006/main">
  <p:tag name="KSO_WM_DIAGRAM_VIRTUALLY_FRAME" val="{&quot;height&quot;:205.2,&quot;left&quot;:43.2,&quot;top&quot;:122.4,&quot;width&quot;:862.5600000000001}"/>
</p:tagLst>
</file>

<file path=ppt/tags/tag106.xml><?xml version="1.0" encoding="utf-8"?>
<p:tagLst xmlns:p="http://schemas.openxmlformats.org/presentationml/2006/main">
  <p:tag name="KSO_WM_DIAGRAM_VIRTUALLY_FRAME" val="{&quot;height&quot;:311.05,&quot;left&quot;:79.2,&quot;top&quot;:147.6,&quot;width&quot;:516.6}"/>
</p:tagLst>
</file>

<file path=ppt/tags/tag107.xml><?xml version="1.0" encoding="utf-8"?>
<p:tagLst xmlns:p="http://schemas.openxmlformats.org/presentationml/2006/main">
  <p:tag name="KSO_WM_DIAGRAM_VIRTUALLY_FRAME" val="{&quot;height&quot;:311.05,&quot;left&quot;:79.2,&quot;top&quot;:147.6,&quot;width&quot;:516.6}"/>
</p:tagLst>
</file>

<file path=ppt/tags/tag108.xml><?xml version="1.0" encoding="utf-8"?>
<p:tagLst xmlns:p="http://schemas.openxmlformats.org/presentationml/2006/main">
  <p:tag name="KSO_WM_DIAGRAM_VIRTUALLY_FRAME" val="{&quot;height&quot;:311.05,&quot;left&quot;:79.2,&quot;top&quot;:147.6,&quot;width&quot;:516.6}"/>
</p:tagLst>
</file>

<file path=ppt/tags/tag109.xml><?xml version="1.0" encoding="utf-8"?>
<p:tagLst xmlns:p="http://schemas.openxmlformats.org/presentationml/2006/main">
  <p:tag name="KSO_WM_DIAGRAM_VIRTUALLY_FRAME" val="{&quot;height&quot;:311.05,&quot;left&quot;:79.2,&quot;top&quot;:147.6,&quot;width&quot;:516.6}"/>
</p:tagLst>
</file>

<file path=ppt/tags/tag110.xml><?xml version="1.0" encoding="utf-8"?>
<p:tagLst xmlns:p="http://schemas.openxmlformats.org/presentationml/2006/main">
  <p:tag name="KSO_WM_DIAGRAM_VIRTUALLY_FRAME" val="{&quot;height&quot;:311.05,&quot;left&quot;:79.2,&quot;top&quot;:147.6,&quot;width&quot;:516.6}"/>
</p:tagLst>
</file>

<file path=ppt/tags/tag111.xml><?xml version="1.0" encoding="utf-8"?>
<p:tagLst xmlns:p="http://schemas.openxmlformats.org/presentationml/2006/main">
  <p:tag name="KSO_WM_DIAGRAM_VIRTUALLY_FRAME" val="{&quot;height&quot;:311.05,&quot;left&quot;:79.2,&quot;top&quot;:147.6,&quot;width&quot;:516.6}"/>
</p:tagLst>
</file>

<file path=ppt/tags/tag112.xml><?xml version="1.0" encoding="utf-8"?>
<p:tagLst xmlns:p="http://schemas.openxmlformats.org/presentationml/2006/main">
  <p:tag name="KSO_WM_DIAGRAM_VIRTUALLY_FRAME" val="{&quot;height&quot;:311.05,&quot;left&quot;:79.2,&quot;top&quot;:147.6,&quot;width&quot;:516.6}"/>
</p:tagLst>
</file>

<file path=ppt/tags/tag113.xml><?xml version="1.0" encoding="utf-8"?>
<p:tagLst xmlns:p="http://schemas.openxmlformats.org/presentationml/2006/main">
  <p:tag name="KSO_WM_DIAGRAM_VIRTUALLY_FRAME" val="{&quot;height&quot;:311.05,&quot;left&quot;:79.2,&quot;top&quot;:147.6,&quot;width&quot;:516.6}"/>
</p:tagLst>
</file>

<file path=ppt/tags/tag114.xml><?xml version="1.0" encoding="utf-8"?>
<p:tagLst xmlns:p="http://schemas.openxmlformats.org/presentationml/2006/main">
  <p:tag name="KSO_WM_DIAGRAM_VIRTUALLY_FRAME" val="{&quot;height&quot;:311.05,&quot;left&quot;:79.2,&quot;top&quot;:147.6,&quot;width&quot;:516.6}"/>
</p:tagLst>
</file>

<file path=ppt/tags/tag115.xml><?xml version="1.0" encoding="utf-8"?>
<p:tagLst xmlns:p="http://schemas.openxmlformats.org/presentationml/2006/main">
  <p:tag name="KSO_WM_DIAGRAM_VIRTUALLY_FRAME" val="{&quot;height&quot;:311.05,&quot;left&quot;:79.2,&quot;top&quot;:147.6,&quot;width&quot;:516.6}"/>
</p:tagLst>
</file>

<file path=ppt/tags/tag116.xml><?xml version="1.0" encoding="utf-8"?>
<p:tagLst xmlns:p="http://schemas.openxmlformats.org/presentationml/2006/main">
  <p:tag name="KSO_WM_DIAGRAM_VIRTUALLY_FRAME" val="{&quot;height&quot;:311.05,&quot;left&quot;:79.2,&quot;top&quot;:147.6,&quot;width&quot;:516.6}"/>
</p:tagLst>
</file>

<file path=ppt/tags/tag117.xml><?xml version="1.0" encoding="utf-8"?>
<p:tagLst xmlns:p="http://schemas.openxmlformats.org/presentationml/2006/main">
  <p:tag name="KSO_WM_DIAGRAM_VIRTUALLY_FRAME" val="{&quot;height&quot;:311.05,&quot;left&quot;:79.2,&quot;top&quot;:147.6,&quot;width&quot;:516.6}"/>
</p:tagLst>
</file>

<file path=ppt/tags/tag118.xml><?xml version="1.0" encoding="utf-8"?>
<p:tagLst xmlns:p="http://schemas.openxmlformats.org/presentationml/2006/main">
  <p:tag name="KSO_WM_DIAGRAM_VIRTUALLY_FRAME" val="{&quot;height&quot;:311.05,&quot;left&quot;:79.2,&quot;top&quot;:147.6,&quot;width&quot;:516.6}"/>
</p:tagLst>
</file>

<file path=ppt/tags/tag119.xml><?xml version="1.0" encoding="utf-8"?>
<p:tagLst xmlns:p="http://schemas.openxmlformats.org/presentationml/2006/main">
  <p:tag name="KSO_WM_DIAGRAM_VIRTUALLY_FRAME" val="{&quot;height&quot;:311.05,&quot;left&quot;:79.2,&quot;top&quot;:147.6,&quot;width&quot;:516.6}"/>
</p:tagLst>
</file>

<file path=ppt/tags/tag120.xml><?xml version="1.0" encoding="utf-8"?>
<p:tagLst xmlns:p="http://schemas.openxmlformats.org/presentationml/2006/main">
  <p:tag name="KSO_WM_DIAGRAM_VIRTUALLY_FRAME" val="{&quot;height&quot;:311.05,&quot;left&quot;:79.2,&quot;top&quot;:147.6,&quot;width&quot;:516.6}"/>
</p:tagLst>
</file>

<file path=ppt/tags/tag121.xml><?xml version="1.0" encoding="utf-8"?>
<p:tagLst xmlns:p="http://schemas.openxmlformats.org/presentationml/2006/main">
  <p:tag name="KSO_WM_DIAGRAM_VIRTUALLY_FRAME" val="{&quot;height&quot;:311.05,&quot;left&quot;:79.2,&quot;top&quot;:147.6,&quot;width&quot;:516.6}"/>
</p:tagLst>
</file>

<file path=ppt/tags/tag122.xml><?xml version="1.0" encoding="utf-8"?>
<p:tagLst xmlns:p="http://schemas.openxmlformats.org/presentationml/2006/main">
  <p:tag name="KSO_WM_DIAGRAM_VIRTUALLY_FRAME" val="{&quot;height&quot;:311.05,&quot;left&quot;:79.2,&quot;top&quot;:147.6,&quot;width&quot;:516.6}"/>
</p:tagLst>
</file>

<file path=ppt/tags/tag123.xml><?xml version="1.0" encoding="utf-8"?>
<p:tagLst xmlns:p="http://schemas.openxmlformats.org/presentationml/2006/main">
  <p:tag name="KSO_WM_DIAGRAM_VIRTUALLY_FRAME" val="{&quot;height&quot;:311.05,&quot;left&quot;:79.2,&quot;top&quot;:147.6,&quot;width&quot;:516.6}"/>
</p:tagLst>
</file>

<file path=ppt/tags/tag124.xml><?xml version="1.0" encoding="utf-8"?>
<p:tagLst xmlns:p="http://schemas.openxmlformats.org/presentationml/2006/main">
  <p:tag name="KSO_WM_DIAGRAM_VIRTUALLY_FRAME" val="{&quot;height&quot;:334.78000000000003,&quot;left&quot;:43.2,&quot;top&quot;:122.4,&quot;width&quot;:547.2}"/>
</p:tagLst>
</file>

<file path=ppt/tags/tag125.xml><?xml version="1.0" encoding="utf-8"?>
<p:tagLst xmlns:p="http://schemas.openxmlformats.org/presentationml/2006/main">
  <p:tag name="KSO_WM_DIAGRAM_VIRTUALLY_FRAME" val="{&quot;height&quot;:334.78000000000003,&quot;left&quot;:43.2,&quot;top&quot;:122.4,&quot;width&quot;:547.2}"/>
</p:tagLst>
</file>

<file path=ppt/tags/tag126.xml><?xml version="1.0" encoding="utf-8"?>
<p:tagLst xmlns:p="http://schemas.openxmlformats.org/presentationml/2006/main">
  <p:tag name="KSO_WM_DIAGRAM_VIRTUALLY_FRAME" val="{&quot;height&quot;:334.78000000000003,&quot;left&quot;:43.2,&quot;top&quot;:122.4,&quot;width&quot;:547.2}"/>
</p:tagLst>
</file>

<file path=ppt/tags/tag127.xml><?xml version="1.0" encoding="utf-8"?>
<p:tagLst xmlns:p="http://schemas.openxmlformats.org/presentationml/2006/main">
  <p:tag name="KSO_WM_DIAGRAM_VIRTUALLY_FRAME" val="{&quot;height&quot;:334.78000000000003,&quot;left&quot;:43.2,&quot;top&quot;:122.4,&quot;width&quot;:547.2}"/>
</p:tagLst>
</file>

<file path=ppt/tags/tag128.xml><?xml version="1.0" encoding="utf-8"?>
<p:tagLst xmlns:p="http://schemas.openxmlformats.org/presentationml/2006/main">
  <p:tag name="KSO_WM_DIAGRAM_VIRTUALLY_FRAME" val="{&quot;height&quot;:334.78000000000003,&quot;left&quot;:43.2,&quot;top&quot;:122.4,&quot;width&quot;:547.2}"/>
</p:tagLst>
</file>

<file path=ppt/tags/tag129.xml><?xml version="1.0" encoding="utf-8"?>
<p:tagLst xmlns:p="http://schemas.openxmlformats.org/presentationml/2006/main">
  <p:tag name="KSO_WM_DIAGRAM_VIRTUALLY_FRAME" val="{&quot;height&quot;:334.78000000000003,&quot;left&quot;:43.2,&quot;top&quot;:122.4,&quot;width&quot;:547.2}"/>
</p:tagLst>
</file>

<file path=ppt/tags/tag130.xml><?xml version="1.0" encoding="utf-8"?>
<p:tagLst xmlns:p="http://schemas.openxmlformats.org/presentationml/2006/main">
  <p:tag name="KSO_WM_DIAGRAM_VIRTUALLY_FRAME" val="{&quot;height&quot;:334.78000000000003,&quot;left&quot;:43.2,&quot;top&quot;:122.4,&quot;width&quot;:547.2}"/>
</p:tagLst>
</file>

<file path=ppt/tags/tag131.xml><?xml version="1.0" encoding="utf-8"?>
<p:tagLst xmlns:p="http://schemas.openxmlformats.org/presentationml/2006/main">
  <p:tag name="KSO_WM_DIAGRAM_VIRTUALLY_FRAME" val="{&quot;height&quot;:334.78000000000003,&quot;left&quot;:43.2,&quot;top&quot;:122.4,&quot;width&quot;:547.2}"/>
</p:tagLst>
</file>

<file path=ppt/tags/tag132.xml><?xml version="1.0" encoding="utf-8"?>
<p:tagLst xmlns:p="http://schemas.openxmlformats.org/presentationml/2006/main">
  <p:tag name="KSO_WM_DIAGRAM_VIRTUALLY_FRAME" val="{&quot;height&quot;:334.78000000000003,&quot;left&quot;:43.2,&quot;top&quot;:122.4,&quot;width&quot;:547.2}"/>
</p:tagLst>
</file>

<file path=ppt/tags/tag133.xml><?xml version="1.0" encoding="utf-8"?>
<p:tagLst xmlns:p="http://schemas.openxmlformats.org/presentationml/2006/main">
  <p:tag name="KSO_WM_DIAGRAM_VIRTUALLY_FRAME" val="{&quot;height&quot;:334.78000000000003,&quot;left&quot;:43.2,&quot;top&quot;:122.4,&quot;width&quot;:547.2}"/>
</p:tagLst>
</file>

<file path=ppt/tags/tag134.xml><?xml version="1.0" encoding="utf-8"?>
<p:tagLst xmlns:p="http://schemas.openxmlformats.org/presentationml/2006/main">
  <p:tag name="KSO_WM_DIAGRAM_VIRTUALLY_FRAME" val="{&quot;height&quot;:334.78000000000003,&quot;left&quot;:43.2,&quot;top&quot;:122.4,&quot;width&quot;:547.2}"/>
</p:tagLst>
</file>

<file path=ppt/tags/tag135.xml><?xml version="1.0" encoding="utf-8"?>
<p:tagLst xmlns:p="http://schemas.openxmlformats.org/presentationml/2006/main">
  <p:tag name="KSO_WM_DIAGRAM_VIRTUALLY_FRAME" val="{&quot;height&quot;:334.78000000000003,&quot;left&quot;:43.2,&quot;top&quot;:122.4,&quot;width&quot;:547.2}"/>
</p:tagLst>
</file>

<file path=ppt/tags/tag136.xml><?xml version="1.0" encoding="utf-8"?>
<p:tagLst xmlns:p="http://schemas.openxmlformats.org/presentationml/2006/main">
  <p:tag name="KSO_WM_DIAGRAM_VIRTUALLY_FRAME" val="{&quot;height&quot;:334.78000000000003,&quot;left&quot;:43.2,&quot;top&quot;:122.4,&quot;width&quot;:547.2}"/>
</p:tagLst>
</file>

<file path=ppt/tags/tag137.xml><?xml version="1.0" encoding="utf-8"?>
<p:tagLst xmlns:p="http://schemas.openxmlformats.org/presentationml/2006/main">
  <p:tag name="KSO_WM_DIAGRAM_VIRTUALLY_FRAME" val="{&quot;height&quot;:334.78000000000003,&quot;left&quot;:43.2,&quot;top&quot;:122.4,&quot;width&quot;:547.2}"/>
</p:tagLst>
</file>

<file path=ppt/tags/tag138.xml><?xml version="1.0" encoding="utf-8"?>
<p:tagLst xmlns:p="http://schemas.openxmlformats.org/presentationml/2006/main">
  <p:tag name="KSO_WM_DIAGRAM_VIRTUALLY_FRAME" val="{&quot;height&quot;:334.78000000000003,&quot;left&quot;:43.2,&quot;top&quot;:122.4,&quot;width&quot;:547.2}"/>
</p:tagLst>
</file>

<file path=ppt/tags/tag139.xml><?xml version="1.0" encoding="utf-8"?>
<p:tagLst xmlns:p="http://schemas.openxmlformats.org/presentationml/2006/main">
  <p:tag name="KSO_WM_DIAGRAM_VIRTUALLY_FRAME" val="{&quot;height&quot;:334.78000000000003,&quot;left&quot;:43.2,&quot;top&quot;:122.4,&quot;width&quot;:547.2}"/>
</p:tagLst>
</file>

<file path=ppt/tags/tag140.xml><?xml version="1.0" encoding="utf-8"?>
<p:tagLst xmlns:p="http://schemas.openxmlformats.org/presentationml/2006/main">
  <p:tag name="KSO_WM_DIAGRAM_VIRTUALLY_FRAME" val="{&quot;height&quot;:334.78000000000003,&quot;left&quot;:43.2,&quot;top&quot;:122.4,&quot;width&quot;:547.2}"/>
</p:tagLst>
</file>

<file path=ppt/tags/tag141.xml><?xml version="1.0" encoding="utf-8"?>
<p:tagLst xmlns:p="http://schemas.openxmlformats.org/presentationml/2006/main">
  <p:tag name="KSO_WM_DIAGRAM_VIRTUALLY_FRAME" val="{&quot;height&quot;:334.78000000000003,&quot;left&quot;:43.2,&quot;top&quot;:122.4,&quot;width&quot;:547.2}"/>
</p:tagLst>
</file>

<file path=ppt/tags/tag142.xml><?xml version="1.0" encoding="utf-8"?>
<p:tagLst xmlns:p="http://schemas.openxmlformats.org/presentationml/2006/main">
  <p:tag name="KSO_WM_DIAGRAM_VIRTUALLY_FRAME" val="{&quot;height&quot;:334.78000000000003,&quot;left&quot;:43.2,&quot;top&quot;:122.4,&quot;width&quot;:547.2}"/>
</p:tagLst>
</file>

<file path=ppt/tags/tag143.xml><?xml version="1.0" encoding="utf-8"?>
<p:tagLst xmlns:p="http://schemas.openxmlformats.org/presentationml/2006/main">
  <p:tag name="KSO_WM_DIAGRAM_VIRTUALLY_FRAME" val="{&quot;height&quot;:334.78000000000003,&quot;left&quot;:43.2,&quot;top&quot;:122.4,&quot;width&quot;:547.2}"/>
</p:tagLst>
</file>

<file path=ppt/tags/tag144.xml><?xml version="1.0" encoding="utf-8"?>
<p:tagLst xmlns:p="http://schemas.openxmlformats.org/presentationml/2006/main">
  <p:tag name="KSO_WM_DIAGRAM_VIRTUALLY_FRAME" val="{&quot;height&quot;:265.45,&quot;left&quot;:43.2,&quot;top&quot;:264.65,&quot;width&quot;:862.5600000000001}"/>
</p:tagLst>
</file>

<file path=ppt/tags/tag145.xml><?xml version="1.0" encoding="utf-8"?>
<p:tagLst xmlns:p="http://schemas.openxmlformats.org/presentationml/2006/main">
  <p:tag name="KSO_WM_DIAGRAM_VIRTUALLY_FRAME" val="{&quot;height&quot;:265.45,&quot;left&quot;:43.2,&quot;top&quot;:264.65,&quot;width&quot;:862.5600000000001}"/>
</p:tagLst>
</file>

<file path=ppt/tags/tag146.xml><?xml version="1.0" encoding="utf-8"?>
<p:tagLst xmlns:p="http://schemas.openxmlformats.org/presentationml/2006/main">
  <p:tag name="KSO_WM_DIAGRAM_VIRTUALLY_FRAME" val="{&quot;height&quot;:265.45,&quot;left&quot;:43.2,&quot;top&quot;:264.65,&quot;width&quot;:862.5600000000001}"/>
</p:tagLst>
</file>

<file path=ppt/tags/tag147.xml><?xml version="1.0" encoding="utf-8"?>
<p:tagLst xmlns:p="http://schemas.openxmlformats.org/presentationml/2006/main">
  <p:tag name="KSO_WM_DIAGRAM_VIRTUALLY_FRAME" val="{&quot;height&quot;:265.45,&quot;left&quot;:43.2,&quot;top&quot;:264.65,&quot;width&quot;:862.5600000000001}"/>
</p:tagLst>
</file>

<file path=ppt/tags/tag148.xml><?xml version="1.0" encoding="utf-8"?>
<p:tagLst xmlns:p="http://schemas.openxmlformats.org/presentationml/2006/main">
  <p:tag name="KSO_WM_DIAGRAM_VIRTUALLY_FRAME" val="{&quot;height&quot;:265.45,&quot;left&quot;:43.2,&quot;top&quot;:264.65,&quot;width&quot;:862.5600000000001}"/>
</p:tagLst>
</file>

<file path=ppt/tags/tag149.xml><?xml version="1.0" encoding="utf-8"?>
<p:tagLst xmlns:p="http://schemas.openxmlformats.org/presentationml/2006/main">
  <p:tag name="KSO_WM_DIAGRAM_VIRTUALLY_FRAME" val="{&quot;height&quot;:265.45,&quot;left&quot;:43.2,&quot;top&quot;:264.65,&quot;width&quot;:862.5600000000001}"/>
</p:tagLst>
</file>

<file path=ppt/tags/tag150.xml><?xml version="1.0" encoding="utf-8"?>
<p:tagLst xmlns:p="http://schemas.openxmlformats.org/presentationml/2006/main">
  <p:tag name="KSO_WM_DIAGRAM_VIRTUALLY_FRAME" val="{&quot;height&quot;:265.45,&quot;left&quot;:43.2,&quot;top&quot;:264.65,&quot;width&quot;:862.5600000000001}"/>
</p:tagLst>
</file>

<file path=ppt/tags/tag151.xml><?xml version="1.0" encoding="utf-8"?>
<p:tagLst xmlns:p="http://schemas.openxmlformats.org/presentationml/2006/main">
  <p:tag name="KSO_WM_DIAGRAM_VIRTUALLY_FRAME" val="{&quot;height&quot;:265.45,&quot;left&quot;:43.2,&quot;top&quot;:264.65,&quot;width&quot;:862.5600000000001}"/>
</p:tagLst>
</file>

<file path=ppt/tags/tag152.xml><?xml version="1.0" encoding="utf-8"?>
<p:tagLst xmlns:p="http://schemas.openxmlformats.org/presentationml/2006/main">
  <p:tag name="KSO_WM_DIAGRAM_VIRTUALLY_FRAME" val="{&quot;height&quot;:265.45,&quot;left&quot;:43.2,&quot;top&quot;:264.65,&quot;width&quot;:862.5600000000001}"/>
</p:tagLst>
</file>

<file path=ppt/tags/tag153.xml><?xml version="1.0" encoding="utf-8"?>
<p:tagLst xmlns:p="http://schemas.openxmlformats.org/presentationml/2006/main">
  <p:tag name="KSO_WM_DIAGRAM_VIRTUALLY_FRAME" val="{&quot;height&quot;:265.45,&quot;left&quot;:43.2,&quot;top&quot;:264.65,&quot;width&quot;:862.5600000000001}"/>
</p:tagLst>
</file>

<file path=ppt/tags/tag154.xml><?xml version="1.0" encoding="utf-8"?>
<p:tagLst xmlns:p="http://schemas.openxmlformats.org/presentationml/2006/main">
  <p:tag name="KSO_WM_DIAGRAM_VIRTUALLY_FRAME" val="{&quot;height&quot;:265.45,&quot;left&quot;:43.2,&quot;top&quot;:264.65,&quot;width&quot;:862.5600000000001}"/>
</p:tagLst>
</file>

<file path=ppt/tags/tag155.xml><?xml version="1.0" encoding="utf-8"?>
<p:tagLst xmlns:p="http://schemas.openxmlformats.org/presentationml/2006/main">
  <p:tag name="KSO_WM_DIAGRAM_VIRTUALLY_FRAME" val="{&quot;height&quot;:265.45,&quot;left&quot;:43.2,&quot;top&quot;:264.65,&quot;width&quot;:862.5600000000001}"/>
</p:tagLst>
</file>

<file path=ppt/tags/tag156.xml><?xml version="1.0" encoding="utf-8"?>
<p:tagLst xmlns:p="http://schemas.openxmlformats.org/presentationml/2006/main">
  <p:tag name="KSO_WM_DIAGRAM_VIRTUALLY_FRAME" val="{&quot;height&quot;:265.45,&quot;left&quot;:43.2,&quot;top&quot;:264.65,&quot;width&quot;:862.5600000000001}"/>
</p:tagLst>
</file>

<file path=ppt/tags/tag157.xml><?xml version="1.0" encoding="utf-8"?>
<p:tagLst xmlns:p="http://schemas.openxmlformats.org/presentationml/2006/main">
  <p:tag name="KSO_WM_DIAGRAM_VIRTUALLY_FRAME" val="{&quot;height&quot;:265.45,&quot;left&quot;:43.2,&quot;top&quot;:264.65,&quot;width&quot;:862.5600000000001}"/>
</p:tagLst>
</file>

<file path=ppt/tags/tag158.xml><?xml version="1.0" encoding="utf-8"?>
<p:tagLst xmlns:p="http://schemas.openxmlformats.org/presentationml/2006/main">
  <p:tag name="KSO_WM_DIAGRAM_VIRTUALLY_FRAME" val="{&quot;height&quot;:265.45,&quot;left&quot;:43.2,&quot;top&quot;:264.65,&quot;width&quot;:862.5600000000001}"/>
</p:tagLst>
</file>

<file path=ppt/tags/tag159.xml><?xml version="1.0" encoding="utf-8"?>
<p:tagLst xmlns:p="http://schemas.openxmlformats.org/presentationml/2006/main">
  <p:tag name="KSO_WM_DIAGRAM_VIRTUALLY_FRAME" val="{&quot;height&quot;:265.45,&quot;left&quot;:43.2,&quot;top&quot;:264.65,&quot;width&quot;:862.5600000000001}"/>
</p:tagLst>
</file>

<file path=ppt/tags/tag160.xml><?xml version="1.0" encoding="utf-8"?>
<p:tagLst xmlns:p="http://schemas.openxmlformats.org/presentationml/2006/main">
  <p:tag name="KSO_WM_DIAGRAM_VIRTUALLY_FRAME" val="{&quot;height&quot;:265.45,&quot;left&quot;:43.2,&quot;top&quot;:264.65,&quot;width&quot;:862.5600000000001}"/>
</p:tagLst>
</file>

<file path=ppt/tags/tag161.xml><?xml version="1.0" encoding="utf-8"?>
<p:tagLst xmlns:p="http://schemas.openxmlformats.org/presentationml/2006/main">
  <p:tag name="KSO_WM_DIAGRAM_VIRTUALLY_FRAME" val="{&quot;height&quot;:265.45,&quot;left&quot;:43.2,&quot;top&quot;:264.65,&quot;width&quot;:862.5600000000001}"/>
</p:tagLst>
</file>

<file path=ppt/tags/tag162.xml><?xml version="1.0" encoding="utf-8"?>
<p:tagLst xmlns:p="http://schemas.openxmlformats.org/presentationml/2006/main">
  <p:tag name="KSO_WM_DIAGRAM_VIRTUALLY_FRAME" val="{&quot;height&quot;:265.45,&quot;left&quot;:43.2,&quot;top&quot;:264.65,&quot;width&quot;:862.5600000000001}"/>
</p:tagLst>
</file>

<file path=ppt/tags/tag163.xml><?xml version="1.0" encoding="utf-8"?>
<p:tagLst xmlns:p="http://schemas.openxmlformats.org/presentationml/2006/main">
  <p:tag name="KSO_WM_DIAGRAM_VIRTUALLY_FRAME" val="{&quot;height&quot;:265.45,&quot;left&quot;:43.2,&quot;top&quot;:264.65,&quot;width&quot;:862.5600000000001}"/>
</p:tagLst>
</file>

<file path=ppt/tags/tag164.xml><?xml version="1.0" encoding="utf-8"?>
<p:tagLst xmlns:p="http://schemas.openxmlformats.org/presentationml/2006/main">
  <p:tag name="KSO_WM_DIAGRAM_VIRTUALLY_FRAME" val="{&quot;height&quot;:265.45,&quot;left&quot;:43.2,&quot;top&quot;:264.65,&quot;width&quot;:862.5600000000001}"/>
</p:tagLst>
</file>

<file path=ppt/tags/tag165.xml><?xml version="1.0" encoding="utf-8"?>
<p:tagLst xmlns:p="http://schemas.openxmlformats.org/presentationml/2006/main">
  <p:tag name="KSO_WM_DIAGRAM_VIRTUALLY_FRAME" val="{&quot;height&quot;:182.88000000000002,&quot;left&quot;:49.25,&quot;top&quot;:266.95,&quot;width&quot;:450}"/>
</p:tagLst>
</file>

<file path=ppt/tags/tag166.xml><?xml version="1.0" encoding="utf-8"?>
<p:tagLst xmlns:p="http://schemas.openxmlformats.org/presentationml/2006/main">
  <p:tag name="KSO_WM_DIAGRAM_VIRTUALLY_FRAME" val="{&quot;height&quot;:182.88000000000002,&quot;left&quot;:49.25,&quot;top&quot;:266.95,&quot;width&quot;:450}"/>
</p:tagLst>
</file>

<file path=ppt/tags/tag167.xml><?xml version="1.0" encoding="utf-8"?>
<p:tagLst xmlns:p="http://schemas.openxmlformats.org/presentationml/2006/main">
  <p:tag name="KSO_WM_DIAGRAM_VIRTUALLY_FRAME" val="{&quot;height&quot;:182.88000000000002,&quot;left&quot;:49.25,&quot;top&quot;:266.95,&quot;width&quot;:450}"/>
</p:tagLst>
</file>

<file path=ppt/tags/tag168.xml><?xml version="1.0" encoding="utf-8"?>
<p:tagLst xmlns:p="http://schemas.openxmlformats.org/presentationml/2006/main">
  <p:tag name="KSO_WM_DIAGRAM_VIRTUALLY_FRAME" val="{&quot;height&quot;:182.88000000000002,&quot;left&quot;:49.25,&quot;top&quot;:266.95,&quot;width&quot;:450}"/>
</p:tagLst>
</file>

<file path=ppt/tags/tag169.xml><?xml version="1.0" encoding="utf-8"?>
<p:tagLst xmlns:p="http://schemas.openxmlformats.org/presentationml/2006/main">
  <p:tag name="KSO_WM_DIAGRAM_VIRTUALLY_FRAME" val="{&quot;height&quot;:182.88000000000002,&quot;left&quot;:49.25,&quot;top&quot;:266.95,&quot;width&quot;:450}"/>
</p:tagLst>
</file>

<file path=ppt/tags/tag170.xml><?xml version="1.0" encoding="utf-8"?>
<p:tagLst xmlns:p="http://schemas.openxmlformats.org/presentationml/2006/main">
  <p:tag name="KSO_WM_DIAGRAM_VIRTUALLY_FRAME" val="{&quot;height&quot;:182.88000000000002,&quot;left&quot;:49.25,&quot;top&quot;:266.95,&quot;width&quot;:450}"/>
</p:tagLst>
</file>

<file path=ppt/tags/tag171.xml><?xml version="1.0" encoding="utf-8"?>
<p:tagLst xmlns:p="http://schemas.openxmlformats.org/presentationml/2006/main">
  <p:tag name="KSO_WM_DIAGRAM_VIRTUALLY_FRAME" val="{&quot;height&quot;:182.88000000000002,&quot;left&quot;:49.25,&quot;top&quot;:266.95,&quot;width&quot;:450}"/>
</p:tagLst>
</file>

<file path=ppt/tags/tag172.xml><?xml version="1.0" encoding="utf-8"?>
<p:tagLst xmlns:p="http://schemas.openxmlformats.org/presentationml/2006/main">
  <p:tag name="KSO_WM_DIAGRAM_VIRTUALLY_FRAME" val="{&quot;height&quot;:182.88000000000002,&quot;left&quot;:49.25,&quot;top&quot;:266.95,&quot;width&quot;:450}"/>
</p:tagLst>
</file>

<file path=ppt/tags/tag173.xml><?xml version="1.0" encoding="utf-8"?>
<p:tagLst xmlns:p="http://schemas.openxmlformats.org/presentationml/2006/main">
  <p:tag name="KSO_WM_DIAGRAM_VIRTUALLY_FRAME" val="{&quot;height&quot;:182.88000000000002,&quot;left&quot;:49.25,&quot;top&quot;:266.95,&quot;width&quot;:450}"/>
</p:tagLst>
</file>

<file path=ppt/tags/tag174.xml><?xml version="1.0" encoding="utf-8"?>
<p:tagLst xmlns:p="http://schemas.openxmlformats.org/presentationml/2006/main">
  <p:tag name="KSO_WM_DIAGRAM_VIRTUALLY_FRAME" val="{&quot;height&quot;:182.88000000000002,&quot;left&quot;:49.25,&quot;top&quot;:266.95,&quot;width&quot;:450}"/>
</p:tagLst>
</file>

<file path=ppt/tags/tag175.xml><?xml version="1.0" encoding="utf-8"?>
<p:tagLst xmlns:p="http://schemas.openxmlformats.org/presentationml/2006/main">
  <p:tag name="KSO_WM_DIAGRAM_VIRTUALLY_FRAME" val="{&quot;height&quot;:182.88000000000002,&quot;left&quot;:49.25,&quot;top&quot;:266.95,&quot;width&quot;:450}"/>
</p:tagLst>
</file>

<file path=ppt/tags/tag176.xml><?xml version="1.0" encoding="utf-8"?>
<p:tagLst xmlns:p="http://schemas.openxmlformats.org/presentationml/2006/main">
  <p:tag name="KSO_WM_DIAGRAM_VIRTUALLY_FRAME" val="{&quot;height&quot;:182.88000000000002,&quot;left&quot;:49.25,&quot;top&quot;:266.95,&quot;width&quot;:450}"/>
</p:tagLst>
</file>

<file path=ppt/tags/tag177.xml><?xml version="1.0" encoding="utf-8"?>
<p:tagLst xmlns:p="http://schemas.openxmlformats.org/presentationml/2006/main">
  <p:tag name="KSO_WM_DIAGRAM_VIRTUALLY_FRAME" val="{&quot;height&quot;:236,&quot;left&quot;:43.2,&quot;top&quot;:151.2,&quot;width&quot;:867.6}"/>
</p:tagLst>
</file>

<file path=ppt/tags/tag178.xml><?xml version="1.0" encoding="utf-8"?>
<p:tagLst xmlns:p="http://schemas.openxmlformats.org/presentationml/2006/main">
  <p:tag name="KSO_WM_DIAGRAM_VIRTUALLY_FRAME" val="{&quot;height&quot;:236,&quot;left&quot;:43.2,&quot;top&quot;:151.2,&quot;width&quot;:867.6}"/>
</p:tagLst>
</file>

<file path=ppt/tags/tag179.xml><?xml version="1.0" encoding="utf-8"?>
<p:tagLst xmlns:p="http://schemas.openxmlformats.org/presentationml/2006/main">
  <p:tag name="KSO_WM_DIAGRAM_VIRTUALLY_FRAME" val="{&quot;height&quot;:236,&quot;left&quot;:43.2,&quot;top&quot;:151.2,&quot;width&quot;:867.6}"/>
</p:tagLst>
</file>

<file path=ppt/tags/tag180.xml><?xml version="1.0" encoding="utf-8"?>
<p:tagLst xmlns:p="http://schemas.openxmlformats.org/presentationml/2006/main">
  <p:tag name="KSO_WM_DIAGRAM_VIRTUALLY_FRAME" val="{&quot;height&quot;:236,&quot;left&quot;:43.2,&quot;top&quot;:151.2,&quot;width&quot;:867.6}"/>
</p:tagLst>
</file>

<file path=ppt/tags/tag181.xml><?xml version="1.0" encoding="utf-8"?>
<p:tagLst xmlns:p="http://schemas.openxmlformats.org/presentationml/2006/main">
  <p:tag name="KSO_WM_DIAGRAM_VIRTUALLY_FRAME" val="{&quot;height&quot;:236,&quot;left&quot;:43.2,&quot;top&quot;:151.2,&quot;width&quot;:867.6}"/>
</p:tagLst>
</file>

<file path=ppt/tags/tag182.xml><?xml version="1.0" encoding="utf-8"?>
<p:tagLst xmlns:p="http://schemas.openxmlformats.org/presentationml/2006/main">
  <p:tag name="KSO_WM_DIAGRAM_VIRTUALLY_FRAME" val="{&quot;height&quot;:236,&quot;left&quot;:43.2,&quot;top&quot;:151.2,&quot;width&quot;:867.6}"/>
</p:tagLst>
</file>

<file path=ppt/tags/tag183.xml><?xml version="1.0" encoding="utf-8"?>
<p:tagLst xmlns:p="http://schemas.openxmlformats.org/presentationml/2006/main">
  <p:tag name="KSO_WM_DIAGRAM_VIRTUALLY_FRAME" val="{&quot;height&quot;:236,&quot;left&quot;:43.2,&quot;top&quot;:151.2,&quot;width&quot;:867.6}"/>
</p:tagLst>
</file>

<file path=ppt/tags/tag184.xml><?xml version="1.0" encoding="utf-8"?>
<p:tagLst xmlns:p="http://schemas.openxmlformats.org/presentationml/2006/main">
  <p:tag name="KSO_WM_DIAGRAM_VIRTUALLY_FRAME" val="{&quot;height&quot;:236,&quot;left&quot;:43.2,&quot;top&quot;:151.2,&quot;width&quot;:867.6}"/>
</p:tagLst>
</file>

<file path=ppt/tags/tag185.xml><?xml version="1.0" encoding="utf-8"?>
<p:tagLst xmlns:p="http://schemas.openxmlformats.org/presentationml/2006/main">
  <p:tag name="KSO_WM_DIAGRAM_VIRTUALLY_FRAME" val="{&quot;height&quot;:236,&quot;left&quot;:43.2,&quot;top&quot;:151.2,&quot;width&quot;:867.6}"/>
</p:tagLst>
</file>

<file path=ppt/tags/tag186.xml><?xml version="1.0" encoding="utf-8"?>
<p:tagLst xmlns:p="http://schemas.openxmlformats.org/presentationml/2006/main">
  <p:tag name="KSO_WM_DIAGRAM_VIRTUALLY_FRAME" val="{&quot;height&quot;:236,&quot;left&quot;:43.2,&quot;top&quot;:151.2,&quot;width&quot;:867.6}"/>
</p:tagLst>
</file>

<file path=ppt/tags/tag187.xml><?xml version="1.0" encoding="utf-8"?>
<p:tagLst xmlns:p="http://schemas.openxmlformats.org/presentationml/2006/main">
  <p:tag name="KSO_WM_DIAGRAM_VIRTUALLY_FRAME" val="{&quot;height&quot;:236,&quot;left&quot;:43.2,&quot;top&quot;:151.2,&quot;width&quot;:867.6}"/>
</p:tagLst>
</file>

<file path=ppt/tags/tag188.xml><?xml version="1.0" encoding="utf-8"?>
<p:tagLst xmlns:p="http://schemas.openxmlformats.org/presentationml/2006/main">
  <p:tag name="KSO_WM_DIAGRAM_VIRTUALLY_FRAME" val="{&quot;height&quot;:236,&quot;left&quot;:43.2,&quot;top&quot;:151.2,&quot;width&quot;:867.6}"/>
</p:tagLst>
</file>

<file path=ppt/tags/tag189.xml><?xml version="1.0" encoding="utf-8"?>
<p:tagLst xmlns:p="http://schemas.openxmlformats.org/presentationml/2006/main">
  <p:tag name="KSO_WM_DIAGRAM_VIRTUALLY_FRAME" val="{&quot;height&quot;:236,&quot;left&quot;:43.2,&quot;top&quot;:151.2,&quot;width&quot;:867.6}"/>
</p:tagLst>
</file>

<file path=ppt/tags/tag190.xml><?xml version="1.0" encoding="utf-8"?>
<p:tagLst xmlns:p="http://schemas.openxmlformats.org/presentationml/2006/main">
  <p:tag name="KSO_WM_DIAGRAM_VIRTUALLY_FRAME" val="{&quot;height&quot;:236,&quot;left&quot;:43.2,&quot;top&quot;:151.2,&quot;width&quot;:867.6}"/>
</p:tagLst>
</file>

<file path=ppt/tags/tag191.xml><?xml version="1.0" encoding="utf-8"?>
<p:tagLst xmlns:p="http://schemas.openxmlformats.org/presentationml/2006/main">
  <p:tag name="KSO_WM_DIAGRAM_VIRTUALLY_FRAME" val="{&quot;height&quot;:236,&quot;left&quot;:43.2,&quot;top&quot;:151.2,&quot;width&quot;:867.6}"/>
</p:tagLst>
</file>

<file path=ppt/tags/tag192.xml><?xml version="1.0" encoding="utf-8"?>
<p:tagLst xmlns:p="http://schemas.openxmlformats.org/presentationml/2006/main">
  <p:tag name="KSO_WM_DIAGRAM_VIRTUALLY_FRAME" val="{&quot;height&quot;:236,&quot;left&quot;:43.2,&quot;top&quot;:151.2,&quot;width&quot;:867.6}"/>
</p:tagLst>
</file>

<file path=ppt/tags/tag193.xml><?xml version="1.0" encoding="utf-8"?>
<p:tagLst xmlns:p="http://schemas.openxmlformats.org/presentationml/2006/main">
  <p:tag name="KSO_WM_DIAGRAM_VIRTUALLY_FRAME" val="{&quot;height&quot;:236,&quot;left&quot;:43.2,&quot;top&quot;:151.2,&quot;width&quot;:867.6}"/>
</p:tagLst>
</file>

<file path=ppt/tags/tag194.xml><?xml version="1.0" encoding="utf-8"?>
<p:tagLst xmlns:p="http://schemas.openxmlformats.org/presentationml/2006/main">
  <p:tag name="KSO_WM_DIAGRAM_VIRTUALLY_FRAME" val="{&quot;height&quot;:236,&quot;left&quot;:43.2,&quot;top&quot;:151.2,&quot;width&quot;:867.6}"/>
</p:tagLst>
</file>

<file path=ppt/tags/tag195.xml><?xml version="1.0" encoding="utf-8"?>
<p:tagLst xmlns:p="http://schemas.openxmlformats.org/presentationml/2006/main">
  <p:tag name="KSO_WM_DIAGRAM_VIRTUALLY_FRAME" val="{&quot;height&quot;:236,&quot;left&quot;:43.2,&quot;top&quot;:151.2,&quot;width&quot;:867.6}"/>
</p:tagLst>
</file>

<file path=ppt/tags/tag196.xml><?xml version="1.0" encoding="utf-8"?>
<p:tagLst xmlns:p="http://schemas.openxmlformats.org/presentationml/2006/main">
  <p:tag name="KSO_WM_DIAGRAM_VIRTUALLY_FRAME" val="{&quot;height&quot;:236,&quot;left&quot;:43.2,&quot;top&quot;:151.2,&quot;width&quot;:867.6}"/>
</p:tagLst>
</file>

<file path=ppt/tags/tag197.xml><?xml version="1.0" encoding="utf-8"?>
<p:tagLst xmlns:p="http://schemas.openxmlformats.org/presentationml/2006/main">
  <p:tag name="KSO_WM_DIAGRAM_VIRTUALLY_FRAME" val="{&quot;height&quot;:236,&quot;left&quot;:43.2,&quot;top&quot;:151.2,&quot;width&quot;:867.6}"/>
</p:tagLst>
</file>

<file path=ppt/tags/tag198.xml><?xml version="1.0" encoding="utf-8"?>
<p:tagLst xmlns:p="http://schemas.openxmlformats.org/presentationml/2006/main">
  <p:tag name="KSO_WM_DIAGRAM_VIRTUALLY_FRAME" val="{&quot;height&quot;:236,&quot;left&quot;:43.2,&quot;top&quot;:151.2,&quot;width&quot;:867.6}"/>
</p:tagLst>
</file>

<file path=ppt/tags/tag199.xml><?xml version="1.0" encoding="utf-8"?>
<p:tagLst xmlns:p="http://schemas.openxmlformats.org/presentationml/2006/main">
  <p:tag name="KSO_WM_DIAGRAM_VIRTUALLY_FRAME" val="{&quot;height&quot;:236,&quot;left&quot;:43.2,&quot;top&quot;:151.2,&quot;width&quot;:867.6}"/>
</p:tagLst>
</file>

<file path=ppt/tags/tag200.xml><?xml version="1.0" encoding="utf-8"?>
<p:tagLst xmlns:p="http://schemas.openxmlformats.org/presentationml/2006/main">
  <p:tag name="KSO_WM_DIAGRAM_VIRTUALLY_FRAME" val="{&quot;height&quot;:236,&quot;left&quot;:43.2,&quot;top&quot;:151.2,&quot;width&quot;:867.6}"/>
</p:tagLst>
</file>

<file path=ppt/tags/tag201.xml><?xml version="1.0" encoding="utf-8"?>
<p:tagLst xmlns:p="http://schemas.openxmlformats.org/presentationml/2006/main">
  <p:tag name="KSO_WM_DIAGRAM_VIRTUALLY_FRAME" val="{&quot;height&quot;:201.6,&quot;left&quot;:43.2,&quot;top&quot;:172.8,&quot;width&quot;:873.36}"/>
</p:tagLst>
</file>

<file path=ppt/tags/tag202.xml><?xml version="1.0" encoding="utf-8"?>
<p:tagLst xmlns:p="http://schemas.openxmlformats.org/presentationml/2006/main">
  <p:tag name="KSO_WM_DIAGRAM_VIRTUALLY_FRAME" val="{&quot;height&quot;:201.6,&quot;left&quot;:43.2,&quot;top&quot;:172.8,&quot;width&quot;:873.36}"/>
</p:tagLst>
</file>

<file path=ppt/tags/tag203.xml><?xml version="1.0" encoding="utf-8"?>
<p:tagLst xmlns:p="http://schemas.openxmlformats.org/presentationml/2006/main">
  <p:tag name="KSO_WM_DIAGRAM_VIRTUALLY_FRAME" val="{&quot;height&quot;:201.6,&quot;left&quot;:43.2,&quot;top&quot;:172.8,&quot;width&quot;:873.36}"/>
</p:tagLst>
</file>

<file path=ppt/tags/tag204.xml><?xml version="1.0" encoding="utf-8"?>
<p:tagLst xmlns:p="http://schemas.openxmlformats.org/presentationml/2006/main">
  <p:tag name="KSO_WM_DIAGRAM_VIRTUALLY_FRAME" val="{&quot;height&quot;:201.6,&quot;left&quot;:43.2,&quot;top&quot;:172.8,&quot;width&quot;:873.36}"/>
</p:tagLst>
</file>

<file path=ppt/tags/tag205.xml><?xml version="1.0" encoding="utf-8"?>
<p:tagLst xmlns:p="http://schemas.openxmlformats.org/presentationml/2006/main">
  <p:tag name="KSO_WM_DIAGRAM_VIRTUALLY_FRAME" val="{&quot;height&quot;:201.6,&quot;left&quot;:43.2,&quot;top&quot;:172.8,&quot;width&quot;:873.36}"/>
</p:tagLst>
</file>

<file path=ppt/tags/tag206.xml><?xml version="1.0" encoding="utf-8"?>
<p:tagLst xmlns:p="http://schemas.openxmlformats.org/presentationml/2006/main">
  <p:tag name="KSO_WM_DIAGRAM_VIRTUALLY_FRAME" val="{&quot;height&quot;:201.6,&quot;left&quot;:43.2,&quot;top&quot;:172.8,&quot;width&quot;:873.36}"/>
</p:tagLst>
</file>

<file path=ppt/tags/tag207.xml><?xml version="1.0" encoding="utf-8"?>
<p:tagLst xmlns:p="http://schemas.openxmlformats.org/presentationml/2006/main">
  <p:tag name="KSO_WM_DIAGRAM_VIRTUALLY_FRAME" val="{&quot;height&quot;:201.6,&quot;left&quot;:43.2,&quot;top&quot;:172.8,&quot;width&quot;:873.36}"/>
</p:tagLst>
</file>

<file path=ppt/tags/tag208.xml><?xml version="1.0" encoding="utf-8"?>
<p:tagLst xmlns:p="http://schemas.openxmlformats.org/presentationml/2006/main">
  <p:tag name="KSO_WM_DIAGRAM_VIRTUALLY_FRAME" val="{&quot;height&quot;:201.6,&quot;left&quot;:43.2,&quot;top&quot;:172.8,&quot;width&quot;:873.36}"/>
</p:tagLst>
</file>

<file path=ppt/tags/tag209.xml><?xml version="1.0" encoding="utf-8"?>
<p:tagLst xmlns:p="http://schemas.openxmlformats.org/presentationml/2006/main">
  <p:tag name="KSO_WM_DIAGRAM_VIRTUALLY_FRAME" val="{&quot;height&quot;:201.6,&quot;left&quot;:43.2,&quot;top&quot;:172.8,&quot;width&quot;:873.36}"/>
</p:tagLst>
</file>

<file path=ppt/tags/tag210.xml><?xml version="1.0" encoding="utf-8"?>
<p:tagLst xmlns:p="http://schemas.openxmlformats.org/presentationml/2006/main">
  <p:tag name="KSO_WM_DIAGRAM_VIRTUALLY_FRAME" val="{&quot;height&quot;:201.6,&quot;left&quot;:43.2,&quot;top&quot;:172.8,&quot;width&quot;:873.36}"/>
</p:tagLst>
</file>

<file path=ppt/tags/tag211.xml><?xml version="1.0" encoding="utf-8"?>
<p:tagLst xmlns:p="http://schemas.openxmlformats.org/presentationml/2006/main">
  <p:tag name="KSO_WM_DIAGRAM_VIRTUALLY_FRAME" val="{&quot;height&quot;:201.6,&quot;left&quot;:43.2,&quot;top&quot;:172.8,&quot;width&quot;:873.36}"/>
</p:tagLst>
</file>

<file path=ppt/tags/tag212.xml><?xml version="1.0" encoding="utf-8"?>
<p:tagLst xmlns:p="http://schemas.openxmlformats.org/presentationml/2006/main">
  <p:tag name="KSO_WM_DIAGRAM_VIRTUALLY_FRAME" val="{&quot;height&quot;:201.6,&quot;left&quot;:43.2,&quot;top&quot;:172.8,&quot;width&quot;:873.36}"/>
</p:tagLst>
</file>

<file path=ppt/tags/tag213.xml><?xml version="1.0" encoding="utf-8"?>
<p:tagLst xmlns:p="http://schemas.openxmlformats.org/presentationml/2006/main">
  <p:tag name="KSO_WM_DIAGRAM_VIRTUALLY_FRAME" val="{&quot;height&quot;:201.6,&quot;left&quot;:43.2,&quot;top&quot;:172.8,&quot;width&quot;:873.36}"/>
</p:tagLst>
</file>

<file path=ppt/tags/tag214.xml><?xml version="1.0" encoding="utf-8"?>
<p:tagLst xmlns:p="http://schemas.openxmlformats.org/presentationml/2006/main">
  <p:tag name="KSO_WM_DIAGRAM_VIRTUALLY_FRAME" val="{&quot;height&quot;:201.6,&quot;left&quot;:43.2,&quot;top&quot;:172.8,&quot;width&quot;:873.36}"/>
</p:tagLst>
</file>

<file path=ppt/tags/tag215.xml><?xml version="1.0" encoding="utf-8"?>
<p:tagLst xmlns:p="http://schemas.openxmlformats.org/presentationml/2006/main">
  <p:tag name="KSO_WM_DIAGRAM_VIRTUALLY_FRAME" val="{&quot;height&quot;:201.6,&quot;left&quot;:43.2,&quot;top&quot;:172.8,&quot;width&quot;:873.36}"/>
</p:tagLst>
</file>

<file path=ppt/tags/tag216.xml><?xml version="1.0" encoding="utf-8"?>
<p:tagLst xmlns:p="http://schemas.openxmlformats.org/presentationml/2006/main">
  <p:tag name="KSO_WM_DIAGRAM_VIRTUALLY_FRAME" val="{&quot;height&quot;:201.6,&quot;left&quot;:43.2,&quot;top&quot;:172.8,&quot;width&quot;:873.36}"/>
</p:tagLst>
</file>

<file path=ppt/tags/tag217.xml><?xml version="1.0" encoding="utf-8"?>
<p:tagLst xmlns:p="http://schemas.openxmlformats.org/presentationml/2006/main">
  <p:tag name="KSO_WM_DIAGRAM_VIRTUALLY_FRAME" val="{&quot;height&quot;:201.6,&quot;left&quot;:43.2,&quot;top&quot;:172.8,&quot;width&quot;:873.36}"/>
</p:tagLst>
</file>

<file path=ppt/tags/tag218.xml><?xml version="1.0" encoding="utf-8"?>
<p:tagLst xmlns:p="http://schemas.openxmlformats.org/presentationml/2006/main">
  <p:tag name="KSO_WM_DIAGRAM_VIRTUALLY_FRAME" val="{&quot;height&quot;:201.6,&quot;left&quot;:43.2,&quot;top&quot;:172.8,&quot;width&quot;:873.36}"/>
</p:tagLst>
</file>

<file path=ppt/tags/tag219.xml><?xml version="1.0" encoding="utf-8"?>
<p:tagLst xmlns:p="http://schemas.openxmlformats.org/presentationml/2006/main">
  <p:tag name="KSO_WM_DIAGRAM_VIRTUALLY_FRAME" val="{&quot;height&quot;:201.6,&quot;left&quot;:43.2,&quot;top&quot;:172.8,&quot;width&quot;:873.36}"/>
</p:tagLst>
</file>

<file path=ppt/tags/tag220.xml><?xml version="1.0" encoding="utf-8"?>
<p:tagLst xmlns:p="http://schemas.openxmlformats.org/presentationml/2006/main">
  <p:tag name="KSO_WM_DIAGRAM_VIRTUALLY_FRAME" val="{&quot;height&quot;:201.6,&quot;left&quot;:43.2,&quot;top&quot;:172.8,&quot;width&quot;:873.36}"/>
</p:tagLst>
</file>

<file path=ppt/tags/tag221.xml><?xml version="1.0" encoding="utf-8"?>
<p:tagLst xmlns:p="http://schemas.openxmlformats.org/presentationml/2006/main">
  <p:tag name="KSO_WM_DIAGRAM_VIRTUALLY_FRAME" val="{&quot;height&quot;:201.6,&quot;left&quot;:43.2,&quot;top&quot;:172.8,&quot;width&quot;:873.36}"/>
</p:tagLst>
</file>

<file path=ppt/tags/tag222.xml><?xml version="1.0" encoding="utf-8"?>
<p:tagLst xmlns:p="http://schemas.openxmlformats.org/presentationml/2006/main">
  <p:tag name="KSO_WM_DIAGRAM_VIRTUALLY_FRAME" val="{&quot;height&quot;:201.6,&quot;left&quot;:43.2,&quot;top&quot;:172.8,&quot;width&quot;:873.36}"/>
</p:tagLst>
</file>

<file path=ppt/tags/tag223.xml><?xml version="1.0" encoding="utf-8"?>
<p:tagLst xmlns:p="http://schemas.openxmlformats.org/presentationml/2006/main">
  <p:tag name="KSO_WM_DIAGRAM_VIRTUALLY_FRAME" val="{&quot;height&quot;:201.6,&quot;left&quot;:43.2,&quot;top&quot;:172.8,&quot;width&quot;:873.36}"/>
</p:tagLst>
</file>

<file path=ppt/tags/tag224.xml><?xml version="1.0" encoding="utf-8"?>
<p:tagLst xmlns:p="http://schemas.openxmlformats.org/presentationml/2006/main">
  <p:tag name="KSO_WM_DIAGRAM_VIRTUALLY_FRAME" val="{&quot;height&quot;:201.6,&quot;left&quot;:43.2,&quot;top&quot;:172.8,&quot;width&quot;:873.36}"/>
</p:tagLst>
</file>

<file path=ppt/tags/tag225.xml><?xml version="1.0" encoding="utf-8"?>
<p:tagLst xmlns:p="http://schemas.openxmlformats.org/presentationml/2006/main">
  <p:tag name="KSO_WM_DIAGRAM_VIRTUALLY_FRAME" val="{&quot;height&quot;:231.6,&quot;left&quot;:43.2,&quot;top&quot;:147.6,&quot;width&quot;:867.6}"/>
</p:tagLst>
</file>

<file path=ppt/tags/tag226.xml><?xml version="1.0" encoding="utf-8"?>
<p:tagLst xmlns:p="http://schemas.openxmlformats.org/presentationml/2006/main">
  <p:tag name="KSO_WM_DIAGRAM_VIRTUALLY_FRAME" val="{&quot;height&quot;:231.6,&quot;left&quot;:43.2,&quot;top&quot;:147.6,&quot;width&quot;:867.6}"/>
</p:tagLst>
</file>

<file path=ppt/tags/tag227.xml><?xml version="1.0" encoding="utf-8"?>
<p:tagLst xmlns:p="http://schemas.openxmlformats.org/presentationml/2006/main">
  <p:tag name="KSO_WM_DIAGRAM_VIRTUALLY_FRAME" val="{&quot;height&quot;:231.6,&quot;left&quot;:43.2,&quot;top&quot;:147.6,&quot;width&quot;:867.6}"/>
</p:tagLst>
</file>

<file path=ppt/tags/tag228.xml><?xml version="1.0" encoding="utf-8"?>
<p:tagLst xmlns:p="http://schemas.openxmlformats.org/presentationml/2006/main">
  <p:tag name="KSO_WM_DIAGRAM_VIRTUALLY_FRAME" val="{&quot;height&quot;:231.6,&quot;left&quot;:43.2,&quot;top&quot;:147.6,&quot;width&quot;:867.6}"/>
</p:tagLst>
</file>

<file path=ppt/tags/tag229.xml><?xml version="1.0" encoding="utf-8"?>
<p:tagLst xmlns:p="http://schemas.openxmlformats.org/presentationml/2006/main">
  <p:tag name="KSO_WM_DIAGRAM_VIRTUALLY_FRAME" val="{&quot;height&quot;:231.6,&quot;left&quot;:43.2,&quot;top&quot;:147.6,&quot;width&quot;:867.6}"/>
</p:tagLst>
</file>

<file path=ppt/tags/tag230.xml><?xml version="1.0" encoding="utf-8"?>
<p:tagLst xmlns:p="http://schemas.openxmlformats.org/presentationml/2006/main">
  <p:tag name="KSO_WM_DIAGRAM_VIRTUALLY_FRAME" val="{&quot;height&quot;:231.6,&quot;left&quot;:43.2,&quot;top&quot;:147.6,&quot;width&quot;:867.6}"/>
</p:tagLst>
</file>

<file path=ppt/tags/tag231.xml><?xml version="1.0" encoding="utf-8"?>
<p:tagLst xmlns:p="http://schemas.openxmlformats.org/presentationml/2006/main">
  <p:tag name="KSO_WM_DIAGRAM_VIRTUALLY_FRAME" val="{&quot;height&quot;:231.6,&quot;left&quot;:43.2,&quot;top&quot;:147.6,&quot;width&quot;:867.6}"/>
</p:tagLst>
</file>

<file path=ppt/tags/tag232.xml><?xml version="1.0" encoding="utf-8"?>
<p:tagLst xmlns:p="http://schemas.openxmlformats.org/presentationml/2006/main">
  <p:tag name="KSO_WM_DIAGRAM_VIRTUALLY_FRAME" val="{&quot;height&quot;:231.6,&quot;left&quot;:43.2,&quot;top&quot;:147.6,&quot;width&quot;:867.6}"/>
</p:tagLst>
</file>

<file path=ppt/tags/tag233.xml><?xml version="1.0" encoding="utf-8"?>
<p:tagLst xmlns:p="http://schemas.openxmlformats.org/presentationml/2006/main">
  <p:tag name="KSO_WM_DIAGRAM_VIRTUALLY_FRAME" val="{&quot;height&quot;:231.6,&quot;left&quot;:43.2,&quot;top&quot;:147.6,&quot;width&quot;:867.6}"/>
</p:tagLst>
</file>

<file path=ppt/tags/tag234.xml><?xml version="1.0" encoding="utf-8"?>
<p:tagLst xmlns:p="http://schemas.openxmlformats.org/presentationml/2006/main">
  <p:tag name="KSO_WM_DIAGRAM_VIRTUALLY_FRAME" val="{&quot;height&quot;:231.6,&quot;left&quot;:43.2,&quot;top&quot;:147.6,&quot;width&quot;:867.6}"/>
</p:tagLst>
</file>

<file path=ppt/tags/tag235.xml><?xml version="1.0" encoding="utf-8"?>
<p:tagLst xmlns:p="http://schemas.openxmlformats.org/presentationml/2006/main">
  <p:tag name="KSO_WM_DIAGRAM_VIRTUALLY_FRAME" val="{&quot;height&quot;:231.6,&quot;left&quot;:43.2,&quot;top&quot;:147.6,&quot;width&quot;:867.6}"/>
</p:tagLst>
</file>

<file path=ppt/tags/tag236.xml><?xml version="1.0" encoding="utf-8"?>
<p:tagLst xmlns:p="http://schemas.openxmlformats.org/presentationml/2006/main">
  <p:tag name="KSO_WM_DIAGRAM_VIRTUALLY_FRAME" val="{&quot;height&quot;:231.6,&quot;left&quot;:43.2,&quot;top&quot;:147.6,&quot;width&quot;:867.6}"/>
</p:tagLst>
</file>

<file path=ppt/tags/tag237.xml><?xml version="1.0" encoding="utf-8"?>
<p:tagLst xmlns:p="http://schemas.openxmlformats.org/presentationml/2006/main">
  <p:tag name="KSO_WM_DIAGRAM_VIRTUALLY_FRAME" val="{&quot;height&quot;:231.6,&quot;left&quot;:43.2,&quot;top&quot;:147.6,&quot;width&quot;:867.6}"/>
</p:tagLst>
</file>

<file path=ppt/tags/tag238.xml><?xml version="1.0" encoding="utf-8"?>
<p:tagLst xmlns:p="http://schemas.openxmlformats.org/presentationml/2006/main">
  <p:tag name="KSO_WM_DIAGRAM_VIRTUALLY_FRAME" val="{&quot;height&quot;:231.6,&quot;left&quot;:43.2,&quot;top&quot;:147.6,&quot;width&quot;:867.6}"/>
</p:tagLst>
</file>

<file path=ppt/tags/tag239.xml><?xml version="1.0" encoding="utf-8"?>
<p:tagLst xmlns:p="http://schemas.openxmlformats.org/presentationml/2006/main">
  <p:tag name="KSO_WM_DIAGRAM_VIRTUALLY_FRAME" val="{&quot;height&quot;:231.6,&quot;left&quot;:43.2,&quot;top&quot;:147.6,&quot;width&quot;:867.6}"/>
</p:tagLst>
</file>

<file path=ppt/tags/tag240.xml><?xml version="1.0" encoding="utf-8"?>
<p:tagLst xmlns:p="http://schemas.openxmlformats.org/presentationml/2006/main">
  <p:tag name="KSO_WM_DIAGRAM_VIRTUALLY_FRAME" val="{&quot;height&quot;:231.6,&quot;left&quot;:43.2,&quot;top&quot;:147.6,&quot;width&quot;:867.6}"/>
</p:tagLst>
</file>

<file path=ppt/tags/tag241.xml><?xml version="1.0" encoding="utf-8"?>
<p:tagLst xmlns:p="http://schemas.openxmlformats.org/presentationml/2006/main">
  <p:tag name="KSO_WM_DIAGRAM_VIRTUALLY_FRAME" val="{&quot;height&quot;:231.6,&quot;left&quot;:43.2,&quot;top&quot;:147.6,&quot;width&quot;:867.6}"/>
</p:tagLst>
</file>

<file path=ppt/tags/tag242.xml><?xml version="1.0" encoding="utf-8"?>
<p:tagLst xmlns:p="http://schemas.openxmlformats.org/presentationml/2006/main">
  <p:tag name="KSO_WM_DIAGRAM_VIRTUALLY_FRAME" val="{&quot;height&quot;:231.6,&quot;left&quot;:43.2,&quot;top&quot;:147.6,&quot;width&quot;:867.6}"/>
</p:tagLst>
</file>

<file path=ppt/tags/tag243.xml><?xml version="1.0" encoding="utf-8"?>
<p:tagLst xmlns:p="http://schemas.openxmlformats.org/presentationml/2006/main">
  <p:tag name="KSO_WM_DIAGRAM_VIRTUALLY_FRAME" val="{&quot;height&quot;:231.6,&quot;left&quot;:43.2,&quot;top&quot;:147.6,&quot;width&quot;:867.6}"/>
</p:tagLst>
</file>

<file path=ppt/tags/tag244.xml><?xml version="1.0" encoding="utf-8"?>
<p:tagLst xmlns:p="http://schemas.openxmlformats.org/presentationml/2006/main">
  <p:tag name="KSO_WM_DIAGRAM_VIRTUALLY_FRAME" val="{&quot;height&quot;:231.6,&quot;left&quot;:43.2,&quot;top&quot;:147.6,&quot;width&quot;:867.6}"/>
</p:tagLst>
</file>

<file path=ppt/tags/tag245.xml><?xml version="1.0" encoding="utf-8"?>
<p:tagLst xmlns:p="http://schemas.openxmlformats.org/presentationml/2006/main">
  <p:tag name="KSO_WM_DIAGRAM_VIRTUALLY_FRAME" val="{&quot;height&quot;:231.6,&quot;left&quot;:43.2,&quot;top&quot;:147.6,&quot;width&quot;:867.6}"/>
</p:tagLst>
</file>

<file path=ppt/tags/tag246.xml><?xml version="1.0" encoding="utf-8"?>
<p:tagLst xmlns:p="http://schemas.openxmlformats.org/presentationml/2006/main">
  <p:tag name="KSO_WM_DIAGRAM_VIRTUALLY_FRAME" val="{&quot;height&quot;:231.6,&quot;left&quot;:43.2,&quot;top&quot;:147.6,&quot;width&quot;:867.6}"/>
</p:tagLst>
</file>

<file path=ppt/tags/tag247.xml><?xml version="1.0" encoding="utf-8"?>
<p:tagLst xmlns:p="http://schemas.openxmlformats.org/presentationml/2006/main">
  <p:tag name="KSO_WM_DIAGRAM_VIRTUALLY_FRAME" val="{&quot;height&quot;:231.6,&quot;left&quot;:43.2,&quot;top&quot;:147.6,&quot;width&quot;:867.6}"/>
</p:tagLst>
</file>

<file path=ppt/tags/tag248.xml><?xml version="1.0" encoding="utf-8"?>
<p:tagLst xmlns:p="http://schemas.openxmlformats.org/presentationml/2006/main">
  <p:tag name="KSO_WM_DIAGRAM_VIRTUALLY_FRAME" val="{&quot;height&quot;:231.6,&quot;left&quot;:43.2,&quot;top&quot;:147.6,&quot;width&quot;:867.6}"/>
</p:tagLst>
</file>

<file path=ppt/tags/tag249.xml><?xml version="1.0" encoding="utf-8"?>
<p:tagLst xmlns:p="http://schemas.openxmlformats.org/presentationml/2006/main">
  <p:tag name="KSO_WM_DIAGRAM_VIRTUALLY_FRAME" val="{&quot;height&quot;:231.6,&quot;left&quot;:43.2,&quot;top&quot;:147.6,&quot;width&quot;:867.6}"/>
</p:tagLst>
</file>

<file path=ppt/tags/tag250.xml><?xml version="1.0" encoding="utf-8"?>
<p:tagLst xmlns:p="http://schemas.openxmlformats.org/presentationml/2006/main">
  <p:tag name="KSO_WM_DIAGRAM_VIRTUALLY_FRAME" val="{&quot;height&quot;:231.6,&quot;left&quot;:43.2,&quot;top&quot;:147.6,&quot;width&quot;:867.6}"/>
</p:tagLst>
</file>

<file path=ppt/tags/tag251.xml><?xml version="1.0" encoding="utf-8"?>
<p:tagLst xmlns:p="http://schemas.openxmlformats.org/presentationml/2006/main">
  <p:tag name="KSO_WM_DIAGRAM_VIRTUALLY_FRAME" val="{&quot;height&quot;:231.6,&quot;left&quot;:43.2,&quot;top&quot;:147.6,&quot;width&quot;:867.6}"/>
</p:tagLst>
</file>

<file path=ppt/tags/tag252.xml><?xml version="1.0" encoding="utf-8"?>
<p:tagLst xmlns:p="http://schemas.openxmlformats.org/presentationml/2006/main">
  <p:tag name="KSO_WM_DIAGRAM_VIRTUALLY_FRAME" val="{&quot;height&quot;:231.6,&quot;left&quot;:43.2,&quot;top&quot;:147.6,&quot;width&quot;:867.6}"/>
</p:tagLst>
</file>

<file path=ppt/tags/tag253.xml><?xml version="1.0" encoding="utf-8"?>
<p:tagLst xmlns:p="http://schemas.openxmlformats.org/presentationml/2006/main">
  <p:tag name="KSO_WM_DIAGRAM_VIRTUALLY_FRAME" val="{&quot;height&quot;:223.2,&quot;left&quot;:43.2,&quot;top&quot;:147.6,&quot;width&quot;:862.5600000000001}"/>
</p:tagLst>
</file>

<file path=ppt/tags/tag254.xml><?xml version="1.0" encoding="utf-8"?>
<p:tagLst xmlns:p="http://schemas.openxmlformats.org/presentationml/2006/main">
  <p:tag name="KSO_WM_DIAGRAM_VIRTUALLY_FRAME" val="{&quot;height&quot;:223.2,&quot;left&quot;:43.2,&quot;top&quot;:147.6,&quot;width&quot;:862.5600000000001}"/>
</p:tagLst>
</file>

<file path=ppt/tags/tag255.xml><?xml version="1.0" encoding="utf-8"?>
<p:tagLst xmlns:p="http://schemas.openxmlformats.org/presentationml/2006/main">
  <p:tag name="KSO_WM_DIAGRAM_VIRTUALLY_FRAME" val="{&quot;height&quot;:223.2,&quot;left&quot;:43.2,&quot;top&quot;:147.6,&quot;width&quot;:862.5600000000001}"/>
</p:tagLst>
</file>

<file path=ppt/tags/tag256.xml><?xml version="1.0" encoding="utf-8"?>
<p:tagLst xmlns:p="http://schemas.openxmlformats.org/presentationml/2006/main">
  <p:tag name="KSO_WM_DIAGRAM_VIRTUALLY_FRAME" val="{&quot;height&quot;:223.2,&quot;left&quot;:43.2,&quot;top&quot;:147.6,&quot;width&quot;:862.5600000000001}"/>
</p:tagLst>
</file>

<file path=ppt/tags/tag257.xml><?xml version="1.0" encoding="utf-8"?>
<p:tagLst xmlns:p="http://schemas.openxmlformats.org/presentationml/2006/main">
  <p:tag name="KSO_WM_DIAGRAM_VIRTUALLY_FRAME" val="{&quot;height&quot;:223.2,&quot;left&quot;:43.2,&quot;top&quot;:147.6,&quot;width&quot;:862.5600000000001}"/>
</p:tagLst>
</file>

<file path=ppt/tags/tag258.xml><?xml version="1.0" encoding="utf-8"?>
<p:tagLst xmlns:p="http://schemas.openxmlformats.org/presentationml/2006/main">
  <p:tag name="KSO_WM_DIAGRAM_VIRTUALLY_FRAME" val="{&quot;height&quot;:223.2,&quot;left&quot;:43.2,&quot;top&quot;:147.6,&quot;width&quot;:862.5600000000001}"/>
</p:tagLst>
</file>

<file path=ppt/tags/tag259.xml><?xml version="1.0" encoding="utf-8"?>
<p:tagLst xmlns:p="http://schemas.openxmlformats.org/presentationml/2006/main">
  <p:tag name="KSO_WM_DIAGRAM_VIRTUALLY_FRAME" val="{&quot;height&quot;:223.2,&quot;left&quot;:43.2,&quot;top&quot;:147.6,&quot;width&quot;:862.5600000000001}"/>
</p:tagLst>
</file>

<file path=ppt/tags/tag260.xml><?xml version="1.0" encoding="utf-8"?>
<p:tagLst xmlns:p="http://schemas.openxmlformats.org/presentationml/2006/main">
  <p:tag name="KSO_WM_DIAGRAM_VIRTUALLY_FRAME" val="{&quot;height&quot;:223.2,&quot;left&quot;:43.2,&quot;top&quot;:147.6,&quot;width&quot;:862.5600000000001}"/>
</p:tagLst>
</file>

<file path=ppt/tags/tag261.xml><?xml version="1.0" encoding="utf-8"?>
<p:tagLst xmlns:p="http://schemas.openxmlformats.org/presentationml/2006/main">
  <p:tag name="KSO_WM_DIAGRAM_VIRTUALLY_FRAME" val="{&quot;height&quot;:223.2,&quot;left&quot;:43.2,&quot;top&quot;:147.6,&quot;width&quot;:862.5600000000001}"/>
</p:tagLst>
</file>

<file path=ppt/tags/tag262.xml><?xml version="1.0" encoding="utf-8"?>
<p:tagLst xmlns:p="http://schemas.openxmlformats.org/presentationml/2006/main">
  <p:tag name="KSO_WM_DIAGRAM_VIRTUALLY_FRAME" val="{&quot;height&quot;:223.2,&quot;left&quot;:43.2,&quot;top&quot;:147.6,&quot;width&quot;:862.5600000000001}"/>
</p:tagLst>
</file>

<file path=ppt/tags/tag263.xml><?xml version="1.0" encoding="utf-8"?>
<p:tagLst xmlns:p="http://schemas.openxmlformats.org/presentationml/2006/main">
  <p:tag name="KSO_WM_DIAGRAM_VIRTUALLY_FRAME" val="{&quot;height&quot;:223.2,&quot;left&quot;:43.2,&quot;top&quot;:147.6,&quot;width&quot;:862.5600000000001}"/>
</p:tagLst>
</file>

<file path=ppt/tags/tag264.xml><?xml version="1.0" encoding="utf-8"?>
<p:tagLst xmlns:p="http://schemas.openxmlformats.org/presentationml/2006/main">
  <p:tag name="KSO_WM_DIAGRAM_VIRTUALLY_FRAME" val="{&quot;height&quot;:223.2,&quot;left&quot;:43.2,&quot;top&quot;:147.6,&quot;width&quot;:862.5600000000001}"/>
</p:tagLst>
</file>

<file path=ppt/tags/tag265.xml><?xml version="1.0" encoding="utf-8"?>
<p:tagLst xmlns:p="http://schemas.openxmlformats.org/presentationml/2006/main">
  <p:tag name="KSO_WM_DIAGRAM_VIRTUALLY_FRAME" val="{&quot;height&quot;:223.2,&quot;left&quot;:43.2,&quot;top&quot;:147.6,&quot;width&quot;:862.5600000000001}"/>
</p:tagLst>
</file>

<file path=ppt/tags/tag266.xml><?xml version="1.0" encoding="utf-8"?>
<p:tagLst xmlns:p="http://schemas.openxmlformats.org/presentationml/2006/main">
  <p:tag name="KSO_WM_DIAGRAM_VIRTUALLY_FRAME" val="{&quot;height&quot;:223.2,&quot;left&quot;:43.2,&quot;top&quot;:147.6,&quot;width&quot;:862.5600000000001}"/>
</p:tagLst>
</file>

<file path=ppt/tags/tag267.xml><?xml version="1.0" encoding="utf-8"?>
<p:tagLst xmlns:p="http://schemas.openxmlformats.org/presentationml/2006/main">
  <p:tag name="KSO_WM_DIAGRAM_VIRTUALLY_FRAME" val="{&quot;height&quot;:223.2,&quot;left&quot;:43.2,&quot;top&quot;:147.6,&quot;width&quot;:862.5600000000001}"/>
</p:tagLst>
</file>

<file path=ppt/tags/tag268.xml><?xml version="1.0" encoding="utf-8"?>
<p:tagLst xmlns:p="http://schemas.openxmlformats.org/presentationml/2006/main">
  <p:tag name="KSO_WM_DIAGRAM_VIRTUALLY_FRAME" val="{&quot;height&quot;:223.2,&quot;left&quot;:43.2,&quot;top&quot;:147.6,&quot;width&quot;:862.5600000000001}"/>
</p:tagLst>
</file>

<file path=ppt/tags/tag269.xml><?xml version="1.0" encoding="utf-8"?>
<p:tagLst xmlns:p="http://schemas.openxmlformats.org/presentationml/2006/main">
  <p:tag name="KSO_WM_DIAGRAM_VIRTUALLY_FRAME" val="{&quot;height&quot;:223.2,&quot;left&quot;:43.2,&quot;top&quot;:147.6,&quot;width&quot;:862.5600000000001}"/>
</p:tagLst>
</file>

<file path=ppt/tags/tag270.xml><?xml version="1.0" encoding="utf-8"?>
<p:tagLst xmlns:p="http://schemas.openxmlformats.org/presentationml/2006/main">
  <p:tag name="KSO_WM_DIAGRAM_VIRTUALLY_FRAME" val="{&quot;height&quot;:223.2,&quot;left&quot;:43.2,&quot;top&quot;:147.6,&quot;width&quot;:862.5600000000001}"/>
</p:tagLst>
</file>

<file path=ppt/tags/tag271.xml><?xml version="1.0" encoding="utf-8"?>
<p:tagLst xmlns:p="http://schemas.openxmlformats.org/presentationml/2006/main">
  <p:tag name="KSO_WM_DIAGRAM_VIRTUALLY_FRAME" val="{&quot;height&quot;:223.2,&quot;left&quot;:43.2,&quot;top&quot;:147.6,&quot;width&quot;:862.5600000000001}"/>
</p:tagLst>
</file>

<file path=ppt/tags/tag272.xml><?xml version="1.0" encoding="utf-8"?>
<p:tagLst xmlns:p="http://schemas.openxmlformats.org/presentationml/2006/main">
  <p:tag name="KSO_WM_DIAGRAM_VIRTUALLY_FRAME" val="{&quot;height&quot;:223.2,&quot;left&quot;:43.2,&quot;top&quot;:147.6,&quot;width&quot;:862.5600000000001}"/>
</p:tagLst>
</file>

<file path=ppt/tags/tag273.xml><?xml version="1.0" encoding="utf-8"?>
<p:tagLst xmlns:p="http://schemas.openxmlformats.org/presentationml/2006/main">
  <p:tag name="KSO_WM_DIAGRAM_VIRTUALLY_FRAME" val="{&quot;height&quot;:223.2,&quot;left&quot;:43.2,&quot;top&quot;:147.6,&quot;width&quot;:862.5600000000001}"/>
</p:tagLst>
</file>

<file path=ppt/tags/tag274.xml><?xml version="1.0" encoding="utf-8"?>
<p:tagLst xmlns:p="http://schemas.openxmlformats.org/presentationml/2006/main">
  <p:tag name="KSO_WM_DIAGRAM_VIRTUALLY_FRAME" val="{&quot;height&quot;:223.2,&quot;left&quot;:43.2,&quot;top&quot;:147.6,&quot;width&quot;:862.5600000000001}"/>
</p:tagLst>
</file>

<file path=ppt/tags/tag275.xml><?xml version="1.0" encoding="utf-8"?>
<p:tagLst xmlns:p="http://schemas.openxmlformats.org/presentationml/2006/main">
  <p:tag name="KSO_WM_DIAGRAM_VIRTUALLY_FRAME" val="{&quot;height&quot;:223.2,&quot;left&quot;:43.2,&quot;top&quot;:147.6,&quot;width&quot;:862.5600000000001}"/>
</p:tagLst>
</file>

<file path=ppt/tags/tag276.xml><?xml version="1.0" encoding="utf-8"?>
<p:tagLst xmlns:p="http://schemas.openxmlformats.org/presentationml/2006/main">
  <p:tag name="KSO_WM_DIAGRAM_VIRTUALLY_FRAME" val="{&quot;height&quot;:223.2,&quot;left&quot;:43.2,&quot;top&quot;:147.6,&quot;width&quot;:862.5600000000001}"/>
</p:tagLst>
</file>

<file path=ppt/tags/tag277.xml><?xml version="1.0" encoding="utf-8"?>
<p:tagLst xmlns:p="http://schemas.openxmlformats.org/presentationml/2006/main">
  <p:tag name="KSO_WM_DIAGRAM_VIRTUALLY_FRAME" val="{&quot;height&quot;:114,&quot;left&quot;:64.8,&quot;top&quot;:349.2,&quot;width&quot;:849}"/>
</p:tagLst>
</file>

<file path=ppt/tags/tag278.xml><?xml version="1.0" encoding="utf-8"?>
<p:tagLst xmlns:p="http://schemas.openxmlformats.org/presentationml/2006/main">
  <p:tag name="KSO_WM_DIAGRAM_VIRTUALLY_FRAME" val="{&quot;height&quot;:114,&quot;left&quot;:64.8,&quot;top&quot;:349.2,&quot;width&quot;:849}"/>
</p:tagLst>
</file>

<file path=ppt/tags/tag279.xml><?xml version="1.0" encoding="utf-8"?>
<p:tagLst xmlns:p="http://schemas.openxmlformats.org/presentationml/2006/main">
  <p:tag name="KSO_WM_DIAGRAM_VIRTUALLY_FRAME" val="{&quot;height&quot;:114,&quot;left&quot;:64.8,&quot;top&quot;:349.2,&quot;width&quot;:849}"/>
</p:tagLst>
</file>

<file path=ppt/tags/tag280.xml><?xml version="1.0" encoding="utf-8"?>
<p:tagLst xmlns:p="http://schemas.openxmlformats.org/presentationml/2006/main">
  <p:tag name="KSO_WM_DIAGRAM_VIRTUALLY_FRAME" val="{&quot;height&quot;:114,&quot;left&quot;:64.8,&quot;top&quot;:349.2,&quot;width&quot;:849}"/>
</p:tagLst>
</file>

<file path=ppt/tags/tag281.xml><?xml version="1.0" encoding="utf-8"?>
<p:tagLst xmlns:p="http://schemas.openxmlformats.org/presentationml/2006/main">
  <p:tag name="KSO_WM_DIAGRAM_VIRTUALLY_FRAME" val="{&quot;height&quot;:114,&quot;left&quot;:64.8,&quot;top&quot;:349.2,&quot;width&quot;:849}"/>
</p:tagLst>
</file>

<file path=ppt/tags/tag282.xml><?xml version="1.0" encoding="utf-8"?>
<p:tagLst xmlns:p="http://schemas.openxmlformats.org/presentationml/2006/main">
  <p:tag name="KSO_WM_DIAGRAM_VIRTUALLY_FRAME" val="{&quot;height&quot;:114,&quot;left&quot;:64.8,&quot;top&quot;:349.2,&quot;width&quot;:849}"/>
</p:tagLst>
</file>

<file path=ppt/tags/tag283.xml><?xml version="1.0" encoding="utf-8"?>
<p:tagLst xmlns:p="http://schemas.openxmlformats.org/presentationml/2006/main">
  <p:tag name="KSO_WM_DIAGRAM_VIRTUALLY_FRAME" val="{&quot;height&quot;:317.16,&quot;left&quot;:43.2,&quot;top&quot;:147.6,&quot;width&quot;:867.6}"/>
</p:tagLst>
</file>

<file path=ppt/tags/tag284.xml><?xml version="1.0" encoding="utf-8"?>
<p:tagLst xmlns:p="http://schemas.openxmlformats.org/presentationml/2006/main">
  <p:tag name="KSO_WM_DIAGRAM_VIRTUALLY_FRAME" val="{&quot;height&quot;:317.16,&quot;left&quot;:43.2,&quot;top&quot;:147.6,&quot;width&quot;:867.6}"/>
</p:tagLst>
</file>

<file path=ppt/tags/tag285.xml><?xml version="1.0" encoding="utf-8"?>
<p:tagLst xmlns:p="http://schemas.openxmlformats.org/presentationml/2006/main">
  <p:tag name="KSO_WM_DIAGRAM_VIRTUALLY_FRAME" val="{&quot;height&quot;:317.16,&quot;left&quot;:43.2,&quot;top&quot;:147.6,&quot;width&quot;:867.6}"/>
</p:tagLst>
</file>

<file path=ppt/tags/tag286.xml><?xml version="1.0" encoding="utf-8"?>
<p:tagLst xmlns:p="http://schemas.openxmlformats.org/presentationml/2006/main">
  <p:tag name="KSO_WM_DIAGRAM_VIRTUALLY_FRAME" val="{&quot;height&quot;:317.16,&quot;left&quot;:43.2,&quot;top&quot;:147.6,&quot;width&quot;:867.6}"/>
</p:tagLst>
</file>

<file path=ppt/tags/tag287.xml><?xml version="1.0" encoding="utf-8"?>
<p:tagLst xmlns:p="http://schemas.openxmlformats.org/presentationml/2006/main">
  <p:tag name="KSO_WM_DIAGRAM_VIRTUALLY_FRAME" val="{&quot;height&quot;:317.16,&quot;left&quot;:43.2,&quot;top&quot;:147.6,&quot;width&quot;:867.6}"/>
</p:tagLst>
</file>

<file path=ppt/tags/tag288.xml><?xml version="1.0" encoding="utf-8"?>
<p:tagLst xmlns:p="http://schemas.openxmlformats.org/presentationml/2006/main">
  <p:tag name="KSO_WM_DIAGRAM_VIRTUALLY_FRAME" val="{&quot;height&quot;:317.16,&quot;left&quot;:43.2,&quot;top&quot;:147.6,&quot;width&quot;:867.6}"/>
</p:tagLst>
</file>

<file path=ppt/tags/tag289.xml><?xml version="1.0" encoding="utf-8"?>
<p:tagLst xmlns:p="http://schemas.openxmlformats.org/presentationml/2006/main">
  <p:tag name="KSO_WM_DIAGRAM_VIRTUALLY_FRAME" val="{&quot;height&quot;:317.16,&quot;left&quot;:43.2,&quot;top&quot;:147.6,&quot;width&quot;:867.6}"/>
</p:tagLst>
</file>

<file path=ppt/tags/tag290.xml><?xml version="1.0" encoding="utf-8"?>
<p:tagLst xmlns:p="http://schemas.openxmlformats.org/presentationml/2006/main">
  <p:tag name="KSO_WM_DIAGRAM_VIRTUALLY_FRAME" val="{&quot;height&quot;:317.16,&quot;left&quot;:43.2,&quot;top&quot;:147.6,&quot;width&quot;:867.6}"/>
</p:tagLst>
</file>

<file path=ppt/tags/tag291.xml><?xml version="1.0" encoding="utf-8"?>
<p:tagLst xmlns:p="http://schemas.openxmlformats.org/presentationml/2006/main">
  <p:tag name="KSO_WM_DIAGRAM_VIRTUALLY_FRAME" val="{&quot;height&quot;:317.16,&quot;left&quot;:43.2,&quot;top&quot;:147.6,&quot;width&quot;:867.6}"/>
</p:tagLst>
</file>

<file path=ppt/tags/tag292.xml><?xml version="1.0" encoding="utf-8"?>
<p:tagLst xmlns:p="http://schemas.openxmlformats.org/presentationml/2006/main">
  <p:tag name="KSO_WM_DIAGRAM_VIRTUALLY_FRAME" val="{&quot;height&quot;:317.16,&quot;left&quot;:43.2,&quot;top&quot;:147.6,&quot;width&quot;:867.6}"/>
</p:tagLst>
</file>

<file path=ppt/tags/tag293.xml><?xml version="1.0" encoding="utf-8"?>
<p:tagLst xmlns:p="http://schemas.openxmlformats.org/presentationml/2006/main">
  <p:tag name="KSO_WM_DIAGRAM_VIRTUALLY_FRAME" val="{&quot;height&quot;:317.16,&quot;left&quot;:43.2,&quot;top&quot;:147.6,&quot;width&quot;:867.6}"/>
</p:tagLst>
</file>

<file path=ppt/tags/tag294.xml><?xml version="1.0" encoding="utf-8"?>
<p:tagLst xmlns:p="http://schemas.openxmlformats.org/presentationml/2006/main">
  <p:tag name="KSO_WM_DIAGRAM_VIRTUALLY_FRAME" val="{&quot;height&quot;:317.16,&quot;left&quot;:43.2,&quot;top&quot;:147.6,&quot;width&quot;:867.6}"/>
</p:tagLst>
</file>

<file path=ppt/tags/tag295.xml><?xml version="1.0" encoding="utf-8"?>
<p:tagLst xmlns:p="http://schemas.openxmlformats.org/presentationml/2006/main">
  <p:tag name="KSO_WM_DIAGRAM_VIRTUALLY_FRAME" val="{&quot;height&quot;:317.16,&quot;left&quot;:43.2,&quot;top&quot;:147.6,&quot;width&quot;:867.6}"/>
</p:tagLst>
</file>

<file path=ppt/tags/tag296.xml><?xml version="1.0" encoding="utf-8"?>
<p:tagLst xmlns:p="http://schemas.openxmlformats.org/presentationml/2006/main">
  <p:tag name="KSO_WM_DIAGRAM_VIRTUALLY_FRAME" val="{&quot;height&quot;:317.16,&quot;left&quot;:43.2,&quot;top&quot;:147.6,&quot;width&quot;:867.6}"/>
</p:tagLst>
</file>

<file path=ppt/tags/tag297.xml><?xml version="1.0" encoding="utf-8"?>
<p:tagLst xmlns:p="http://schemas.openxmlformats.org/presentationml/2006/main">
  <p:tag name="KSO_WM_DIAGRAM_VIRTUALLY_FRAME" val="{&quot;height&quot;:317.16,&quot;left&quot;:43.2,&quot;top&quot;:147.6,&quot;width&quot;:867.6}"/>
</p:tagLst>
</file>

<file path=ppt/tags/tag298.xml><?xml version="1.0" encoding="utf-8"?>
<p:tagLst xmlns:p="http://schemas.openxmlformats.org/presentationml/2006/main">
  <p:tag name="KSO_WM_DIAGRAM_VIRTUALLY_FRAME" val="{&quot;height&quot;:317.16,&quot;left&quot;:43.2,&quot;top&quot;:147.6,&quot;width&quot;:867.6}"/>
</p:tagLst>
</file>

<file path=ppt/tags/tag299.xml><?xml version="1.0" encoding="utf-8"?>
<p:tagLst xmlns:p="http://schemas.openxmlformats.org/presentationml/2006/main">
  <p:tag name="KSO_WM_DIAGRAM_VIRTUALLY_FRAME" val="{&quot;height&quot;:317.16,&quot;left&quot;:43.2,&quot;top&quot;:147.6,&quot;width&quot;:867.6}"/>
</p:tagLst>
</file>

<file path=ppt/tags/tag300.xml><?xml version="1.0" encoding="utf-8"?>
<p:tagLst xmlns:p="http://schemas.openxmlformats.org/presentationml/2006/main">
  <p:tag name="KSO_WM_DIAGRAM_VIRTUALLY_FRAME" val="{&quot;height&quot;:317.16,&quot;left&quot;:43.2,&quot;top&quot;:147.6,&quot;width&quot;:867.6}"/>
</p:tagLst>
</file>

<file path=ppt/tags/tag301.xml><?xml version="1.0" encoding="utf-8"?>
<p:tagLst xmlns:p="http://schemas.openxmlformats.org/presentationml/2006/main">
  <p:tag name="KSO_WM_DIAGRAM_VIRTUALLY_FRAME" val="{&quot;height&quot;:317.16,&quot;left&quot;:43.2,&quot;top&quot;:147.6,&quot;width&quot;:867.6}"/>
</p:tagLst>
</file>

<file path=ppt/tags/tag302.xml><?xml version="1.0" encoding="utf-8"?>
<p:tagLst xmlns:p="http://schemas.openxmlformats.org/presentationml/2006/main">
  <p:tag name="KSO_WM_DIAGRAM_VIRTUALLY_FRAME" val="{&quot;height&quot;:317.16,&quot;left&quot;:43.2,&quot;top&quot;:147.6,&quot;width&quot;:867.6}"/>
</p:tagLst>
</file>

<file path=ppt/tags/tag303.xml><?xml version="1.0" encoding="utf-8"?>
<p:tagLst xmlns:p="http://schemas.openxmlformats.org/presentationml/2006/main">
  <p:tag name="KSO_WM_DIAGRAM_VIRTUALLY_FRAME" val="{&quot;height&quot;:317.16,&quot;left&quot;:43.2,&quot;top&quot;:147.6,&quot;width&quot;:867.6}"/>
</p:tagLst>
</file>

<file path=ppt/tags/tag304.xml><?xml version="1.0" encoding="utf-8"?>
<p:tagLst xmlns:p="http://schemas.openxmlformats.org/presentationml/2006/main">
  <p:tag name="KSO_WM_DIAGRAM_VIRTUALLY_FRAME" val="{&quot;height&quot;:317.16,&quot;left&quot;:43.2,&quot;top&quot;:147.6,&quot;width&quot;:867.6}"/>
</p:tagLst>
</file>

<file path=ppt/tags/tag305.xml><?xml version="1.0" encoding="utf-8"?>
<p:tagLst xmlns:p="http://schemas.openxmlformats.org/presentationml/2006/main">
  <p:tag name="KSO_WM_DIAGRAM_VIRTUALLY_FRAME" val="{&quot;height&quot;:317.16,&quot;left&quot;:43.2,&quot;top&quot;:147.6,&quot;width&quot;:867.6}"/>
</p:tagLst>
</file>

<file path=ppt/tags/tag306.xml><?xml version="1.0" encoding="utf-8"?>
<p:tagLst xmlns:p="http://schemas.openxmlformats.org/presentationml/2006/main">
  <p:tag name="KSO_WM_DIAGRAM_VIRTUALLY_FRAME" val="{&quot;height&quot;:317.16,&quot;left&quot;:43.2,&quot;top&quot;:147.6,&quot;width&quot;:867.6}"/>
</p:tagLst>
</file>

<file path=ppt/tags/tag307.xml><?xml version="1.0" encoding="utf-8"?>
<p:tagLst xmlns:p="http://schemas.openxmlformats.org/presentationml/2006/main">
  <p:tag name="KSO_WM_DIAGRAM_VIRTUALLY_FRAME" val="{&quot;height&quot;:317.16,&quot;left&quot;:43.2,&quot;top&quot;:147.6,&quot;width&quot;:867.6}"/>
</p:tagLst>
</file>

<file path=ppt/tags/tag308.xml><?xml version="1.0" encoding="utf-8"?>
<p:tagLst xmlns:p="http://schemas.openxmlformats.org/presentationml/2006/main">
  <p:tag name="KSO_WM_DIAGRAM_VIRTUALLY_FRAME" val="{&quot;height&quot;:317.16,&quot;left&quot;:43.2,&quot;top&quot;:147.6,&quot;width&quot;:867.6}"/>
</p:tagLst>
</file>

<file path=ppt/tags/tag309.xml><?xml version="1.0" encoding="utf-8"?>
<p:tagLst xmlns:p="http://schemas.openxmlformats.org/presentationml/2006/main">
  <p:tag name="KSO_WM_DIAGRAM_VIRTUALLY_FRAME" val="{&quot;height&quot;:317.16,&quot;left&quot;:43.2,&quot;top&quot;:147.6,&quot;width&quot;:867.6}"/>
</p:tagLst>
</file>

<file path=ppt/tags/tag310.xml><?xml version="1.0" encoding="utf-8"?>
<p:tagLst xmlns:p="http://schemas.openxmlformats.org/presentationml/2006/main">
  <p:tag name="KSO_WM_DIAGRAM_VIRTUALLY_FRAME" val="{&quot;height&quot;:317.16,&quot;left&quot;:43.2,&quot;top&quot;:147.6,&quot;width&quot;:867.6}"/>
</p:tagLst>
</file>

<file path=ppt/tags/tag311.xml><?xml version="1.0" encoding="utf-8"?>
<p:tagLst xmlns:p="http://schemas.openxmlformats.org/presentationml/2006/main">
  <p:tag name="KSO_WM_DIAGRAM_VIRTUALLY_FRAME" val="{&quot;height&quot;:317.16,&quot;left&quot;:43.2,&quot;top&quot;:147.6,&quot;width&quot;:867.6}"/>
</p:tagLst>
</file>

<file path=ppt/tags/tag312.xml><?xml version="1.0" encoding="utf-8"?>
<p:tagLst xmlns:p="http://schemas.openxmlformats.org/presentationml/2006/main">
  <p:tag name="KSO_WM_DIAGRAM_VIRTUALLY_FRAME" val="{&quot;height&quot;:317.16,&quot;left&quot;:43.2,&quot;top&quot;:147.6,&quot;width&quot;:867.6}"/>
</p:tagLst>
</file>

<file path=ppt/tags/tag313.xml><?xml version="1.0" encoding="utf-8"?>
<p:tagLst xmlns:p="http://schemas.openxmlformats.org/presentationml/2006/main">
  <p:tag name="KSO_WM_DIAGRAM_VIRTUALLY_FRAME" val="{&quot;height&quot;:317.16,&quot;left&quot;:43.2,&quot;top&quot;:147.6,&quot;width&quot;:867.6}"/>
</p:tagLst>
</file>

<file path=ppt/tags/tag314.xml><?xml version="1.0" encoding="utf-8"?>
<p:tagLst xmlns:p="http://schemas.openxmlformats.org/presentationml/2006/main">
  <p:tag name="KSO_WM_DIAGRAM_VIRTUALLY_FRAME" val="{&quot;height&quot;:317.16,&quot;left&quot;:43.2,&quot;top&quot;:147.6,&quot;width&quot;:867.6}"/>
</p:tagLst>
</file>

<file path=ppt/tags/tag315.xml><?xml version="1.0" encoding="utf-8"?>
<p:tagLst xmlns:p="http://schemas.openxmlformats.org/presentationml/2006/main">
  <p:tag name="KSO_WM_DIAGRAM_VIRTUALLY_FRAME" val="{&quot;height&quot;:317.16,&quot;left&quot;:43.2,&quot;top&quot;:147.6,&quot;width&quot;:867.6}"/>
</p:tagLst>
</file>

<file path=ppt/tags/tag316.xml><?xml version="1.0" encoding="utf-8"?>
<p:tagLst xmlns:p="http://schemas.openxmlformats.org/presentationml/2006/main">
  <p:tag name="KSO_WM_DIAGRAM_VIRTUALLY_FRAME" val="{&quot;height&quot;:317.16,&quot;left&quot;:43.2,&quot;top&quot;:147.6,&quot;width&quot;:867.6}"/>
</p:tagLst>
</file>

<file path=ppt/tags/tag317.xml><?xml version="1.0" encoding="utf-8"?>
<p:tagLst xmlns:p="http://schemas.openxmlformats.org/presentationml/2006/main">
  <p:tag name="KSO_WM_DIAGRAM_VIRTUALLY_FRAME" val="{&quot;height&quot;:317.16,&quot;left&quot;:43.2,&quot;top&quot;:147.6,&quot;width&quot;:867.6}"/>
</p:tagLst>
</file>

<file path=ppt/tags/tag318.xml><?xml version="1.0" encoding="utf-8"?>
<p:tagLst xmlns:p="http://schemas.openxmlformats.org/presentationml/2006/main">
  <p:tag name="KSO_WM_DIAGRAM_VIRTUALLY_FRAME" val="{&quot;height&quot;:317.16,&quot;left&quot;:43.2,&quot;top&quot;:147.6,&quot;width&quot;:867.6}"/>
</p:tagLst>
</file>

<file path=ppt/tags/tag319.xml><?xml version="1.0" encoding="utf-8"?>
<p:tagLst xmlns:p="http://schemas.openxmlformats.org/presentationml/2006/main">
  <p:tag name="KSO_WM_DIAGRAM_VIRTUALLY_FRAME" val="{&quot;height&quot;:317.16,&quot;left&quot;:43.2,&quot;top&quot;:147.6,&quot;width&quot;:867.6}"/>
</p:tagLst>
</file>

<file path=ppt/tags/tag320.xml><?xml version="1.0" encoding="utf-8"?>
<p:tagLst xmlns:p="http://schemas.openxmlformats.org/presentationml/2006/main">
  <p:tag name="KSO_WM_DIAGRAM_VIRTUALLY_FRAME" val="{&quot;height&quot;:317.16,&quot;left&quot;:43.2,&quot;top&quot;:147.6,&quot;width&quot;:867.6}"/>
</p:tagLst>
</file>

<file path=ppt/tags/tag321.xml><?xml version="1.0" encoding="utf-8"?>
<p:tagLst xmlns:p="http://schemas.openxmlformats.org/presentationml/2006/main">
  <p:tag name="KSO_WM_DIAGRAM_VIRTUALLY_FRAME" val="{&quot;height&quot;:317.16,&quot;left&quot;:43.2,&quot;top&quot;:147.6,&quot;width&quot;:867.6}"/>
</p:tagLst>
</file>

<file path=ppt/tags/tag322.xml><?xml version="1.0" encoding="utf-8"?>
<p:tagLst xmlns:p="http://schemas.openxmlformats.org/presentationml/2006/main">
  <p:tag name="KSO_WM_DIAGRAM_VIRTUALLY_FRAME" val="{&quot;height&quot;:317.16,&quot;left&quot;:43.2,&quot;top&quot;:147.6,&quot;width&quot;:867.6}"/>
</p:tagLst>
</file>

<file path=ppt/tags/tag323.xml><?xml version="1.0" encoding="utf-8"?>
<p:tagLst xmlns:p="http://schemas.openxmlformats.org/presentationml/2006/main">
  <p:tag name="KSO_WM_DIAGRAM_VIRTUALLY_FRAME" val="{&quot;height&quot;:317.16,&quot;left&quot;:43.2,&quot;top&quot;:147.6,&quot;width&quot;:867.6}"/>
</p:tagLst>
</file>

<file path=ppt/tags/tag324.xml><?xml version="1.0" encoding="utf-8"?>
<p:tagLst xmlns:p="http://schemas.openxmlformats.org/presentationml/2006/main">
  <p:tag name="KSO_WM_DIAGRAM_VIRTUALLY_FRAME" val="{&quot;height&quot;:317.16,&quot;left&quot;:43.2,&quot;top&quot;:147.6,&quot;width&quot;:867.6}"/>
</p:tagLst>
</file>

<file path=ppt/tags/tag325.xml><?xml version="1.0" encoding="utf-8"?>
<p:tagLst xmlns:p="http://schemas.openxmlformats.org/presentationml/2006/main">
  <p:tag name="KSO_WM_DIAGRAM_VIRTUALLY_FRAME" val="{&quot;height&quot;:223.2,&quot;left&quot;:615.6,&quot;top&quot;:195.12,&quot;width&quot;:284.4}"/>
</p:tagLst>
</file>

<file path=ppt/tags/tag326.xml><?xml version="1.0" encoding="utf-8"?>
<p:tagLst xmlns:p="http://schemas.openxmlformats.org/presentationml/2006/main">
  <p:tag name="KSO_WM_DIAGRAM_VIRTUALLY_FRAME" val="{&quot;height&quot;:223.2,&quot;left&quot;:615.6,&quot;top&quot;:195.12,&quot;width&quot;:284.4}"/>
</p:tagLst>
</file>

<file path=ppt/tags/tag327.xml><?xml version="1.0" encoding="utf-8"?>
<p:tagLst xmlns:p="http://schemas.openxmlformats.org/presentationml/2006/main">
  <p:tag name="KSO_WM_DIAGRAM_VIRTUALLY_FRAME" val="{&quot;height&quot;:223.2,&quot;left&quot;:615.6,&quot;top&quot;:195.12,&quot;width&quot;:284.4}"/>
</p:tagLst>
</file>

<file path=ppt/tags/tag328.xml><?xml version="1.0" encoding="utf-8"?>
<p:tagLst xmlns:p="http://schemas.openxmlformats.org/presentationml/2006/main">
  <p:tag name="KSO_WM_DIAGRAM_VIRTUALLY_FRAME" val="{&quot;height&quot;:223.2,&quot;left&quot;:615.6,&quot;top&quot;:195.12,&quot;width&quot;:284.4}"/>
</p:tagLst>
</file>

<file path=ppt/tags/tag329.xml><?xml version="1.0" encoding="utf-8"?>
<p:tagLst xmlns:p="http://schemas.openxmlformats.org/presentationml/2006/main">
  <p:tag name="KSO_WM_DIAGRAM_VIRTUALLY_FRAME" val="{&quot;height&quot;:223.2,&quot;left&quot;:615.6,&quot;top&quot;:195.12,&quot;width&quot;:284.4}"/>
</p:tagLst>
</file>

<file path=ppt/tags/tag330.xml><?xml version="1.0" encoding="utf-8"?>
<p:tagLst xmlns:p="http://schemas.openxmlformats.org/presentationml/2006/main">
  <p:tag name="KSO_WM_DIAGRAM_VIRTUALLY_FRAME" val="{&quot;height&quot;:223.2,&quot;left&quot;:615.6,&quot;top&quot;:195.12,&quot;width&quot;:284.4}"/>
</p:tagLst>
</file>

<file path=ppt/tags/tag331.xml><?xml version="1.0" encoding="utf-8"?>
<p:tagLst xmlns:p="http://schemas.openxmlformats.org/presentationml/2006/main">
  <p:tag name="KSO_WM_DIAGRAM_VIRTUALLY_FRAME" val="{&quot;height&quot;:223.2,&quot;left&quot;:615.6,&quot;top&quot;:195.12,&quot;width&quot;:284.4}"/>
</p:tagLst>
</file>

<file path=ppt/tags/tag332.xml><?xml version="1.0" encoding="utf-8"?>
<p:tagLst xmlns:p="http://schemas.openxmlformats.org/presentationml/2006/main">
  <p:tag name="KSO_WM_DIAGRAM_VIRTUALLY_FRAME" val="{&quot;height&quot;:223.2,&quot;left&quot;:615.6,&quot;top&quot;:195.12,&quot;width&quot;:284.4}"/>
</p:tagLst>
</file>

<file path=ppt/tags/tag333.xml><?xml version="1.0" encoding="utf-8"?>
<p:tagLst xmlns:p="http://schemas.openxmlformats.org/presentationml/2006/main">
  <p:tag name="KSO_WM_DIAGRAM_VIRTUALLY_FRAME" val="{&quot;height&quot;:223.2,&quot;left&quot;:615.6,&quot;top&quot;:195.12,&quot;width&quot;:284.4}"/>
</p:tagLst>
</file>

<file path=ppt/tags/tag334.xml><?xml version="1.0" encoding="utf-8"?>
<p:tagLst xmlns:p="http://schemas.openxmlformats.org/presentationml/2006/main">
  <p:tag name="KSO_WM_DIAGRAM_VIRTUALLY_FRAME" val="{&quot;height&quot;:223.2,&quot;left&quot;:615.6,&quot;top&quot;:195.12,&quot;width&quot;:284.4}"/>
</p:tagLst>
</file>

<file path=ppt/tags/tag335.xml><?xml version="1.0" encoding="utf-8"?>
<p:tagLst xmlns:p="http://schemas.openxmlformats.org/presentationml/2006/main">
  <p:tag name="KSO_WM_DIAGRAM_VIRTUALLY_FRAME" val="{&quot;height&quot;:223.2,&quot;left&quot;:615.6,&quot;top&quot;:195.12,&quot;width&quot;:284.4}"/>
</p:tagLst>
</file>

<file path=ppt/tags/tag336.xml><?xml version="1.0" encoding="utf-8"?>
<p:tagLst xmlns:p="http://schemas.openxmlformats.org/presentationml/2006/main">
  <p:tag name="KSO_WM_DIAGRAM_VIRTUALLY_FRAME" val="{&quot;height&quot;:223.2,&quot;left&quot;:615.6,&quot;top&quot;:195.12,&quot;width&quot;:284.4}"/>
</p:tagLst>
</file>

<file path=ppt/tags/tag337.xml><?xml version="1.0" encoding="utf-8"?>
<p:tagLst xmlns:p="http://schemas.openxmlformats.org/presentationml/2006/main">
  <p:tag name="KSO_WM_DIAGRAM_VIRTUALLY_FRAME" val="{&quot;height&quot;:59.039999999999964,&quot;left&quot;:43.2,&quot;top&quot;:469,&quot;width&quot;:873.5759842519685}"/>
</p:tagLst>
</file>

<file path=ppt/tags/tag338.xml><?xml version="1.0" encoding="utf-8"?>
<p:tagLst xmlns:p="http://schemas.openxmlformats.org/presentationml/2006/main">
  <p:tag name="KSO_WM_DIAGRAM_VIRTUALLY_FRAME" val="{&quot;height&quot;:59.039999999999964,&quot;left&quot;:43.2,&quot;top&quot;:469,&quot;width&quot;:873.5759842519685}"/>
</p:tagLst>
</file>

<file path=ppt/tags/tag339.xml><?xml version="1.0" encoding="utf-8"?>
<p:tagLst xmlns:p="http://schemas.openxmlformats.org/presentationml/2006/main">
  <p:tag name="KSO_WM_DIAGRAM_VIRTUALLY_FRAME" val="{&quot;height&quot;:59.039999999999964,&quot;left&quot;:43.2,&quot;top&quot;:469,&quot;width&quot;:873.5759842519685}"/>
</p:tagLst>
</file>

<file path=ppt/tags/tag340.xml><?xml version="1.0" encoding="utf-8"?>
<p:tagLst xmlns:p="http://schemas.openxmlformats.org/presentationml/2006/main">
  <p:tag name="KSO_WM_DIAGRAM_VIRTUALLY_FRAME" val="{&quot;height&quot;:59.039999999999964,&quot;left&quot;:43.2,&quot;top&quot;:469,&quot;width&quot;:873.5759842519685}"/>
</p:tagLst>
</file>

<file path=ppt/tags/tag341.xml><?xml version="1.0" encoding="utf-8"?>
<p:tagLst xmlns:p="http://schemas.openxmlformats.org/presentationml/2006/main">
  <p:tag name="KSO_WM_DIAGRAM_VIRTUALLY_FRAME" val="{&quot;height&quot;:59.039999999999964,&quot;left&quot;:43.2,&quot;top&quot;:469,&quot;width&quot;:873.5759842519685}"/>
</p:tagLst>
</file>

<file path=ppt/tags/tag342.xml><?xml version="1.0" encoding="utf-8"?>
<p:tagLst xmlns:p="http://schemas.openxmlformats.org/presentationml/2006/main">
  <p:tag name="KSO_WM_DIAGRAM_VIRTUALLY_FRAME" val="{&quot;height&quot;:59.039999999999964,&quot;left&quot;:43.2,&quot;top&quot;:469,&quot;width&quot;:873.5759842519685}"/>
</p:tagLst>
</file>

<file path=ppt/tags/tag343.xml><?xml version="1.0" encoding="utf-8"?>
<p:tagLst xmlns:p="http://schemas.openxmlformats.org/presentationml/2006/main">
  <p:tag name="KSO_WM_DIAGRAM_VIRTUALLY_FRAME" val="{&quot;height&quot;:59.039999999999964,&quot;left&quot;:43.2,&quot;top&quot;:469,&quot;width&quot;:873.5759842519685}"/>
</p:tagLst>
</file>

<file path=ppt/tags/tag344.xml><?xml version="1.0" encoding="utf-8"?>
<p:tagLst xmlns:p="http://schemas.openxmlformats.org/presentationml/2006/main">
  <p:tag name="KSO_WM_DIAGRAM_VIRTUALLY_FRAME" val="{&quot;height&quot;:59.039999999999964,&quot;left&quot;:43.2,&quot;top&quot;:469,&quot;width&quot;:873.5759842519685}"/>
</p:tagLst>
</file>

<file path=ppt/tags/tag345.xml><?xml version="1.0" encoding="utf-8"?>
<p:tagLst xmlns:p="http://schemas.openxmlformats.org/presentationml/2006/main">
  <p:tag name="KSO_WM_DIAGRAM_VIRTUALLY_FRAME" val="{&quot;height&quot;:59.039999999999964,&quot;left&quot;:43.2,&quot;top&quot;:469,&quot;width&quot;:873.5759842519685}"/>
</p:tagLst>
</file>

<file path=ppt/tags/tag346.xml><?xml version="1.0" encoding="utf-8"?>
<p:tagLst xmlns:p="http://schemas.openxmlformats.org/presentationml/2006/main">
  <p:tag name="KSO_WM_DIAGRAM_VIRTUALLY_FRAME" val="{&quot;height&quot;:59.039999999999964,&quot;left&quot;:43.2,&quot;top&quot;:469,&quot;width&quot;:873.5759842519685}"/>
</p:tagLst>
</file>

<file path=ppt/tags/tag347.xml><?xml version="1.0" encoding="utf-8"?>
<p:tagLst xmlns:p="http://schemas.openxmlformats.org/presentationml/2006/main">
  <p:tag name="KSO_WM_DIAGRAM_VIRTUALLY_FRAME" val="{&quot;height&quot;:59.039999999999964,&quot;left&quot;:43.2,&quot;top&quot;:469,&quot;width&quot;:873.5759842519685}"/>
</p:tagLst>
</file>

<file path=ppt/tags/tag348.xml><?xml version="1.0" encoding="utf-8"?>
<p:tagLst xmlns:p="http://schemas.openxmlformats.org/presentationml/2006/main">
  <p:tag name="KSO_WM_DIAGRAM_VIRTUALLY_FRAME" val="{&quot;height&quot;:59.039999999999964,&quot;left&quot;:43.2,&quot;top&quot;:469,&quot;width&quot;:873.57598425196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9952</Words>
  <Application>WPS 演示</Application>
  <PresentationFormat>On-screen Show (16:9)</PresentationFormat>
  <Paragraphs>1283</Paragraphs>
  <Slides>32</Slides>
  <Notes>32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Arial</vt:lpstr>
      <vt:lpstr>宋体</vt:lpstr>
      <vt:lpstr>Wingdings</vt:lpstr>
      <vt:lpstr>微软雅黑</vt:lpstr>
      <vt:lpstr>微软雅黑</vt:lpstr>
      <vt:lpstr>Calibri</vt:lpstr>
      <vt:lpstr>Arial Unicode MS</vt:lpstr>
      <vt:lpstr>等线</vt:lpstr>
      <vt:lpstr>Arial</vt:lpstr>
      <vt:lpstr>Consolas</vt:lpstr>
      <vt:lpstr>Consolas</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LabGuardian 作品设计报告</dc:title>
  <dc:creator>LabGuardian Team</dc:creator>
  <dc:subject>PptxGenJS Presentation</dc:subject>
  <cp:lastModifiedBy>张芯然</cp:lastModifiedBy>
  <cp:revision>27</cp:revision>
  <dcterms:created xsi:type="dcterms:W3CDTF">2026-06-08T01:19:00Z</dcterms:created>
  <dcterms:modified xsi:type="dcterms:W3CDTF">2026-06-08T11:26:39Z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8867CE0CD1DE417191DDB7890300BED6_13</vt:lpwstr>
  </property>
  <property fmtid="{D5CDD505-2E9C-101B-9397-08002B2CF9AE}" pid="3" name="KSOProductBuildVer">
    <vt:lpwstr>2052-12.1.0.26375</vt:lpwstr>
  </property>
</Properties>
</file>